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Avant</c:v>
                </c:pt>
              </c:strCache>
            </c:strRef>
          </c:tx>
          <c:spPr>
            <a:solidFill>
              <a:srgbClr val="94A3B8"/>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Vitesse</c:v>
                  </c:pt>
                  <c:pt idx="1">
                    <c:v>Précision</c:v>
                  </c:pt>
                  <c:pt idx="2">
                    <c:v>Stabilité</c:v>
                  </c:pt>
                  <c:pt idx="3">
                    <c:v>Efficacité</c:v>
                  </c:pt>
                  <c:pt idx="4">
                    <c:v>Satisfaction</c:v>
                  </c:pt>
                </c:lvl>
              </c:multiLvlStrCache>
            </c:multiLvlStrRef>
          </c:cat>
          <c:val>
            <c:numRef>
              <c:f>Sheet1!$B$2:$B$6</c:f>
              <c:numCache>
                <c:formatCode>General</c:formatCode>
                <c:ptCount val="5"/>
                <c:pt idx="0">
                  <c:v>55</c:v>
                </c:pt>
                <c:pt idx="1">
                  <c:v>62</c:v>
                </c:pt>
                <c:pt idx="2">
                  <c:v>70</c:v>
                </c:pt>
                <c:pt idx="3">
                  <c:v>60</c:v>
                </c:pt>
                <c:pt idx="4">
                  <c:v>65</c:v>
                </c:pt>
              </c:numCache>
            </c:numRef>
          </c:val>
        </c:ser>
        <c:ser>
          <c:idx val="1"/>
          <c:order val="1"/>
          <c:tx>
            <c:strRef>
              <c:f>Sheet1!$C$1</c:f>
              <c:strCache>
                <c:ptCount val="1"/>
                <c:pt idx="0">
                  <c:v>Après</c:v>
                </c:pt>
              </c:strCache>
            </c:strRef>
          </c:tx>
          <c:spPr>
            <a:solidFill>
              <a:srgbClr val="4F46E5"/>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Vitesse</c:v>
                  </c:pt>
                  <c:pt idx="1">
                    <c:v>Précision</c:v>
                  </c:pt>
                  <c:pt idx="2">
                    <c:v>Stabilité</c:v>
                  </c:pt>
                  <c:pt idx="3">
                    <c:v>Efficacité</c:v>
                  </c:pt>
                  <c:pt idx="4">
                    <c:v>Satisfaction</c:v>
                  </c:pt>
                </c:lvl>
              </c:multiLvlStrCache>
            </c:multiLvlStrRef>
          </c:cat>
          <c:val>
            <c:numRef>
              <c:f>Sheet1!$C$2:$C$6</c:f>
              <c:numCache>
                <c:formatCode>General</c:formatCode>
                <c:ptCount val="5"/>
                <c:pt idx="0">
                  <c:v>88</c:v>
                </c:pt>
                <c:pt idx="1">
                  <c:v>95</c:v>
                </c:pt>
                <c:pt idx="2">
                  <c:v>92</c:v>
                </c:pt>
                <c:pt idx="3">
                  <c:v>90</c:v>
                </c:pt>
                <c:pt idx="4">
                  <c:v>94</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334155"/>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4F46E5">
              <a:alpha val="40000"/>
            </a:srgbClr>
          </a:solidFill>
          <a:ln w="12700">
            <a:solidFill>
              <a:srgbClr val="4F46E5">
                <a:alpha val="0"/>
              </a:srgbClr>
            </a:solidFill>
            <a:prstDash val="solid"/>
          </a:ln>
        </p:spPr>
      </p:sp>
      <p:sp>
        <p:nvSpPr>
          <p:cNvPr id="3" name="Shape 1"/>
          <p:cNvSpPr/>
          <p:nvPr/>
        </p:nvSpPr>
        <p:spPr>
          <a:xfrm>
            <a:off x="8229600" y="3657600"/>
            <a:ext cx="5486400" cy="5486400"/>
          </a:xfrm>
          <a:prstGeom prst="ellipse">
            <a:avLst/>
          </a:prstGeom>
          <a:solidFill>
            <a:srgbClr val="06B6D4">
              <a:alpha val="30000"/>
            </a:srgbClr>
          </a:solidFill>
          <a:ln w="12700">
            <a:solidFill>
              <a:srgbClr val="06B6D4">
                <a:alpha val="0"/>
              </a:srgbClr>
            </a:solidFill>
            <a:prstDash val="solid"/>
          </a:ln>
        </p:spPr>
      </p:sp>
      <p:sp>
        <p:nvSpPr>
          <p:cNvPr id="4" name="Shape 2"/>
          <p:cNvSpPr/>
          <p:nvPr/>
        </p:nvSpPr>
        <p:spPr>
          <a:xfrm>
            <a:off x="5486400" y="-1371600"/>
            <a:ext cx="2743200" cy="2743200"/>
          </a:xfrm>
          <a:prstGeom prst="ellipse">
            <a:avLst/>
          </a:prstGeom>
          <a:solidFill>
            <a:srgbClr val="F59E0B">
              <a:alpha val="20000"/>
            </a:srgbClr>
          </a:solidFill>
          <a:ln w="12700">
            <a:solidFill>
              <a:srgbClr val="F59E0B">
                <a:alpha val="0"/>
              </a:srgbClr>
            </a:solidFill>
            <a:prstDash val="solid"/>
          </a:ln>
        </p:spPr>
      </p:sp>
      <p:sp>
        <p:nvSpPr>
          <p:cNvPr id="5" name="Shape 3"/>
          <p:cNvSpPr/>
          <p:nvPr/>
        </p:nvSpPr>
        <p:spPr>
          <a:xfrm>
            <a:off x="731520" y="731520"/>
            <a:ext cx="2926080" cy="411480"/>
          </a:xfrm>
          <a:prstGeom prst="roundRect">
            <a:avLst>
              <a:gd name="adj" fmla="val 48889"/>
            </a:avLst>
          </a:prstGeom>
          <a:solidFill>
            <a:srgbClr val="FFFFFF">
              <a:alpha val="15000"/>
            </a:srgbClr>
          </a:solidFill>
          <a:ln w="12700">
            <a:solidFill>
              <a:srgbClr val="FFFFFF">
                <a:alpha val="30000"/>
              </a:srgbClr>
            </a:solidFill>
            <a:prstDash val="solid"/>
          </a:ln>
        </p:spPr>
      </p:sp>
      <p:sp>
        <p:nvSpPr>
          <p:cNvPr id="6" name="Text 4"/>
          <p:cNvSpPr/>
          <p:nvPr/>
        </p:nvSpPr>
        <p:spPr>
          <a:xfrm>
            <a:off x="731520" y="731520"/>
            <a:ext cx="2926080" cy="41148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Calibri" pitchFamily="34" charset="0"/>
                <a:ea typeface="Calibri" pitchFamily="34" charset="-122"/>
                <a:cs typeface="Calibri" pitchFamily="34" charset="-120"/>
              </a:rPr>
              <a:t>PROJET DE FIN D'ANNÉE</a:t>
            </a:r>
            <a:endParaRPr lang="en-US" sz="1100" dirty="0"/>
          </a:p>
        </p:txBody>
      </p:sp>
      <p:sp>
        <p:nvSpPr>
          <p:cNvPr id="7" name="Text 5"/>
          <p:cNvSpPr/>
          <p:nvPr/>
        </p:nvSpPr>
        <p:spPr>
          <a:xfrm>
            <a:off x="731520" y="1828800"/>
            <a:ext cx="10515600" cy="1280160"/>
          </a:xfrm>
          <a:prstGeom prst="rect">
            <a:avLst/>
          </a:prstGeom>
          <a:noFill/>
          <a:ln/>
        </p:spPr>
        <p:txBody>
          <a:bodyPr wrap="square" lIns="0" tIns="0" rIns="0" bIns="0" rtlCol="0" anchor="b"/>
          <a:lstStyle/>
          <a:p>
            <a:pPr indent="0" marL="0">
              <a:buNone/>
            </a:pPr>
            <a:r>
              <a:rPr lang="en-US" sz="6000" b="1" dirty="0">
                <a:solidFill>
                  <a:srgbClr val="FFFFFF"/>
                </a:solidFill>
                <a:latin typeface="Calibri" pitchFamily="34" charset="0"/>
                <a:ea typeface="Calibri" pitchFamily="34" charset="-122"/>
                <a:cs typeface="Calibri" pitchFamily="34" charset="-120"/>
              </a:rPr>
              <a:t>Titre du Projet</a:t>
            </a:r>
            <a:endParaRPr lang="en-US" sz="6000" dirty="0"/>
          </a:p>
        </p:txBody>
      </p:sp>
      <p:sp>
        <p:nvSpPr>
          <p:cNvPr id="8" name="Text 6"/>
          <p:cNvSpPr/>
          <p:nvPr/>
        </p:nvSpPr>
        <p:spPr>
          <a:xfrm>
            <a:off x="731520" y="3154680"/>
            <a:ext cx="10515600" cy="640080"/>
          </a:xfrm>
          <a:prstGeom prst="rect">
            <a:avLst/>
          </a:prstGeom>
          <a:noFill/>
          <a:ln/>
        </p:spPr>
        <p:txBody>
          <a:bodyPr wrap="square" lIns="0" tIns="0" rIns="0" bIns="0" rtlCol="0" anchor="t"/>
          <a:lstStyle/>
          <a:p>
            <a:pPr indent="0" marL="0">
              <a:buNone/>
            </a:pPr>
            <a:r>
              <a:rPr lang="en-US" sz="2000" dirty="0">
                <a:solidFill>
                  <a:srgbClr val="CBD5E1"/>
                </a:solidFill>
                <a:latin typeface="Calibri" pitchFamily="34" charset="0"/>
                <a:ea typeface="Calibri" pitchFamily="34" charset="-122"/>
                <a:cs typeface="Calibri" pitchFamily="34" charset="-120"/>
              </a:rPr>
              <a:t>Sous-titre — courte phrase qui résume la valeur du projet</a:t>
            </a:r>
            <a:endParaRPr lang="en-US" sz="2000" dirty="0"/>
          </a:p>
        </p:txBody>
      </p:sp>
      <p:sp>
        <p:nvSpPr>
          <p:cNvPr id="9" name="Shape 7"/>
          <p:cNvSpPr/>
          <p:nvPr/>
        </p:nvSpPr>
        <p:spPr>
          <a:xfrm>
            <a:off x="731520" y="3931920"/>
            <a:ext cx="1097280" cy="73152"/>
          </a:xfrm>
          <a:prstGeom prst="rect">
            <a:avLst/>
          </a:prstGeom>
          <a:solidFill>
            <a:srgbClr val="F59E0B"/>
          </a:solidFill>
          <a:ln w="12700">
            <a:solidFill>
              <a:srgbClr val="F59E0B"/>
            </a:solidFill>
            <a:prstDash val="solid"/>
          </a:ln>
        </p:spPr>
      </p:sp>
      <p:sp>
        <p:nvSpPr>
          <p:cNvPr id="10" name="Text 8"/>
          <p:cNvSpPr/>
          <p:nvPr/>
        </p:nvSpPr>
        <p:spPr>
          <a:xfrm>
            <a:off x="731520" y="4572000"/>
            <a:ext cx="2651760" cy="274320"/>
          </a:xfrm>
          <a:prstGeom prst="rect">
            <a:avLst/>
          </a:prstGeom>
          <a:noFill/>
          <a:ln/>
        </p:spPr>
        <p:txBody>
          <a:bodyPr wrap="square" lIns="0" tIns="0" rIns="0" bIns="0" rtlCol="0" anchor="ctr"/>
          <a:lstStyle/>
          <a:p>
            <a:pPr indent="0" marL="0">
              <a:buNone/>
            </a:pPr>
            <a:r>
              <a:rPr lang="en-US" sz="900" b="1" spc="300" kern="0" dirty="0">
                <a:solidFill>
                  <a:srgbClr val="94A3B8"/>
                </a:solidFill>
                <a:latin typeface="Calibri" pitchFamily="34" charset="0"/>
                <a:ea typeface="Calibri" pitchFamily="34" charset="-122"/>
                <a:cs typeface="Calibri" pitchFamily="34" charset="-120"/>
              </a:rPr>
              <a:t>PRÉSENTÉ PAR</a:t>
            </a:r>
            <a:endParaRPr lang="en-US" sz="900" dirty="0"/>
          </a:p>
        </p:txBody>
      </p:sp>
      <p:sp>
        <p:nvSpPr>
          <p:cNvPr id="11" name="Text 9"/>
          <p:cNvSpPr/>
          <p:nvPr/>
        </p:nvSpPr>
        <p:spPr>
          <a:xfrm>
            <a:off x="731520" y="4864608"/>
            <a:ext cx="2651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Prénom Nom</a:t>
            </a:r>
            <a:endParaRPr lang="en-US" sz="1600" dirty="0"/>
          </a:p>
        </p:txBody>
      </p:sp>
      <p:sp>
        <p:nvSpPr>
          <p:cNvPr id="12" name="Text 10"/>
          <p:cNvSpPr/>
          <p:nvPr/>
        </p:nvSpPr>
        <p:spPr>
          <a:xfrm>
            <a:off x="3520440" y="4572000"/>
            <a:ext cx="2651760" cy="274320"/>
          </a:xfrm>
          <a:prstGeom prst="rect">
            <a:avLst/>
          </a:prstGeom>
          <a:noFill/>
          <a:ln/>
        </p:spPr>
        <p:txBody>
          <a:bodyPr wrap="square" lIns="0" tIns="0" rIns="0" bIns="0" rtlCol="0" anchor="ctr"/>
          <a:lstStyle/>
          <a:p>
            <a:pPr indent="0" marL="0">
              <a:buNone/>
            </a:pPr>
            <a:r>
              <a:rPr lang="en-US" sz="900" b="1" spc="300" kern="0" dirty="0">
                <a:solidFill>
                  <a:srgbClr val="94A3B8"/>
                </a:solidFill>
                <a:latin typeface="Calibri" pitchFamily="34" charset="0"/>
                <a:ea typeface="Calibri" pitchFamily="34" charset="-122"/>
                <a:cs typeface="Calibri" pitchFamily="34" charset="-120"/>
              </a:rPr>
              <a:t>ENCADRANT</a:t>
            </a:r>
            <a:endParaRPr lang="en-US" sz="900" dirty="0"/>
          </a:p>
        </p:txBody>
      </p:sp>
      <p:sp>
        <p:nvSpPr>
          <p:cNvPr id="13" name="Text 11"/>
          <p:cNvSpPr/>
          <p:nvPr/>
        </p:nvSpPr>
        <p:spPr>
          <a:xfrm>
            <a:off x="3520440" y="4864608"/>
            <a:ext cx="2651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 / Mr. ...</a:t>
            </a:r>
            <a:endParaRPr lang="en-US" sz="1600" dirty="0"/>
          </a:p>
        </p:txBody>
      </p:sp>
      <p:sp>
        <p:nvSpPr>
          <p:cNvPr id="14" name="Text 12"/>
          <p:cNvSpPr/>
          <p:nvPr/>
        </p:nvSpPr>
        <p:spPr>
          <a:xfrm>
            <a:off x="6309360" y="4572000"/>
            <a:ext cx="2651760" cy="274320"/>
          </a:xfrm>
          <a:prstGeom prst="rect">
            <a:avLst/>
          </a:prstGeom>
          <a:noFill/>
          <a:ln/>
        </p:spPr>
        <p:txBody>
          <a:bodyPr wrap="square" lIns="0" tIns="0" rIns="0" bIns="0" rtlCol="0" anchor="ctr"/>
          <a:lstStyle/>
          <a:p>
            <a:pPr indent="0" marL="0">
              <a:buNone/>
            </a:pPr>
            <a:r>
              <a:rPr lang="en-US" sz="900" b="1" spc="300" kern="0" dirty="0">
                <a:solidFill>
                  <a:srgbClr val="94A3B8"/>
                </a:solidFill>
                <a:latin typeface="Calibri" pitchFamily="34" charset="0"/>
                <a:ea typeface="Calibri" pitchFamily="34" charset="-122"/>
                <a:cs typeface="Calibri" pitchFamily="34" charset="-120"/>
              </a:rPr>
              <a:t>FILIÈRE</a:t>
            </a:r>
            <a:endParaRPr lang="en-US" sz="900" dirty="0"/>
          </a:p>
        </p:txBody>
      </p:sp>
      <p:sp>
        <p:nvSpPr>
          <p:cNvPr id="15" name="Text 13"/>
          <p:cNvSpPr/>
          <p:nvPr/>
        </p:nvSpPr>
        <p:spPr>
          <a:xfrm>
            <a:off x="6309360" y="4864608"/>
            <a:ext cx="2651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Spécialité — Niveau</a:t>
            </a:r>
            <a:endParaRPr lang="en-US" sz="1600" dirty="0"/>
          </a:p>
        </p:txBody>
      </p:sp>
      <p:sp>
        <p:nvSpPr>
          <p:cNvPr id="16" name="Text 14"/>
          <p:cNvSpPr/>
          <p:nvPr/>
        </p:nvSpPr>
        <p:spPr>
          <a:xfrm>
            <a:off x="9098280" y="4572000"/>
            <a:ext cx="2651760" cy="274320"/>
          </a:xfrm>
          <a:prstGeom prst="rect">
            <a:avLst/>
          </a:prstGeom>
          <a:noFill/>
          <a:ln/>
        </p:spPr>
        <p:txBody>
          <a:bodyPr wrap="square" lIns="0" tIns="0" rIns="0" bIns="0" rtlCol="0" anchor="ctr"/>
          <a:lstStyle/>
          <a:p>
            <a:pPr indent="0" marL="0">
              <a:buNone/>
            </a:pPr>
            <a:r>
              <a:rPr lang="en-US" sz="900" b="1" spc="300" kern="0" dirty="0">
                <a:solidFill>
                  <a:srgbClr val="94A3B8"/>
                </a:solidFill>
                <a:latin typeface="Calibri" pitchFamily="34" charset="0"/>
                <a:ea typeface="Calibri" pitchFamily="34" charset="-122"/>
                <a:cs typeface="Calibri" pitchFamily="34" charset="-120"/>
              </a:rPr>
              <a:t>ANNÉE UNIVERSITAIRE</a:t>
            </a:r>
            <a:endParaRPr lang="en-US" sz="900" dirty="0"/>
          </a:p>
        </p:txBody>
      </p:sp>
      <p:sp>
        <p:nvSpPr>
          <p:cNvPr id="17" name="Text 15"/>
          <p:cNvSpPr/>
          <p:nvPr/>
        </p:nvSpPr>
        <p:spPr>
          <a:xfrm>
            <a:off x="9098280" y="4864608"/>
            <a:ext cx="26517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2025 / 2026</a:t>
            </a:r>
            <a:endParaRPr lang="en-US" sz="1600" dirty="0"/>
          </a:p>
        </p:txBody>
      </p:sp>
      <p:sp>
        <p:nvSpPr>
          <p:cNvPr id="18" name="Shape 16"/>
          <p:cNvSpPr/>
          <p:nvPr/>
        </p:nvSpPr>
        <p:spPr>
          <a:xfrm>
            <a:off x="731520" y="6126480"/>
            <a:ext cx="10698480" cy="36576"/>
          </a:xfrm>
          <a:prstGeom prst="rect">
            <a:avLst/>
          </a:prstGeom>
          <a:solidFill>
            <a:srgbClr val="FFFFFF">
              <a:alpha val="30000"/>
            </a:srgbClr>
          </a:solidFill>
          <a:ln w="12700">
            <a:solidFill>
              <a:srgbClr val="FFFFFF">
                <a:alpha val="0"/>
              </a:srgbClr>
            </a:solidFill>
            <a:prstDash val="solid"/>
          </a:ln>
        </p:spPr>
      </p:sp>
      <p:sp>
        <p:nvSpPr>
          <p:cNvPr id="19" name="Text 17"/>
          <p:cNvSpPr/>
          <p:nvPr/>
        </p:nvSpPr>
        <p:spPr>
          <a:xfrm>
            <a:off x="731520" y="6263640"/>
            <a:ext cx="10698480" cy="27432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Soutenance publique  ·  Jury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8600" y="228600"/>
            <a:ext cx="164592" cy="164592"/>
          </a:xfrm>
          <a:prstGeom prst="ellipse">
            <a:avLst/>
          </a:prstGeom>
          <a:solidFill>
            <a:srgbClr val="4F46E5"/>
          </a:solidFill>
          <a:ln w="12700">
            <a:solidFill>
              <a:srgbClr val="4F46E5"/>
            </a:solidFill>
            <a:prstDash val="solid"/>
          </a:ln>
        </p:spPr>
      </p:sp>
      <p:sp>
        <p:nvSpPr>
          <p:cNvPr id="3" name="Shape 1"/>
          <p:cNvSpPr/>
          <p:nvPr/>
        </p:nvSpPr>
        <p:spPr>
          <a:xfrm>
            <a:off x="502920" y="228600"/>
            <a:ext cx="164592" cy="164592"/>
          </a:xfrm>
          <a:prstGeom prst="ellipse">
            <a:avLst/>
          </a:prstGeom>
          <a:solidFill>
            <a:srgbClr val="06B6D4"/>
          </a:solidFill>
          <a:ln w="12700">
            <a:solidFill>
              <a:srgbClr val="06B6D4"/>
            </a:solidFill>
            <a:prstDash val="solid"/>
          </a:ln>
        </p:spPr>
      </p:sp>
      <p:sp>
        <p:nvSpPr>
          <p:cNvPr id="4" name="Shape 2"/>
          <p:cNvSpPr/>
          <p:nvPr/>
        </p:nvSpPr>
        <p:spPr>
          <a:xfrm>
            <a:off x="777240" y="228600"/>
            <a:ext cx="164592" cy="164592"/>
          </a:xfrm>
          <a:prstGeom prst="ellipse">
            <a:avLst/>
          </a:prstGeom>
          <a:solidFill>
            <a:srgbClr val="F59E0B"/>
          </a:solidFill>
          <a:ln w="12700">
            <a:solidFill>
              <a:srgbClr val="F59E0B"/>
            </a:solidFill>
            <a:prstDash val="solid"/>
          </a:ln>
        </p:spPr>
      </p:sp>
      <p:sp>
        <p:nvSpPr>
          <p:cNvPr id="5" name="Shape 3"/>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6" name="Text 4"/>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Plan de la présentation</a:t>
            </a:r>
            <a:endParaRPr lang="en-US" sz="2600" dirty="0"/>
          </a:p>
        </p:txBody>
      </p:sp>
      <p:sp>
        <p:nvSpPr>
          <p:cNvPr id="8" name="Shape 6"/>
          <p:cNvSpPr/>
          <p:nvPr/>
        </p:nvSpPr>
        <p:spPr>
          <a:xfrm>
            <a:off x="548640" y="1051560"/>
            <a:ext cx="1371600" cy="45720"/>
          </a:xfrm>
          <a:prstGeom prst="rect">
            <a:avLst/>
          </a:prstGeom>
          <a:solidFill>
            <a:srgbClr val="06B6D4"/>
          </a:solidFill>
          <a:ln w="12700">
            <a:solidFill>
              <a:srgbClr val="06B6D4"/>
            </a:solidFill>
            <a:prstDash val="solid"/>
          </a:ln>
        </p:spPr>
      </p:sp>
      <p:sp>
        <p:nvSpPr>
          <p:cNvPr id="9" name="Shape 7"/>
          <p:cNvSpPr/>
          <p:nvPr/>
        </p:nvSpPr>
        <p:spPr>
          <a:xfrm>
            <a:off x="1965960" y="1051560"/>
            <a:ext cx="365760" cy="45720"/>
          </a:xfrm>
          <a:prstGeom prst="rect">
            <a:avLst/>
          </a:prstGeom>
          <a:solidFill>
            <a:srgbClr val="F59E0B"/>
          </a:solidFill>
          <a:ln w="12700">
            <a:solidFill>
              <a:srgbClr val="F59E0B"/>
            </a:solidFill>
            <a:prstDash val="solid"/>
          </a:ln>
        </p:spPr>
      </p:sp>
      <p:sp>
        <p:nvSpPr>
          <p:cNvPr id="10" name="Shape 8"/>
          <p:cNvSpPr/>
          <p:nvPr/>
        </p:nvSpPr>
        <p:spPr>
          <a:xfrm>
            <a:off x="548640" y="1554480"/>
            <a:ext cx="2788920" cy="2240280"/>
          </a:xfrm>
          <a:prstGeom prst="roundRect">
            <a:avLst>
              <a:gd name="adj" fmla="val 4898"/>
            </a:avLst>
          </a:prstGeom>
          <a:solidFill>
            <a:srgbClr val="F8FAFC"/>
          </a:solidFill>
          <a:ln w="12700">
            <a:solidFill>
              <a:srgbClr val="E2E8F0"/>
            </a:solidFill>
            <a:prstDash val="solid"/>
          </a:ln>
        </p:spPr>
      </p:sp>
      <p:sp>
        <p:nvSpPr>
          <p:cNvPr id="11" name="Shape 9"/>
          <p:cNvSpPr/>
          <p:nvPr/>
        </p:nvSpPr>
        <p:spPr>
          <a:xfrm>
            <a:off x="822960" y="1828800"/>
            <a:ext cx="640080" cy="640080"/>
          </a:xfrm>
          <a:prstGeom prst="ellipse">
            <a:avLst/>
          </a:prstGeom>
          <a:solidFill>
            <a:srgbClr val="4F46E5"/>
          </a:solidFill>
          <a:ln w="12700">
            <a:solidFill>
              <a:srgbClr val="FFFFFF">
                <a:alpha val="0"/>
              </a:srgbClr>
            </a:solidFill>
            <a:prstDash val="solid"/>
          </a:ln>
        </p:spPr>
      </p:sp>
      <p:sp>
        <p:nvSpPr>
          <p:cNvPr id="12" name="Text 10"/>
          <p:cNvSpPr/>
          <p:nvPr/>
        </p:nvSpPr>
        <p:spPr>
          <a:xfrm>
            <a:off x="822960" y="18288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3" name="Text 11"/>
          <p:cNvSpPr/>
          <p:nvPr/>
        </p:nvSpPr>
        <p:spPr>
          <a:xfrm>
            <a:off x="822960" y="2606040"/>
            <a:ext cx="224028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Introduction</a:t>
            </a:r>
            <a:endParaRPr lang="en-US" sz="1700" dirty="0"/>
          </a:p>
        </p:txBody>
      </p:sp>
      <p:sp>
        <p:nvSpPr>
          <p:cNvPr id="14" name="Text 12"/>
          <p:cNvSpPr/>
          <p:nvPr/>
        </p:nvSpPr>
        <p:spPr>
          <a:xfrm>
            <a:off x="822960" y="3063240"/>
            <a:ext cx="22402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Contexte et cadre du projet</a:t>
            </a:r>
            <a:endParaRPr lang="en-US" sz="1200" dirty="0"/>
          </a:p>
        </p:txBody>
      </p:sp>
      <p:sp>
        <p:nvSpPr>
          <p:cNvPr id="15" name="Shape 13"/>
          <p:cNvSpPr/>
          <p:nvPr/>
        </p:nvSpPr>
        <p:spPr>
          <a:xfrm>
            <a:off x="3502152" y="1554480"/>
            <a:ext cx="2788920" cy="2240280"/>
          </a:xfrm>
          <a:prstGeom prst="roundRect">
            <a:avLst>
              <a:gd name="adj" fmla="val 4898"/>
            </a:avLst>
          </a:prstGeom>
          <a:solidFill>
            <a:srgbClr val="F8FAFC"/>
          </a:solidFill>
          <a:ln w="12700">
            <a:solidFill>
              <a:srgbClr val="E2E8F0"/>
            </a:solidFill>
            <a:prstDash val="solid"/>
          </a:ln>
        </p:spPr>
      </p:sp>
      <p:sp>
        <p:nvSpPr>
          <p:cNvPr id="16" name="Shape 14"/>
          <p:cNvSpPr/>
          <p:nvPr/>
        </p:nvSpPr>
        <p:spPr>
          <a:xfrm>
            <a:off x="3776472" y="1828800"/>
            <a:ext cx="640080" cy="640080"/>
          </a:xfrm>
          <a:prstGeom prst="ellipse">
            <a:avLst/>
          </a:prstGeom>
          <a:solidFill>
            <a:srgbClr val="06B6D4"/>
          </a:solidFill>
          <a:ln w="12700">
            <a:solidFill>
              <a:srgbClr val="FFFFFF">
                <a:alpha val="0"/>
              </a:srgbClr>
            </a:solidFill>
            <a:prstDash val="solid"/>
          </a:ln>
        </p:spPr>
      </p:sp>
      <p:sp>
        <p:nvSpPr>
          <p:cNvPr id="17" name="Text 15"/>
          <p:cNvSpPr/>
          <p:nvPr/>
        </p:nvSpPr>
        <p:spPr>
          <a:xfrm>
            <a:off x="3776472" y="18288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8" name="Text 16"/>
          <p:cNvSpPr/>
          <p:nvPr/>
        </p:nvSpPr>
        <p:spPr>
          <a:xfrm>
            <a:off x="3776472" y="2606040"/>
            <a:ext cx="224028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Problématique</a:t>
            </a:r>
            <a:endParaRPr lang="en-US" sz="1700" dirty="0"/>
          </a:p>
        </p:txBody>
      </p:sp>
      <p:sp>
        <p:nvSpPr>
          <p:cNvPr id="19" name="Text 17"/>
          <p:cNvSpPr/>
          <p:nvPr/>
        </p:nvSpPr>
        <p:spPr>
          <a:xfrm>
            <a:off x="3776472" y="3063240"/>
            <a:ext cx="22402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Les enjeux à résoudre</a:t>
            </a:r>
            <a:endParaRPr lang="en-US" sz="1200" dirty="0"/>
          </a:p>
        </p:txBody>
      </p:sp>
      <p:sp>
        <p:nvSpPr>
          <p:cNvPr id="20" name="Shape 18"/>
          <p:cNvSpPr/>
          <p:nvPr/>
        </p:nvSpPr>
        <p:spPr>
          <a:xfrm>
            <a:off x="6455664" y="1554480"/>
            <a:ext cx="2788920" cy="2240280"/>
          </a:xfrm>
          <a:prstGeom prst="roundRect">
            <a:avLst>
              <a:gd name="adj" fmla="val 4898"/>
            </a:avLst>
          </a:prstGeom>
          <a:solidFill>
            <a:srgbClr val="F8FAFC"/>
          </a:solidFill>
          <a:ln w="12700">
            <a:solidFill>
              <a:srgbClr val="E2E8F0"/>
            </a:solidFill>
            <a:prstDash val="solid"/>
          </a:ln>
        </p:spPr>
      </p:sp>
      <p:sp>
        <p:nvSpPr>
          <p:cNvPr id="21" name="Shape 19"/>
          <p:cNvSpPr/>
          <p:nvPr/>
        </p:nvSpPr>
        <p:spPr>
          <a:xfrm>
            <a:off x="6729984" y="1828800"/>
            <a:ext cx="640080" cy="640080"/>
          </a:xfrm>
          <a:prstGeom prst="ellipse">
            <a:avLst/>
          </a:prstGeom>
          <a:solidFill>
            <a:srgbClr val="F59E0B"/>
          </a:solidFill>
          <a:ln w="12700">
            <a:solidFill>
              <a:srgbClr val="FFFFFF">
                <a:alpha val="0"/>
              </a:srgbClr>
            </a:solidFill>
            <a:prstDash val="solid"/>
          </a:ln>
        </p:spPr>
      </p:sp>
      <p:sp>
        <p:nvSpPr>
          <p:cNvPr id="22" name="Text 20"/>
          <p:cNvSpPr/>
          <p:nvPr/>
        </p:nvSpPr>
        <p:spPr>
          <a:xfrm>
            <a:off x="6729984" y="18288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6729984" y="2606040"/>
            <a:ext cx="224028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Objectifs</a:t>
            </a:r>
            <a:endParaRPr lang="en-US" sz="1700" dirty="0"/>
          </a:p>
        </p:txBody>
      </p:sp>
      <p:sp>
        <p:nvSpPr>
          <p:cNvPr id="24" name="Text 22"/>
          <p:cNvSpPr/>
          <p:nvPr/>
        </p:nvSpPr>
        <p:spPr>
          <a:xfrm>
            <a:off x="6729984" y="3063240"/>
            <a:ext cx="22402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Ce que nous voulons atteindre</a:t>
            </a:r>
            <a:endParaRPr lang="en-US" sz="1200" dirty="0"/>
          </a:p>
        </p:txBody>
      </p:sp>
      <p:sp>
        <p:nvSpPr>
          <p:cNvPr id="25" name="Shape 23"/>
          <p:cNvSpPr/>
          <p:nvPr/>
        </p:nvSpPr>
        <p:spPr>
          <a:xfrm>
            <a:off x="9409176" y="1554480"/>
            <a:ext cx="2788920" cy="2240280"/>
          </a:xfrm>
          <a:prstGeom prst="roundRect">
            <a:avLst>
              <a:gd name="adj" fmla="val 4898"/>
            </a:avLst>
          </a:prstGeom>
          <a:solidFill>
            <a:srgbClr val="F8FAFC"/>
          </a:solidFill>
          <a:ln w="12700">
            <a:solidFill>
              <a:srgbClr val="E2E8F0"/>
            </a:solidFill>
            <a:prstDash val="solid"/>
          </a:ln>
        </p:spPr>
      </p:sp>
      <p:sp>
        <p:nvSpPr>
          <p:cNvPr id="26" name="Shape 24"/>
          <p:cNvSpPr/>
          <p:nvPr/>
        </p:nvSpPr>
        <p:spPr>
          <a:xfrm>
            <a:off x="9683496" y="1828800"/>
            <a:ext cx="640080" cy="640080"/>
          </a:xfrm>
          <a:prstGeom prst="ellipse">
            <a:avLst/>
          </a:prstGeom>
          <a:solidFill>
            <a:srgbClr val="4F46E5"/>
          </a:solidFill>
          <a:ln w="12700">
            <a:solidFill>
              <a:srgbClr val="FFFFFF">
                <a:alpha val="0"/>
              </a:srgbClr>
            </a:solidFill>
            <a:prstDash val="solid"/>
          </a:ln>
        </p:spPr>
      </p:sp>
      <p:sp>
        <p:nvSpPr>
          <p:cNvPr id="27" name="Text 25"/>
          <p:cNvSpPr/>
          <p:nvPr/>
        </p:nvSpPr>
        <p:spPr>
          <a:xfrm>
            <a:off x="9683496" y="18288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8" name="Text 26"/>
          <p:cNvSpPr/>
          <p:nvPr/>
        </p:nvSpPr>
        <p:spPr>
          <a:xfrm>
            <a:off x="9683496" y="2606040"/>
            <a:ext cx="224028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État de l'art</a:t>
            </a:r>
            <a:endParaRPr lang="en-US" sz="1700" dirty="0"/>
          </a:p>
        </p:txBody>
      </p:sp>
      <p:sp>
        <p:nvSpPr>
          <p:cNvPr id="29" name="Text 27"/>
          <p:cNvSpPr/>
          <p:nvPr/>
        </p:nvSpPr>
        <p:spPr>
          <a:xfrm>
            <a:off x="9683496" y="3063240"/>
            <a:ext cx="22402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Solutions et travaux existants</a:t>
            </a:r>
            <a:endParaRPr lang="en-US" sz="1200" dirty="0"/>
          </a:p>
        </p:txBody>
      </p:sp>
      <p:sp>
        <p:nvSpPr>
          <p:cNvPr id="30" name="Shape 28"/>
          <p:cNvSpPr/>
          <p:nvPr/>
        </p:nvSpPr>
        <p:spPr>
          <a:xfrm>
            <a:off x="548640" y="3959352"/>
            <a:ext cx="2788920" cy="2240280"/>
          </a:xfrm>
          <a:prstGeom prst="roundRect">
            <a:avLst>
              <a:gd name="adj" fmla="val 4898"/>
            </a:avLst>
          </a:prstGeom>
          <a:solidFill>
            <a:srgbClr val="F8FAFC"/>
          </a:solidFill>
          <a:ln w="12700">
            <a:solidFill>
              <a:srgbClr val="E2E8F0"/>
            </a:solidFill>
            <a:prstDash val="solid"/>
          </a:ln>
        </p:spPr>
      </p:sp>
      <p:sp>
        <p:nvSpPr>
          <p:cNvPr id="31" name="Shape 29"/>
          <p:cNvSpPr/>
          <p:nvPr/>
        </p:nvSpPr>
        <p:spPr>
          <a:xfrm>
            <a:off x="822960" y="4233672"/>
            <a:ext cx="640080" cy="640080"/>
          </a:xfrm>
          <a:prstGeom prst="ellipse">
            <a:avLst/>
          </a:prstGeom>
          <a:solidFill>
            <a:srgbClr val="06B6D4"/>
          </a:solidFill>
          <a:ln w="12700">
            <a:solidFill>
              <a:srgbClr val="FFFFFF">
                <a:alpha val="0"/>
              </a:srgbClr>
            </a:solidFill>
            <a:prstDash val="solid"/>
          </a:ln>
        </p:spPr>
      </p:sp>
      <p:sp>
        <p:nvSpPr>
          <p:cNvPr id="32" name="Text 30"/>
          <p:cNvSpPr/>
          <p:nvPr/>
        </p:nvSpPr>
        <p:spPr>
          <a:xfrm>
            <a:off x="822960" y="4233672"/>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3" name="Text 31"/>
          <p:cNvSpPr/>
          <p:nvPr/>
        </p:nvSpPr>
        <p:spPr>
          <a:xfrm>
            <a:off x="822960" y="5010912"/>
            <a:ext cx="224028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Conception</a:t>
            </a:r>
            <a:endParaRPr lang="en-US" sz="1700" dirty="0"/>
          </a:p>
        </p:txBody>
      </p:sp>
      <p:sp>
        <p:nvSpPr>
          <p:cNvPr id="34" name="Text 32"/>
          <p:cNvSpPr/>
          <p:nvPr/>
        </p:nvSpPr>
        <p:spPr>
          <a:xfrm>
            <a:off x="822960" y="5468112"/>
            <a:ext cx="22402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Architecture et choix de design</a:t>
            </a:r>
            <a:endParaRPr lang="en-US" sz="1200" dirty="0"/>
          </a:p>
        </p:txBody>
      </p:sp>
      <p:sp>
        <p:nvSpPr>
          <p:cNvPr id="35" name="Shape 33"/>
          <p:cNvSpPr/>
          <p:nvPr/>
        </p:nvSpPr>
        <p:spPr>
          <a:xfrm>
            <a:off x="3502152" y="3959352"/>
            <a:ext cx="2788920" cy="2240280"/>
          </a:xfrm>
          <a:prstGeom prst="roundRect">
            <a:avLst>
              <a:gd name="adj" fmla="val 4898"/>
            </a:avLst>
          </a:prstGeom>
          <a:solidFill>
            <a:srgbClr val="F8FAFC"/>
          </a:solidFill>
          <a:ln w="12700">
            <a:solidFill>
              <a:srgbClr val="E2E8F0"/>
            </a:solidFill>
            <a:prstDash val="solid"/>
          </a:ln>
        </p:spPr>
      </p:sp>
      <p:sp>
        <p:nvSpPr>
          <p:cNvPr id="36" name="Shape 34"/>
          <p:cNvSpPr/>
          <p:nvPr/>
        </p:nvSpPr>
        <p:spPr>
          <a:xfrm>
            <a:off x="3776472" y="4233672"/>
            <a:ext cx="640080" cy="640080"/>
          </a:xfrm>
          <a:prstGeom prst="ellipse">
            <a:avLst/>
          </a:prstGeom>
          <a:solidFill>
            <a:srgbClr val="F59E0B"/>
          </a:solidFill>
          <a:ln w="12700">
            <a:solidFill>
              <a:srgbClr val="FFFFFF">
                <a:alpha val="0"/>
              </a:srgbClr>
            </a:solidFill>
            <a:prstDash val="solid"/>
          </a:ln>
        </p:spPr>
      </p:sp>
      <p:sp>
        <p:nvSpPr>
          <p:cNvPr id="37" name="Text 35"/>
          <p:cNvSpPr/>
          <p:nvPr/>
        </p:nvSpPr>
        <p:spPr>
          <a:xfrm>
            <a:off x="3776472" y="4233672"/>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8" name="Text 36"/>
          <p:cNvSpPr/>
          <p:nvPr/>
        </p:nvSpPr>
        <p:spPr>
          <a:xfrm>
            <a:off x="3776472" y="5010912"/>
            <a:ext cx="224028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Réalisation</a:t>
            </a:r>
            <a:endParaRPr lang="en-US" sz="1700" dirty="0"/>
          </a:p>
        </p:txBody>
      </p:sp>
      <p:sp>
        <p:nvSpPr>
          <p:cNvPr id="39" name="Text 37"/>
          <p:cNvSpPr/>
          <p:nvPr/>
        </p:nvSpPr>
        <p:spPr>
          <a:xfrm>
            <a:off x="3776472" y="5468112"/>
            <a:ext cx="22402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Mise en œuvre concrète</a:t>
            </a:r>
            <a:endParaRPr lang="en-US" sz="1200" dirty="0"/>
          </a:p>
        </p:txBody>
      </p:sp>
      <p:sp>
        <p:nvSpPr>
          <p:cNvPr id="40" name="Shape 38"/>
          <p:cNvSpPr/>
          <p:nvPr/>
        </p:nvSpPr>
        <p:spPr>
          <a:xfrm>
            <a:off x="6455664" y="3959352"/>
            <a:ext cx="2788920" cy="2240280"/>
          </a:xfrm>
          <a:prstGeom prst="roundRect">
            <a:avLst>
              <a:gd name="adj" fmla="val 4898"/>
            </a:avLst>
          </a:prstGeom>
          <a:solidFill>
            <a:srgbClr val="F8FAFC"/>
          </a:solidFill>
          <a:ln w="12700">
            <a:solidFill>
              <a:srgbClr val="E2E8F0"/>
            </a:solidFill>
            <a:prstDash val="solid"/>
          </a:ln>
        </p:spPr>
      </p:sp>
      <p:sp>
        <p:nvSpPr>
          <p:cNvPr id="41" name="Shape 39"/>
          <p:cNvSpPr/>
          <p:nvPr/>
        </p:nvSpPr>
        <p:spPr>
          <a:xfrm>
            <a:off x="6729984" y="4233672"/>
            <a:ext cx="640080" cy="640080"/>
          </a:xfrm>
          <a:prstGeom prst="ellipse">
            <a:avLst/>
          </a:prstGeom>
          <a:solidFill>
            <a:srgbClr val="4F46E5"/>
          </a:solidFill>
          <a:ln w="12700">
            <a:solidFill>
              <a:srgbClr val="FFFFFF">
                <a:alpha val="0"/>
              </a:srgbClr>
            </a:solidFill>
            <a:prstDash val="solid"/>
          </a:ln>
        </p:spPr>
      </p:sp>
      <p:sp>
        <p:nvSpPr>
          <p:cNvPr id="42" name="Text 40"/>
          <p:cNvSpPr/>
          <p:nvPr/>
        </p:nvSpPr>
        <p:spPr>
          <a:xfrm>
            <a:off x="6729984" y="4233672"/>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43" name="Text 41"/>
          <p:cNvSpPr/>
          <p:nvPr/>
        </p:nvSpPr>
        <p:spPr>
          <a:xfrm>
            <a:off x="6729984" y="5010912"/>
            <a:ext cx="224028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Tests &amp; Résultats</a:t>
            </a:r>
            <a:endParaRPr lang="en-US" sz="1700" dirty="0"/>
          </a:p>
        </p:txBody>
      </p:sp>
      <p:sp>
        <p:nvSpPr>
          <p:cNvPr id="44" name="Text 42"/>
          <p:cNvSpPr/>
          <p:nvPr/>
        </p:nvSpPr>
        <p:spPr>
          <a:xfrm>
            <a:off x="6729984" y="5468112"/>
            <a:ext cx="22402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Validation et performances</a:t>
            </a:r>
            <a:endParaRPr lang="en-US" sz="1200" dirty="0"/>
          </a:p>
        </p:txBody>
      </p:sp>
      <p:sp>
        <p:nvSpPr>
          <p:cNvPr id="45" name="Shape 43"/>
          <p:cNvSpPr/>
          <p:nvPr/>
        </p:nvSpPr>
        <p:spPr>
          <a:xfrm>
            <a:off x="9409176" y="3959352"/>
            <a:ext cx="2788920" cy="2240280"/>
          </a:xfrm>
          <a:prstGeom prst="roundRect">
            <a:avLst>
              <a:gd name="adj" fmla="val 4898"/>
            </a:avLst>
          </a:prstGeom>
          <a:solidFill>
            <a:srgbClr val="F8FAFC"/>
          </a:solidFill>
          <a:ln w="12700">
            <a:solidFill>
              <a:srgbClr val="E2E8F0"/>
            </a:solidFill>
            <a:prstDash val="solid"/>
          </a:ln>
        </p:spPr>
      </p:sp>
      <p:sp>
        <p:nvSpPr>
          <p:cNvPr id="46" name="Shape 44"/>
          <p:cNvSpPr/>
          <p:nvPr/>
        </p:nvSpPr>
        <p:spPr>
          <a:xfrm>
            <a:off x="9683496" y="4233672"/>
            <a:ext cx="640080" cy="640080"/>
          </a:xfrm>
          <a:prstGeom prst="ellipse">
            <a:avLst/>
          </a:prstGeom>
          <a:solidFill>
            <a:srgbClr val="06B6D4"/>
          </a:solidFill>
          <a:ln w="12700">
            <a:solidFill>
              <a:srgbClr val="FFFFFF">
                <a:alpha val="0"/>
              </a:srgbClr>
            </a:solidFill>
            <a:prstDash val="solid"/>
          </a:ln>
        </p:spPr>
      </p:sp>
      <p:sp>
        <p:nvSpPr>
          <p:cNvPr id="47" name="Text 45"/>
          <p:cNvSpPr/>
          <p:nvPr/>
        </p:nvSpPr>
        <p:spPr>
          <a:xfrm>
            <a:off x="9683496" y="4233672"/>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48" name="Text 46"/>
          <p:cNvSpPr/>
          <p:nvPr/>
        </p:nvSpPr>
        <p:spPr>
          <a:xfrm>
            <a:off x="9683496" y="5010912"/>
            <a:ext cx="2240280" cy="45720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Conclusion</a:t>
            </a:r>
            <a:endParaRPr lang="en-US" sz="1700" dirty="0"/>
          </a:p>
        </p:txBody>
      </p:sp>
      <p:sp>
        <p:nvSpPr>
          <p:cNvPr id="49" name="Text 47"/>
          <p:cNvSpPr/>
          <p:nvPr/>
        </p:nvSpPr>
        <p:spPr>
          <a:xfrm>
            <a:off x="9683496" y="5468112"/>
            <a:ext cx="2240280" cy="6400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Bilan et perspectives</a:t>
            </a:r>
            <a:endParaRPr lang="en-US" sz="1200" dirty="0"/>
          </a:p>
        </p:txBody>
      </p:sp>
      <p:sp>
        <p:nvSpPr>
          <p:cNvPr id="50" name="Text 48"/>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51" name="Text 49"/>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 / 27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Introduction</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Text 5"/>
          <p:cNvSpPr/>
          <p:nvPr/>
        </p:nvSpPr>
        <p:spPr>
          <a:xfrm>
            <a:off x="548640" y="1463040"/>
            <a:ext cx="6400800" cy="457200"/>
          </a:xfrm>
          <a:prstGeom prst="rect">
            <a:avLst/>
          </a:prstGeom>
          <a:noFill/>
          <a:ln/>
        </p:spPr>
        <p:txBody>
          <a:bodyPr wrap="square" lIns="0" tIns="0" rIns="0" bIns="0" rtlCol="0" anchor="ctr"/>
          <a:lstStyle/>
          <a:p>
            <a:pPr indent="0" marL="0">
              <a:buNone/>
            </a:pPr>
            <a:r>
              <a:rPr lang="en-US" sz="2000" b="1" dirty="0">
                <a:solidFill>
                  <a:srgbClr val="4F46E5"/>
                </a:solidFill>
                <a:latin typeface="Calibri" pitchFamily="34" charset="0"/>
                <a:ea typeface="Calibri" pitchFamily="34" charset="-122"/>
                <a:cs typeface="Calibri" pitchFamily="34" charset="-120"/>
              </a:rPr>
              <a:t>Mise en contexte</a:t>
            </a:r>
            <a:endParaRPr lang="en-US" sz="2000" dirty="0"/>
          </a:p>
        </p:txBody>
      </p:sp>
      <p:sp>
        <p:nvSpPr>
          <p:cNvPr id="8" name="Text 6"/>
          <p:cNvSpPr/>
          <p:nvPr/>
        </p:nvSpPr>
        <p:spPr>
          <a:xfrm>
            <a:off x="548640" y="1965960"/>
            <a:ext cx="6400800" cy="137160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Ce projet s'inscrit dans le cadre de la formation d'ingénieur et répond à un besoin concret identifié dans le secteur. Il vise à concevoir et réaliser une solution technique innovante en mobilisant les compétences acquises tout au long du cursus.</a:t>
            </a:r>
            <a:endParaRPr lang="en-US" sz="1400" dirty="0"/>
          </a:p>
        </p:txBody>
      </p:sp>
      <p:sp>
        <p:nvSpPr>
          <p:cNvPr id="9" name="Text 7"/>
          <p:cNvSpPr/>
          <p:nvPr/>
        </p:nvSpPr>
        <p:spPr>
          <a:xfrm>
            <a:off x="548640" y="3474720"/>
            <a:ext cx="6400800" cy="22860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Premier point clé décrivant le contexte général du projet</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Deuxième élément de cadrage à adapter selon le sujet</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Troisième aspect important pour comprendre la suite</a:t>
            </a:r>
            <a:endParaRPr lang="en-US" sz="1300" dirty="0"/>
          </a:p>
        </p:txBody>
      </p:sp>
      <p:sp>
        <p:nvSpPr>
          <p:cNvPr id="10" name="Shape 8"/>
          <p:cNvSpPr/>
          <p:nvPr/>
        </p:nvSpPr>
        <p:spPr>
          <a:xfrm>
            <a:off x="7498080" y="1463040"/>
            <a:ext cx="4206240" cy="4389120"/>
          </a:xfrm>
          <a:prstGeom prst="roundRect">
            <a:avLst>
              <a:gd name="adj" fmla="val 3913"/>
            </a:avLst>
          </a:prstGeom>
          <a:solidFill>
            <a:srgbClr val="0F172A"/>
          </a:solidFill>
          <a:ln w="12700">
            <a:solidFill>
              <a:srgbClr val="0F172A"/>
            </a:solidFill>
            <a:prstDash val="solid"/>
          </a:ln>
        </p:spPr>
      </p:sp>
      <p:pic>
        <p:nvPicPr>
          <p:cNvPr id="11" name="Image 0" descr="preencoded.png">    </p:cNvPr>
          <p:cNvPicPr>
            <a:picLocks noChangeAspect="1"/>
          </p:cNvPicPr>
          <p:nvPr/>
        </p:nvPicPr>
        <p:blipFill>
          <a:blip r:embed="rId1"/>
          <a:stretch>
            <a:fillRect/>
          </a:stretch>
        </p:blipFill>
        <p:spPr>
          <a:xfrm>
            <a:off x="7772400" y="1691640"/>
            <a:ext cx="457200" cy="457200"/>
          </a:xfrm>
          <a:prstGeom prst="rect">
            <a:avLst/>
          </a:prstGeom>
        </p:spPr>
      </p:pic>
      <p:sp>
        <p:nvSpPr>
          <p:cNvPr id="12" name="Text 9"/>
          <p:cNvSpPr/>
          <p:nvPr/>
        </p:nvSpPr>
        <p:spPr>
          <a:xfrm>
            <a:off x="7772400" y="2286000"/>
            <a:ext cx="3657600" cy="20116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 Tout grand voyage commence par un premier pas — et ce projet est notre premier pas vers l'ingénierie de demain. »</a:t>
            </a:r>
            <a:endParaRPr lang="en-US" sz="1600" dirty="0"/>
          </a:p>
        </p:txBody>
      </p:sp>
      <p:sp>
        <p:nvSpPr>
          <p:cNvPr id="13" name="Shape 10"/>
          <p:cNvSpPr/>
          <p:nvPr/>
        </p:nvSpPr>
        <p:spPr>
          <a:xfrm>
            <a:off x="7772400" y="4526280"/>
            <a:ext cx="548640" cy="36576"/>
          </a:xfrm>
          <a:prstGeom prst="rect">
            <a:avLst/>
          </a:prstGeom>
          <a:solidFill>
            <a:srgbClr val="F59E0B"/>
          </a:solidFill>
          <a:ln w="12700">
            <a:solidFill>
              <a:srgbClr val="F59E0B"/>
            </a:solidFill>
            <a:prstDash val="solid"/>
          </a:ln>
        </p:spPr>
      </p:sp>
      <p:sp>
        <p:nvSpPr>
          <p:cNvPr id="14" name="Text 11"/>
          <p:cNvSpPr/>
          <p:nvPr/>
        </p:nvSpPr>
        <p:spPr>
          <a:xfrm>
            <a:off x="7772400" y="4617720"/>
            <a:ext cx="3657600" cy="36576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 Citation introductive</a:t>
            </a:r>
            <a:endParaRPr lang="en-US" sz="1100" dirty="0"/>
          </a:p>
        </p:txBody>
      </p:sp>
      <p:sp>
        <p:nvSpPr>
          <p:cNvPr id="15" name="Text 12"/>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16" name="Text 13"/>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 / 27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Contexte du projet</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828800"/>
            <a:ext cx="3657600" cy="4114800"/>
          </a:xfrm>
          <a:prstGeom prst="roundRect">
            <a:avLst>
              <a:gd name="adj" fmla="val 3500"/>
            </a:avLst>
          </a:prstGeom>
          <a:solidFill>
            <a:srgbClr val="F8FAFC"/>
          </a:solidFill>
          <a:ln w="12700">
            <a:solidFill>
              <a:srgbClr val="E2E8F0"/>
            </a:solidFill>
            <a:prstDash val="solid"/>
          </a:ln>
        </p:spPr>
      </p:sp>
      <p:sp>
        <p:nvSpPr>
          <p:cNvPr id="8" name="Shape 6"/>
          <p:cNvSpPr/>
          <p:nvPr/>
        </p:nvSpPr>
        <p:spPr>
          <a:xfrm>
            <a:off x="548640" y="1828800"/>
            <a:ext cx="3657600" cy="1097280"/>
          </a:xfrm>
          <a:prstGeom prst="rect">
            <a:avLst/>
          </a:prstGeom>
          <a:solidFill>
            <a:srgbClr val="4F46E5"/>
          </a:solidFill>
          <a:ln w="12700">
            <a:solidFill>
              <a:srgbClr val="4F46E5"/>
            </a:solidFill>
            <a:prstDash val="solid"/>
          </a:ln>
        </p:spPr>
      </p:sp>
      <p:pic>
        <p:nvPicPr>
          <p:cNvPr id="9" name="Image 0" descr="preencoded.png">    </p:cNvPr>
          <p:cNvPicPr>
            <a:picLocks noChangeAspect="1"/>
          </p:cNvPicPr>
          <p:nvPr/>
        </p:nvPicPr>
        <p:blipFill>
          <a:blip r:embed="rId1"/>
          <a:stretch>
            <a:fillRect/>
          </a:stretch>
        </p:blipFill>
        <p:spPr>
          <a:xfrm>
            <a:off x="1965960" y="2057400"/>
            <a:ext cx="640080" cy="640080"/>
          </a:xfrm>
          <a:prstGeom prst="rect">
            <a:avLst/>
          </a:prstGeom>
        </p:spPr>
      </p:pic>
      <p:sp>
        <p:nvSpPr>
          <p:cNvPr id="10" name="Text 7"/>
          <p:cNvSpPr/>
          <p:nvPr/>
        </p:nvSpPr>
        <p:spPr>
          <a:xfrm>
            <a:off x="731520" y="3108960"/>
            <a:ext cx="329184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Cadre académique</a:t>
            </a:r>
            <a:endParaRPr lang="en-US" sz="1800" dirty="0"/>
          </a:p>
        </p:txBody>
      </p:sp>
      <p:sp>
        <p:nvSpPr>
          <p:cNvPr id="11" name="Text 8"/>
          <p:cNvSpPr/>
          <p:nvPr/>
        </p:nvSpPr>
        <p:spPr>
          <a:xfrm>
            <a:off x="822960" y="3749040"/>
            <a:ext cx="3108960" cy="2011680"/>
          </a:xfrm>
          <a:prstGeom prst="rect">
            <a:avLst/>
          </a:prstGeom>
          <a:noFill/>
          <a:ln/>
        </p:spPr>
        <p:txBody>
          <a:bodyPr wrap="square" lIns="0" tIns="0" rIns="0" bIns="0"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Réalisé dans le cadre du PFA, ce projet permet de mettre en pratique les connaissances théoriques.</a:t>
            </a:r>
            <a:endParaRPr lang="en-US" sz="1300" dirty="0"/>
          </a:p>
        </p:txBody>
      </p:sp>
      <p:sp>
        <p:nvSpPr>
          <p:cNvPr id="12" name="Shape 9"/>
          <p:cNvSpPr/>
          <p:nvPr/>
        </p:nvSpPr>
        <p:spPr>
          <a:xfrm>
            <a:off x="4434840" y="1828800"/>
            <a:ext cx="3657600" cy="4114800"/>
          </a:xfrm>
          <a:prstGeom prst="roundRect">
            <a:avLst>
              <a:gd name="adj" fmla="val 3500"/>
            </a:avLst>
          </a:prstGeom>
          <a:solidFill>
            <a:srgbClr val="F8FAFC"/>
          </a:solidFill>
          <a:ln w="12700">
            <a:solidFill>
              <a:srgbClr val="E2E8F0"/>
            </a:solidFill>
            <a:prstDash val="solid"/>
          </a:ln>
        </p:spPr>
      </p:sp>
      <p:sp>
        <p:nvSpPr>
          <p:cNvPr id="13" name="Shape 10"/>
          <p:cNvSpPr/>
          <p:nvPr/>
        </p:nvSpPr>
        <p:spPr>
          <a:xfrm>
            <a:off x="4434840" y="1828800"/>
            <a:ext cx="3657600" cy="1097280"/>
          </a:xfrm>
          <a:prstGeom prst="rect">
            <a:avLst/>
          </a:prstGeom>
          <a:solidFill>
            <a:srgbClr val="06B6D4"/>
          </a:solidFill>
          <a:ln w="12700">
            <a:solidFill>
              <a:srgbClr val="06B6D4"/>
            </a:solidFill>
            <a:prstDash val="solid"/>
          </a:ln>
        </p:spPr>
      </p:sp>
      <p:pic>
        <p:nvPicPr>
          <p:cNvPr id="14" name="Image 1" descr="preencoded.png">    </p:cNvPr>
          <p:cNvPicPr>
            <a:picLocks noChangeAspect="1"/>
          </p:cNvPicPr>
          <p:nvPr/>
        </p:nvPicPr>
        <p:blipFill>
          <a:blip r:embed="rId2"/>
          <a:stretch>
            <a:fillRect/>
          </a:stretch>
        </p:blipFill>
        <p:spPr>
          <a:xfrm>
            <a:off x="5852160" y="2057400"/>
            <a:ext cx="640080" cy="640080"/>
          </a:xfrm>
          <a:prstGeom prst="rect">
            <a:avLst/>
          </a:prstGeom>
        </p:spPr>
      </p:pic>
      <p:sp>
        <p:nvSpPr>
          <p:cNvPr id="15" name="Text 11"/>
          <p:cNvSpPr/>
          <p:nvPr/>
        </p:nvSpPr>
        <p:spPr>
          <a:xfrm>
            <a:off x="4617720" y="3108960"/>
            <a:ext cx="329184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Cadre professionnel</a:t>
            </a:r>
            <a:endParaRPr lang="en-US" sz="1800" dirty="0"/>
          </a:p>
        </p:txBody>
      </p:sp>
      <p:sp>
        <p:nvSpPr>
          <p:cNvPr id="16" name="Text 12"/>
          <p:cNvSpPr/>
          <p:nvPr/>
        </p:nvSpPr>
        <p:spPr>
          <a:xfrm>
            <a:off x="4709160" y="3749040"/>
            <a:ext cx="3108960" cy="2011680"/>
          </a:xfrm>
          <a:prstGeom prst="rect">
            <a:avLst/>
          </a:prstGeom>
          <a:noFill/>
          <a:ln/>
        </p:spPr>
        <p:txBody>
          <a:bodyPr wrap="square" lIns="0" tIns="0" rIns="0" bIns="0"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Le projet répond à une problématique réelle observée dans l'industrie ou un domaine d'application.</a:t>
            </a:r>
            <a:endParaRPr lang="en-US" sz="1300" dirty="0"/>
          </a:p>
        </p:txBody>
      </p:sp>
      <p:sp>
        <p:nvSpPr>
          <p:cNvPr id="17" name="Shape 13"/>
          <p:cNvSpPr/>
          <p:nvPr/>
        </p:nvSpPr>
        <p:spPr>
          <a:xfrm>
            <a:off x="8321040" y="1828800"/>
            <a:ext cx="3657600" cy="4114800"/>
          </a:xfrm>
          <a:prstGeom prst="roundRect">
            <a:avLst>
              <a:gd name="adj" fmla="val 3500"/>
            </a:avLst>
          </a:prstGeom>
          <a:solidFill>
            <a:srgbClr val="F8FAFC"/>
          </a:solidFill>
          <a:ln w="12700">
            <a:solidFill>
              <a:srgbClr val="E2E8F0"/>
            </a:solidFill>
            <a:prstDash val="solid"/>
          </a:ln>
        </p:spPr>
      </p:sp>
      <p:sp>
        <p:nvSpPr>
          <p:cNvPr id="18" name="Shape 14"/>
          <p:cNvSpPr/>
          <p:nvPr/>
        </p:nvSpPr>
        <p:spPr>
          <a:xfrm>
            <a:off x="8321040" y="1828800"/>
            <a:ext cx="3657600" cy="1097280"/>
          </a:xfrm>
          <a:prstGeom prst="rect">
            <a:avLst/>
          </a:prstGeom>
          <a:solidFill>
            <a:srgbClr val="F59E0B"/>
          </a:solidFill>
          <a:ln w="12700">
            <a:solidFill>
              <a:srgbClr val="F59E0B"/>
            </a:solidFill>
            <a:prstDash val="solid"/>
          </a:ln>
        </p:spPr>
      </p:sp>
      <p:pic>
        <p:nvPicPr>
          <p:cNvPr id="19" name="Image 2" descr="preencoded.png">    </p:cNvPr>
          <p:cNvPicPr>
            <a:picLocks noChangeAspect="1"/>
          </p:cNvPicPr>
          <p:nvPr/>
        </p:nvPicPr>
        <p:blipFill>
          <a:blip r:embed="rId3"/>
          <a:stretch>
            <a:fillRect/>
          </a:stretch>
        </p:blipFill>
        <p:spPr>
          <a:xfrm>
            <a:off x="9738360" y="2057400"/>
            <a:ext cx="640080" cy="640080"/>
          </a:xfrm>
          <a:prstGeom prst="rect">
            <a:avLst/>
          </a:prstGeom>
        </p:spPr>
      </p:pic>
      <p:sp>
        <p:nvSpPr>
          <p:cNvPr id="20" name="Text 15"/>
          <p:cNvSpPr/>
          <p:nvPr/>
        </p:nvSpPr>
        <p:spPr>
          <a:xfrm>
            <a:off x="8503920" y="3108960"/>
            <a:ext cx="329184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Motivation</a:t>
            </a:r>
            <a:endParaRPr lang="en-US" sz="1800" dirty="0"/>
          </a:p>
        </p:txBody>
      </p:sp>
      <p:sp>
        <p:nvSpPr>
          <p:cNvPr id="21" name="Text 16"/>
          <p:cNvSpPr/>
          <p:nvPr/>
        </p:nvSpPr>
        <p:spPr>
          <a:xfrm>
            <a:off x="8595360" y="3749040"/>
            <a:ext cx="3108960" cy="2011680"/>
          </a:xfrm>
          <a:prstGeom prst="rect">
            <a:avLst/>
          </a:prstGeom>
          <a:noFill/>
          <a:ln/>
        </p:spPr>
        <p:txBody>
          <a:bodyPr wrap="square" lIns="0" tIns="0" rIns="0" bIns="0" rtlCol="0" anchor="ctr"/>
          <a:lstStyle/>
          <a:p>
            <a:pPr algn="ctr" indent="0" marL="0">
              <a:buNone/>
            </a:pPr>
            <a:r>
              <a:rPr lang="en-US" sz="1300" dirty="0">
                <a:solidFill>
                  <a:srgbClr val="334155"/>
                </a:solidFill>
                <a:latin typeface="Calibri" pitchFamily="34" charset="0"/>
                <a:ea typeface="Calibri" pitchFamily="34" charset="-122"/>
                <a:cs typeface="Calibri" pitchFamily="34" charset="-120"/>
              </a:rPr>
              <a:t>L'envie d'apporter une solution concrète et innovante à un problème identifié.</a:t>
            </a:r>
            <a:endParaRPr lang="en-US" sz="1300" dirty="0"/>
          </a:p>
        </p:txBody>
      </p:sp>
      <p:sp>
        <p:nvSpPr>
          <p:cNvPr id="22" name="Text 17"/>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3" name="Text 18"/>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 / 27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Problématique</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914400" y="1737360"/>
            <a:ext cx="10332720" cy="2560320"/>
          </a:xfrm>
          <a:prstGeom prst="roundRect">
            <a:avLst>
              <a:gd name="adj" fmla="val 6429"/>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8" name="Shape 6"/>
          <p:cNvSpPr/>
          <p:nvPr/>
        </p:nvSpPr>
        <p:spPr>
          <a:xfrm>
            <a:off x="914400" y="1737360"/>
            <a:ext cx="164592" cy="2560320"/>
          </a:xfrm>
          <a:prstGeom prst="rect">
            <a:avLst/>
          </a:prstGeom>
          <a:solidFill>
            <a:srgbClr val="EC4899"/>
          </a:solidFill>
          <a:ln w="12700">
            <a:solidFill>
              <a:srgbClr val="EC4899"/>
            </a:solidFill>
            <a:prstDash val="solid"/>
          </a:ln>
        </p:spPr>
      </p:sp>
      <p:sp>
        <p:nvSpPr>
          <p:cNvPr id="9" name="Text 7"/>
          <p:cNvSpPr/>
          <p:nvPr/>
        </p:nvSpPr>
        <p:spPr>
          <a:xfrm>
            <a:off x="1280160" y="1874520"/>
            <a:ext cx="1097280" cy="1097280"/>
          </a:xfrm>
          <a:prstGeom prst="rect">
            <a:avLst/>
          </a:prstGeom>
          <a:noFill/>
          <a:ln/>
        </p:spPr>
        <p:txBody>
          <a:bodyPr wrap="square" lIns="0" tIns="0" rIns="0" bIns="0" rtlCol="0" anchor="ctr"/>
          <a:lstStyle/>
          <a:p>
            <a:pPr indent="0" marL="0">
              <a:buNone/>
            </a:pPr>
            <a:r>
              <a:rPr lang="en-US" sz="9000" b="1" dirty="0">
                <a:solidFill>
                  <a:srgbClr val="EC4899"/>
                </a:solidFill>
                <a:latin typeface="Calibri" pitchFamily="34" charset="0"/>
                <a:ea typeface="Calibri" pitchFamily="34" charset="-122"/>
                <a:cs typeface="Calibri" pitchFamily="34" charset="-120"/>
              </a:rPr>
              <a:t>?</a:t>
            </a:r>
            <a:endParaRPr lang="en-US" sz="9000" dirty="0"/>
          </a:p>
        </p:txBody>
      </p:sp>
      <p:sp>
        <p:nvSpPr>
          <p:cNvPr id="10" name="Text 8"/>
          <p:cNvSpPr/>
          <p:nvPr/>
        </p:nvSpPr>
        <p:spPr>
          <a:xfrm>
            <a:off x="2468880" y="2011680"/>
            <a:ext cx="8595360" cy="146304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Comment concevoir et mettre en œuvre une solution efficace, fiable et adaptée aux contraintes du contexte étudié ?</a:t>
            </a:r>
            <a:endParaRPr lang="en-US" sz="2200" dirty="0"/>
          </a:p>
        </p:txBody>
      </p:sp>
      <p:sp>
        <p:nvSpPr>
          <p:cNvPr id="11" name="Text 9"/>
          <p:cNvSpPr/>
          <p:nvPr/>
        </p:nvSpPr>
        <p:spPr>
          <a:xfrm>
            <a:off x="2468880" y="3520440"/>
            <a:ext cx="8595360" cy="64008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Cette question centrale guidera l'ensemble de notre démarche et structurera nos choix techniques.</a:t>
            </a:r>
            <a:endParaRPr lang="en-US" sz="1400" dirty="0"/>
          </a:p>
        </p:txBody>
      </p:sp>
      <p:sp>
        <p:nvSpPr>
          <p:cNvPr id="12" name="Shape 10"/>
          <p:cNvSpPr/>
          <p:nvPr/>
        </p:nvSpPr>
        <p:spPr>
          <a:xfrm>
            <a:off x="914400" y="4663440"/>
            <a:ext cx="3337560" cy="1188720"/>
          </a:xfrm>
          <a:prstGeom prst="roundRect">
            <a:avLst>
              <a:gd name="adj" fmla="val 10769"/>
            </a:avLst>
          </a:prstGeom>
          <a:solidFill>
            <a:srgbClr val="0F172A"/>
          </a:solidFill>
          <a:ln w="12700">
            <a:solidFill>
              <a:srgbClr val="0F172A"/>
            </a:solidFill>
            <a:prstDash val="solid"/>
          </a:ln>
        </p:spPr>
      </p:sp>
      <p:sp>
        <p:nvSpPr>
          <p:cNvPr id="13" name="Shape 11"/>
          <p:cNvSpPr/>
          <p:nvPr/>
        </p:nvSpPr>
        <p:spPr>
          <a:xfrm>
            <a:off x="1143000" y="5029200"/>
            <a:ext cx="457200" cy="457200"/>
          </a:xfrm>
          <a:prstGeom prst="ellipse">
            <a:avLst/>
          </a:prstGeom>
          <a:solidFill>
            <a:srgbClr val="F59E0B"/>
          </a:solidFill>
          <a:ln w="12700">
            <a:solidFill>
              <a:srgbClr val="F59E0B"/>
            </a:solidFill>
            <a:prstDash val="solid"/>
          </a:ln>
        </p:spPr>
      </p:sp>
      <p:sp>
        <p:nvSpPr>
          <p:cNvPr id="14" name="Text 12"/>
          <p:cNvSpPr/>
          <p:nvPr/>
        </p:nvSpPr>
        <p:spPr>
          <a:xfrm>
            <a:off x="1143000" y="5029200"/>
            <a:ext cx="457200" cy="45720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1</a:t>
            </a:r>
            <a:endParaRPr lang="en-US" sz="1400" dirty="0"/>
          </a:p>
        </p:txBody>
      </p:sp>
      <p:sp>
        <p:nvSpPr>
          <p:cNvPr id="15" name="Text 13"/>
          <p:cNvSpPr/>
          <p:nvPr/>
        </p:nvSpPr>
        <p:spPr>
          <a:xfrm>
            <a:off x="1691640" y="4937760"/>
            <a:ext cx="2468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Quels besoins ?</a:t>
            </a:r>
            <a:endParaRPr lang="en-US" sz="1600" dirty="0"/>
          </a:p>
        </p:txBody>
      </p:sp>
      <p:sp>
        <p:nvSpPr>
          <p:cNvPr id="16" name="Shape 14"/>
          <p:cNvSpPr/>
          <p:nvPr/>
        </p:nvSpPr>
        <p:spPr>
          <a:xfrm>
            <a:off x="4434840" y="4663440"/>
            <a:ext cx="3337560" cy="1188720"/>
          </a:xfrm>
          <a:prstGeom prst="roundRect">
            <a:avLst>
              <a:gd name="adj" fmla="val 10769"/>
            </a:avLst>
          </a:prstGeom>
          <a:solidFill>
            <a:srgbClr val="0F172A"/>
          </a:solidFill>
          <a:ln w="12700">
            <a:solidFill>
              <a:srgbClr val="0F172A"/>
            </a:solidFill>
            <a:prstDash val="solid"/>
          </a:ln>
        </p:spPr>
      </p:sp>
      <p:sp>
        <p:nvSpPr>
          <p:cNvPr id="17" name="Shape 15"/>
          <p:cNvSpPr/>
          <p:nvPr/>
        </p:nvSpPr>
        <p:spPr>
          <a:xfrm>
            <a:off x="4663440" y="5029200"/>
            <a:ext cx="457200" cy="457200"/>
          </a:xfrm>
          <a:prstGeom prst="ellipse">
            <a:avLst/>
          </a:prstGeom>
          <a:solidFill>
            <a:srgbClr val="F59E0B"/>
          </a:solidFill>
          <a:ln w="12700">
            <a:solidFill>
              <a:srgbClr val="F59E0B"/>
            </a:solidFill>
            <a:prstDash val="solid"/>
          </a:ln>
        </p:spPr>
      </p:sp>
      <p:sp>
        <p:nvSpPr>
          <p:cNvPr id="18" name="Text 16"/>
          <p:cNvSpPr/>
          <p:nvPr/>
        </p:nvSpPr>
        <p:spPr>
          <a:xfrm>
            <a:off x="4663440" y="5029200"/>
            <a:ext cx="457200" cy="45720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2</a:t>
            </a:r>
            <a:endParaRPr lang="en-US" sz="1400" dirty="0"/>
          </a:p>
        </p:txBody>
      </p:sp>
      <p:sp>
        <p:nvSpPr>
          <p:cNvPr id="19" name="Text 17"/>
          <p:cNvSpPr/>
          <p:nvPr/>
        </p:nvSpPr>
        <p:spPr>
          <a:xfrm>
            <a:off x="5212080" y="4937760"/>
            <a:ext cx="2468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Quelles contraintes ?</a:t>
            </a:r>
            <a:endParaRPr lang="en-US" sz="1600" dirty="0"/>
          </a:p>
        </p:txBody>
      </p:sp>
      <p:sp>
        <p:nvSpPr>
          <p:cNvPr id="20" name="Shape 18"/>
          <p:cNvSpPr/>
          <p:nvPr/>
        </p:nvSpPr>
        <p:spPr>
          <a:xfrm>
            <a:off x="7955280" y="4663440"/>
            <a:ext cx="3337560" cy="1188720"/>
          </a:xfrm>
          <a:prstGeom prst="roundRect">
            <a:avLst>
              <a:gd name="adj" fmla="val 10769"/>
            </a:avLst>
          </a:prstGeom>
          <a:solidFill>
            <a:srgbClr val="0F172A"/>
          </a:solidFill>
          <a:ln w="12700">
            <a:solidFill>
              <a:srgbClr val="0F172A"/>
            </a:solidFill>
            <a:prstDash val="solid"/>
          </a:ln>
        </p:spPr>
      </p:sp>
      <p:sp>
        <p:nvSpPr>
          <p:cNvPr id="21" name="Shape 19"/>
          <p:cNvSpPr/>
          <p:nvPr/>
        </p:nvSpPr>
        <p:spPr>
          <a:xfrm>
            <a:off x="8183880" y="5029200"/>
            <a:ext cx="457200" cy="457200"/>
          </a:xfrm>
          <a:prstGeom prst="ellipse">
            <a:avLst/>
          </a:prstGeom>
          <a:solidFill>
            <a:srgbClr val="F59E0B"/>
          </a:solidFill>
          <a:ln w="12700">
            <a:solidFill>
              <a:srgbClr val="F59E0B"/>
            </a:solidFill>
            <a:prstDash val="solid"/>
          </a:ln>
        </p:spPr>
      </p:sp>
      <p:sp>
        <p:nvSpPr>
          <p:cNvPr id="22" name="Text 20"/>
          <p:cNvSpPr/>
          <p:nvPr/>
        </p:nvSpPr>
        <p:spPr>
          <a:xfrm>
            <a:off x="8183880" y="5029200"/>
            <a:ext cx="457200" cy="457200"/>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8732520" y="4937760"/>
            <a:ext cx="246888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Quels critères de réussite ?</a:t>
            </a:r>
            <a:endParaRPr lang="en-US" sz="1600" dirty="0"/>
          </a:p>
        </p:txBody>
      </p:sp>
      <p:sp>
        <p:nvSpPr>
          <p:cNvPr id="24" name="Text 22"/>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5" name="Text 23"/>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 / 27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Objectifs du projet</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554480"/>
            <a:ext cx="3703320" cy="2331720"/>
          </a:xfrm>
          <a:prstGeom prst="roundRect">
            <a:avLst>
              <a:gd name="adj" fmla="val 5490"/>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8" name="Shape 6"/>
          <p:cNvSpPr/>
          <p:nvPr/>
        </p:nvSpPr>
        <p:spPr>
          <a:xfrm>
            <a:off x="822960" y="1828800"/>
            <a:ext cx="777240" cy="777240"/>
          </a:xfrm>
          <a:prstGeom prst="ellipse">
            <a:avLst/>
          </a:prstGeom>
          <a:solidFill>
            <a:srgbClr val="4F46E5"/>
          </a:solidFill>
          <a:ln w="12700">
            <a:solidFill>
              <a:srgbClr val="4F46E5"/>
            </a:solidFill>
            <a:prstDash val="solid"/>
          </a:ln>
        </p:spPr>
      </p:sp>
      <p:pic>
        <p:nvPicPr>
          <p:cNvPr id="9" name="Image 0" descr="preencoded.png">    </p:cNvPr>
          <p:cNvPicPr>
            <a:picLocks noChangeAspect="1"/>
          </p:cNvPicPr>
          <p:nvPr/>
        </p:nvPicPr>
        <p:blipFill>
          <a:blip r:embed="rId1"/>
          <a:stretch>
            <a:fillRect/>
          </a:stretch>
        </p:blipFill>
        <p:spPr>
          <a:xfrm>
            <a:off x="1005840" y="2011680"/>
            <a:ext cx="411480" cy="411480"/>
          </a:xfrm>
          <a:prstGeom prst="rect">
            <a:avLst/>
          </a:prstGeom>
        </p:spPr>
      </p:pic>
      <p:sp>
        <p:nvSpPr>
          <p:cNvPr id="10" name="Text 7"/>
          <p:cNvSpPr/>
          <p:nvPr/>
        </p:nvSpPr>
        <p:spPr>
          <a:xfrm>
            <a:off x="1737360" y="1920240"/>
            <a:ext cx="2331720" cy="5486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Objectif principal</a:t>
            </a:r>
            <a:endParaRPr lang="en-US" sz="1600" dirty="0"/>
          </a:p>
        </p:txBody>
      </p:sp>
      <p:sp>
        <p:nvSpPr>
          <p:cNvPr id="11" name="Text 8"/>
          <p:cNvSpPr/>
          <p:nvPr/>
        </p:nvSpPr>
        <p:spPr>
          <a:xfrm>
            <a:off x="822960" y="2788920"/>
            <a:ext cx="3154680" cy="10058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Concevoir une solution complète répondant à la problématique identifiée.</a:t>
            </a:r>
            <a:endParaRPr lang="en-US" sz="1200" dirty="0"/>
          </a:p>
        </p:txBody>
      </p:sp>
      <p:sp>
        <p:nvSpPr>
          <p:cNvPr id="12" name="Shape 9"/>
          <p:cNvSpPr/>
          <p:nvPr/>
        </p:nvSpPr>
        <p:spPr>
          <a:xfrm>
            <a:off x="4416552" y="1554480"/>
            <a:ext cx="3703320" cy="2331720"/>
          </a:xfrm>
          <a:prstGeom prst="roundRect">
            <a:avLst>
              <a:gd name="adj" fmla="val 5490"/>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13" name="Shape 10"/>
          <p:cNvSpPr/>
          <p:nvPr/>
        </p:nvSpPr>
        <p:spPr>
          <a:xfrm>
            <a:off x="4690872" y="1828800"/>
            <a:ext cx="777240" cy="777240"/>
          </a:xfrm>
          <a:prstGeom prst="ellipse">
            <a:avLst/>
          </a:prstGeom>
          <a:solidFill>
            <a:srgbClr val="06B6D4"/>
          </a:solidFill>
          <a:ln w="12700">
            <a:solidFill>
              <a:srgbClr val="06B6D4"/>
            </a:solidFill>
            <a:prstDash val="solid"/>
          </a:ln>
        </p:spPr>
      </p:sp>
      <p:pic>
        <p:nvPicPr>
          <p:cNvPr id="14" name="Image 1" descr="preencoded.png">    </p:cNvPr>
          <p:cNvPicPr>
            <a:picLocks noChangeAspect="1"/>
          </p:cNvPicPr>
          <p:nvPr/>
        </p:nvPicPr>
        <p:blipFill>
          <a:blip r:embed="rId2"/>
          <a:stretch>
            <a:fillRect/>
          </a:stretch>
        </p:blipFill>
        <p:spPr>
          <a:xfrm>
            <a:off x="4873752" y="2011680"/>
            <a:ext cx="411480" cy="411480"/>
          </a:xfrm>
          <a:prstGeom prst="rect">
            <a:avLst/>
          </a:prstGeom>
        </p:spPr>
      </p:pic>
      <p:sp>
        <p:nvSpPr>
          <p:cNvPr id="15" name="Text 11"/>
          <p:cNvSpPr/>
          <p:nvPr/>
        </p:nvSpPr>
        <p:spPr>
          <a:xfrm>
            <a:off x="5605272" y="1920240"/>
            <a:ext cx="2331720" cy="5486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Objectifs techniques</a:t>
            </a:r>
            <a:endParaRPr lang="en-US" sz="1600" dirty="0"/>
          </a:p>
        </p:txBody>
      </p:sp>
      <p:sp>
        <p:nvSpPr>
          <p:cNvPr id="16" name="Text 12"/>
          <p:cNvSpPr/>
          <p:nvPr/>
        </p:nvSpPr>
        <p:spPr>
          <a:xfrm>
            <a:off x="4690872" y="2788920"/>
            <a:ext cx="3154680" cy="10058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Maîtriser les outils, technologies et méthodes nécessaires à la réalisation.</a:t>
            </a:r>
            <a:endParaRPr lang="en-US" sz="1200" dirty="0"/>
          </a:p>
        </p:txBody>
      </p:sp>
      <p:sp>
        <p:nvSpPr>
          <p:cNvPr id="17" name="Shape 13"/>
          <p:cNvSpPr/>
          <p:nvPr/>
        </p:nvSpPr>
        <p:spPr>
          <a:xfrm>
            <a:off x="8284464" y="1554480"/>
            <a:ext cx="3703320" cy="2331720"/>
          </a:xfrm>
          <a:prstGeom prst="roundRect">
            <a:avLst>
              <a:gd name="adj" fmla="val 5490"/>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18" name="Shape 14"/>
          <p:cNvSpPr/>
          <p:nvPr/>
        </p:nvSpPr>
        <p:spPr>
          <a:xfrm>
            <a:off x="8558784" y="1828800"/>
            <a:ext cx="777240" cy="777240"/>
          </a:xfrm>
          <a:prstGeom prst="ellipse">
            <a:avLst/>
          </a:prstGeom>
          <a:solidFill>
            <a:srgbClr val="F59E0B"/>
          </a:solidFill>
          <a:ln w="12700">
            <a:solidFill>
              <a:srgbClr val="F59E0B"/>
            </a:solidFill>
            <a:prstDash val="solid"/>
          </a:ln>
        </p:spPr>
      </p:sp>
      <p:pic>
        <p:nvPicPr>
          <p:cNvPr id="19" name="Image 2" descr="preencoded.png">    </p:cNvPr>
          <p:cNvPicPr>
            <a:picLocks noChangeAspect="1"/>
          </p:cNvPicPr>
          <p:nvPr/>
        </p:nvPicPr>
        <p:blipFill>
          <a:blip r:embed="rId3"/>
          <a:stretch>
            <a:fillRect/>
          </a:stretch>
        </p:blipFill>
        <p:spPr>
          <a:xfrm>
            <a:off x="8741664" y="2011680"/>
            <a:ext cx="411480" cy="411480"/>
          </a:xfrm>
          <a:prstGeom prst="rect">
            <a:avLst/>
          </a:prstGeom>
        </p:spPr>
      </p:pic>
      <p:sp>
        <p:nvSpPr>
          <p:cNvPr id="20" name="Text 15"/>
          <p:cNvSpPr/>
          <p:nvPr/>
        </p:nvSpPr>
        <p:spPr>
          <a:xfrm>
            <a:off x="9473184" y="1920240"/>
            <a:ext cx="2331720" cy="5486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Objectifs de performance</a:t>
            </a:r>
            <a:endParaRPr lang="en-US" sz="1600" dirty="0"/>
          </a:p>
        </p:txBody>
      </p:sp>
      <p:sp>
        <p:nvSpPr>
          <p:cNvPr id="21" name="Text 16"/>
          <p:cNvSpPr/>
          <p:nvPr/>
        </p:nvSpPr>
        <p:spPr>
          <a:xfrm>
            <a:off x="8558784" y="2788920"/>
            <a:ext cx="3154680" cy="10058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Atteindre des indicateurs mesurables de qualité, fiabilité et efficacité.</a:t>
            </a:r>
            <a:endParaRPr lang="en-US" sz="1200" dirty="0"/>
          </a:p>
        </p:txBody>
      </p:sp>
      <p:sp>
        <p:nvSpPr>
          <p:cNvPr id="22" name="Shape 17"/>
          <p:cNvSpPr/>
          <p:nvPr/>
        </p:nvSpPr>
        <p:spPr>
          <a:xfrm>
            <a:off x="548640" y="4050792"/>
            <a:ext cx="3703320" cy="2331720"/>
          </a:xfrm>
          <a:prstGeom prst="roundRect">
            <a:avLst>
              <a:gd name="adj" fmla="val 5490"/>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23" name="Shape 18"/>
          <p:cNvSpPr/>
          <p:nvPr/>
        </p:nvSpPr>
        <p:spPr>
          <a:xfrm>
            <a:off x="822960" y="4325112"/>
            <a:ext cx="777240" cy="777240"/>
          </a:xfrm>
          <a:prstGeom prst="ellipse">
            <a:avLst/>
          </a:prstGeom>
          <a:solidFill>
            <a:srgbClr val="10B981"/>
          </a:solidFill>
          <a:ln w="12700">
            <a:solidFill>
              <a:srgbClr val="10B981"/>
            </a:solidFill>
            <a:prstDash val="solid"/>
          </a:ln>
        </p:spPr>
      </p:sp>
      <p:pic>
        <p:nvPicPr>
          <p:cNvPr id="24" name="Image 3" descr="preencoded.png">    </p:cNvPr>
          <p:cNvPicPr>
            <a:picLocks noChangeAspect="1"/>
          </p:cNvPicPr>
          <p:nvPr/>
        </p:nvPicPr>
        <p:blipFill>
          <a:blip r:embed="rId4"/>
          <a:stretch>
            <a:fillRect/>
          </a:stretch>
        </p:blipFill>
        <p:spPr>
          <a:xfrm>
            <a:off x="1005840" y="4507992"/>
            <a:ext cx="411480" cy="411480"/>
          </a:xfrm>
          <a:prstGeom prst="rect">
            <a:avLst/>
          </a:prstGeom>
        </p:spPr>
      </p:pic>
      <p:sp>
        <p:nvSpPr>
          <p:cNvPr id="25" name="Text 19"/>
          <p:cNvSpPr/>
          <p:nvPr/>
        </p:nvSpPr>
        <p:spPr>
          <a:xfrm>
            <a:off x="1737360" y="4416552"/>
            <a:ext cx="2331720" cy="5486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Objectifs académiques</a:t>
            </a:r>
            <a:endParaRPr lang="en-US" sz="1600" dirty="0"/>
          </a:p>
        </p:txBody>
      </p:sp>
      <p:sp>
        <p:nvSpPr>
          <p:cNvPr id="26" name="Text 20"/>
          <p:cNvSpPr/>
          <p:nvPr/>
        </p:nvSpPr>
        <p:spPr>
          <a:xfrm>
            <a:off x="822960" y="5285232"/>
            <a:ext cx="3154680" cy="10058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Valider les compétences du cursus à travers une production concrète.</a:t>
            </a:r>
            <a:endParaRPr lang="en-US" sz="1200" dirty="0"/>
          </a:p>
        </p:txBody>
      </p:sp>
      <p:sp>
        <p:nvSpPr>
          <p:cNvPr id="27" name="Shape 21"/>
          <p:cNvSpPr/>
          <p:nvPr/>
        </p:nvSpPr>
        <p:spPr>
          <a:xfrm>
            <a:off x="4416552" y="4050792"/>
            <a:ext cx="3703320" cy="2331720"/>
          </a:xfrm>
          <a:prstGeom prst="roundRect">
            <a:avLst>
              <a:gd name="adj" fmla="val 5490"/>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28" name="Shape 22"/>
          <p:cNvSpPr/>
          <p:nvPr/>
        </p:nvSpPr>
        <p:spPr>
          <a:xfrm>
            <a:off x="4690872" y="4325112"/>
            <a:ext cx="777240" cy="777240"/>
          </a:xfrm>
          <a:prstGeom prst="ellipse">
            <a:avLst/>
          </a:prstGeom>
          <a:solidFill>
            <a:srgbClr val="EC4899"/>
          </a:solidFill>
          <a:ln w="12700">
            <a:solidFill>
              <a:srgbClr val="EC4899"/>
            </a:solidFill>
            <a:prstDash val="solid"/>
          </a:ln>
        </p:spPr>
      </p:sp>
      <p:pic>
        <p:nvPicPr>
          <p:cNvPr id="29" name="Image 4" descr="preencoded.png">    </p:cNvPr>
          <p:cNvPicPr>
            <a:picLocks noChangeAspect="1"/>
          </p:cNvPicPr>
          <p:nvPr/>
        </p:nvPicPr>
        <p:blipFill>
          <a:blip r:embed="rId5"/>
          <a:stretch>
            <a:fillRect/>
          </a:stretch>
        </p:blipFill>
        <p:spPr>
          <a:xfrm>
            <a:off x="4873752" y="4507992"/>
            <a:ext cx="411480" cy="411480"/>
          </a:xfrm>
          <a:prstGeom prst="rect">
            <a:avLst/>
          </a:prstGeom>
        </p:spPr>
      </p:pic>
      <p:sp>
        <p:nvSpPr>
          <p:cNvPr id="30" name="Text 23"/>
          <p:cNvSpPr/>
          <p:nvPr/>
        </p:nvSpPr>
        <p:spPr>
          <a:xfrm>
            <a:off x="5605272" y="4416552"/>
            <a:ext cx="2331720" cy="5486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Objectifs personnels</a:t>
            </a:r>
            <a:endParaRPr lang="en-US" sz="1600" dirty="0"/>
          </a:p>
        </p:txBody>
      </p:sp>
      <p:sp>
        <p:nvSpPr>
          <p:cNvPr id="31" name="Text 24"/>
          <p:cNvSpPr/>
          <p:nvPr/>
        </p:nvSpPr>
        <p:spPr>
          <a:xfrm>
            <a:off x="4690872" y="5285232"/>
            <a:ext cx="3154680" cy="10058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Développer l'autonomie, la rigueur et l'esprit d'innovation.</a:t>
            </a:r>
            <a:endParaRPr lang="en-US" sz="1200" dirty="0"/>
          </a:p>
        </p:txBody>
      </p:sp>
      <p:sp>
        <p:nvSpPr>
          <p:cNvPr id="32" name="Shape 25"/>
          <p:cNvSpPr/>
          <p:nvPr/>
        </p:nvSpPr>
        <p:spPr>
          <a:xfrm>
            <a:off x="8284464" y="4050792"/>
            <a:ext cx="3703320" cy="2331720"/>
          </a:xfrm>
          <a:prstGeom prst="roundRect">
            <a:avLst>
              <a:gd name="adj" fmla="val 5490"/>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33" name="Shape 26"/>
          <p:cNvSpPr/>
          <p:nvPr/>
        </p:nvSpPr>
        <p:spPr>
          <a:xfrm>
            <a:off x="8558784" y="4325112"/>
            <a:ext cx="777240" cy="777240"/>
          </a:xfrm>
          <a:prstGeom prst="ellipse">
            <a:avLst/>
          </a:prstGeom>
          <a:solidFill>
            <a:srgbClr val="3730A3"/>
          </a:solidFill>
          <a:ln w="12700">
            <a:solidFill>
              <a:srgbClr val="3730A3"/>
            </a:solidFill>
            <a:prstDash val="solid"/>
          </a:ln>
        </p:spPr>
      </p:sp>
      <p:pic>
        <p:nvPicPr>
          <p:cNvPr id="34" name="Image 5" descr="preencoded.png">    </p:cNvPr>
          <p:cNvPicPr>
            <a:picLocks noChangeAspect="1"/>
          </p:cNvPicPr>
          <p:nvPr/>
        </p:nvPicPr>
        <p:blipFill>
          <a:blip r:embed="rId6"/>
          <a:stretch>
            <a:fillRect/>
          </a:stretch>
        </p:blipFill>
        <p:spPr>
          <a:xfrm>
            <a:off x="8741664" y="4507992"/>
            <a:ext cx="411480" cy="411480"/>
          </a:xfrm>
          <a:prstGeom prst="rect">
            <a:avLst/>
          </a:prstGeom>
        </p:spPr>
      </p:pic>
      <p:sp>
        <p:nvSpPr>
          <p:cNvPr id="35" name="Text 27"/>
          <p:cNvSpPr/>
          <p:nvPr/>
        </p:nvSpPr>
        <p:spPr>
          <a:xfrm>
            <a:off x="9473184" y="4416552"/>
            <a:ext cx="2331720" cy="54864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Livrables attendus</a:t>
            </a:r>
            <a:endParaRPr lang="en-US" sz="1600" dirty="0"/>
          </a:p>
        </p:txBody>
      </p:sp>
      <p:sp>
        <p:nvSpPr>
          <p:cNvPr id="36" name="Text 28"/>
          <p:cNvSpPr/>
          <p:nvPr/>
        </p:nvSpPr>
        <p:spPr>
          <a:xfrm>
            <a:off x="8558784" y="5285232"/>
            <a:ext cx="3154680" cy="100584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Prototype fonctionnel, documentation technique et rapport final.</a:t>
            </a:r>
            <a:endParaRPr lang="en-US" sz="1200" dirty="0"/>
          </a:p>
        </p:txBody>
      </p:sp>
      <p:sp>
        <p:nvSpPr>
          <p:cNvPr id="37" name="Text 29"/>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38" name="Text 30"/>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 / 27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Cahier des charges</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554480"/>
            <a:ext cx="5486400" cy="4572000"/>
          </a:xfrm>
          <a:prstGeom prst="roundRect">
            <a:avLst>
              <a:gd name="adj" fmla="val 2800"/>
            </a:avLst>
          </a:prstGeom>
          <a:solidFill>
            <a:srgbClr val="F8FAFC"/>
          </a:solidFill>
          <a:ln w="12700">
            <a:solidFill>
              <a:srgbClr val="E2E8F0"/>
            </a:solidFill>
            <a:prstDash val="solid"/>
          </a:ln>
        </p:spPr>
      </p:sp>
      <p:sp>
        <p:nvSpPr>
          <p:cNvPr id="8" name="Shape 6"/>
          <p:cNvSpPr/>
          <p:nvPr/>
        </p:nvSpPr>
        <p:spPr>
          <a:xfrm>
            <a:off x="548640" y="1554480"/>
            <a:ext cx="5486400" cy="777240"/>
          </a:xfrm>
          <a:prstGeom prst="rect">
            <a:avLst/>
          </a:prstGeom>
          <a:solidFill>
            <a:srgbClr val="4F46E5"/>
          </a:solidFill>
          <a:ln w="12700">
            <a:solidFill>
              <a:srgbClr val="4F46E5"/>
            </a:solidFill>
            <a:prstDash val="solid"/>
          </a:ln>
        </p:spPr>
      </p:sp>
      <p:pic>
        <p:nvPicPr>
          <p:cNvPr id="9" name="Image 0" descr="preencoded.png">    </p:cNvPr>
          <p:cNvPicPr>
            <a:picLocks noChangeAspect="1"/>
          </p:cNvPicPr>
          <p:nvPr/>
        </p:nvPicPr>
        <p:blipFill>
          <a:blip r:embed="rId1"/>
          <a:stretch>
            <a:fillRect/>
          </a:stretch>
        </p:blipFill>
        <p:spPr>
          <a:xfrm>
            <a:off x="822960" y="1719072"/>
            <a:ext cx="457200" cy="457200"/>
          </a:xfrm>
          <a:prstGeom prst="rect">
            <a:avLst/>
          </a:prstGeom>
        </p:spPr>
      </p:pic>
      <p:sp>
        <p:nvSpPr>
          <p:cNvPr id="10" name="Text 7"/>
          <p:cNvSpPr/>
          <p:nvPr/>
        </p:nvSpPr>
        <p:spPr>
          <a:xfrm>
            <a:off x="1417320" y="1554480"/>
            <a:ext cx="457200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Besoins fonctionnels</a:t>
            </a:r>
            <a:endParaRPr lang="en-US" sz="1800" dirty="0"/>
          </a:p>
        </p:txBody>
      </p:sp>
      <p:sp>
        <p:nvSpPr>
          <p:cNvPr id="11" name="Shape 8"/>
          <p:cNvSpPr/>
          <p:nvPr/>
        </p:nvSpPr>
        <p:spPr>
          <a:xfrm>
            <a:off x="914400" y="2697480"/>
            <a:ext cx="164592" cy="164592"/>
          </a:xfrm>
          <a:prstGeom prst="ellipse">
            <a:avLst/>
          </a:prstGeom>
          <a:solidFill>
            <a:srgbClr val="4F46E5"/>
          </a:solidFill>
          <a:ln w="12700">
            <a:solidFill>
              <a:srgbClr val="4F46E5"/>
            </a:solidFill>
            <a:prstDash val="solid"/>
          </a:ln>
        </p:spPr>
      </p:sp>
      <p:sp>
        <p:nvSpPr>
          <p:cNvPr id="12" name="Text 9"/>
          <p:cNvSpPr/>
          <p:nvPr/>
        </p:nvSpPr>
        <p:spPr>
          <a:xfrm>
            <a:off x="1234440" y="2560320"/>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Fonction principale n°1 — décrire l'action attendue</a:t>
            </a:r>
            <a:endParaRPr lang="en-US" sz="1300" dirty="0"/>
          </a:p>
        </p:txBody>
      </p:sp>
      <p:sp>
        <p:nvSpPr>
          <p:cNvPr id="13" name="Shape 10"/>
          <p:cNvSpPr/>
          <p:nvPr/>
        </p:nvSpPr>
        <p:spPr>
          <a:xfrm>
            <a:off x="914400" y="3355848"/>
            <a:ext cx="164592" cy="164592"/>
          </a:xfrm>
          <a:prstGeom prst="ellipse">
            <a:avLst/>
          </a:prstGeom>
          <a:solidFill>
            <a:srgbClr val="4F46E5"/>
          </a:solidFill>
          <a:ln w="12700">
            <a:solidFill>
              <a:srgbClr val="4F46E5"/>
            </a:solidFill>
            <a:prstDash val="solid"/>
          </a:ln>
        </p:spPr>
      </p:sp>
      <p:sp>
        <p:nvSpPr>
          <p:cNvPr id="14" name="Text 11"/>
          <p:cNvSpPr/>
          <p:nvPr/>
        </p:nvSpPr>
        <p:spPr>
          <a:xfrm>
            <a:off x="1234440" y="3218688"/>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Fonction n°2 — interaction avec l'utilisateur</a:t>
            </a:r>
            <a:endParaRPr lang="en-US" sz="1300" dirty="0"/>
          </a:p>
        </p:txBody>
      </p:sp>
      <p:sp>
        <p:nvSpPr>
          <p:cNvPr id="15" name="Shape 12"/>
          <p:cNvSpPr/>
          <p:nvPr/>
        </p:nvSpPr>
        <p:spPr>
          <a:xfrm>
            <a:off x="914400" y="4014216"/>
            <a:ext cx="164592" cy="164592"/>
          </a:xfrm>
          <a:prstGeom prst="ellipse">
            <a:avLst/>
          </a:prstGeom>
          <a:solidFill>
            <a:srgbClr val="4F46E5"/>
          </a:solidFill>
          <a:ln w="12700">
            <a:solidFill>
              <a:srgbClr val="4F46E5"/>
            </a:solidFill>
            <a:prstDash val="solid"/>
          </a:ln>
        </p:spPr>
      </p:sp>
      <p:sp>
        <p:nvSpPr>
          <p:cNvPr id="16" name="Text 13"/>
          <p:cNvSpPr/>
          <p:nvPr/>
        </p:nvSpPr>
        <p:spPr>
          <a:xfrm>
            <a:off x="1234440" y="3877056"/>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Fonction n°3 — traitement / calcul / contrôle</a:t>
            </a:r>
            <a:endParaRPr lang="en-US" sz="1300" dirty="0"/>
          </a:p>
        </p:txBody>
      </p:sp>
      <p:sp>
        <p:nvSpPr>
          <p:cNvPr id="17" name="Shape 14"/>
          <p:cNvSpPr/>
          <p:nvPr/>
        </p:nvSpPr>
        <p:spPr>
          <a:xfrm>
            <a:off x="914400" y="4672584"/>
            <a:ext cx="164592" cy="164592"/>
          </a:xfrm>
          <a:prstGeom prst="ellipse">
            <a:avLst/>
          </a:prstGeom>
          <a:solidFill>
            <a:srgbClr val="4F46E5"/>
          </a:solidFill>
          <a:ln w="12700">
            <a:solidFill>
              <a:srgbClr val="4F46E5"/>
            </a:solidFill>
            <a:prstDash val="solid"/>
          </a:ln>
        </p:spPr>
      </p:sp>
      <p:sp>
        <p:nvSpPr>
          <p:cNvPr id="18" name="Text 15"/>
          <p:cNvSpPr/>
          <p:nvPr/>
        </p:nvSpPr>
        <p:spPr>
          <a:xfrm>
            <a:off x="1234440" y="4535424"/>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Fonction n°4 — restitution des résultats</a:t>
            </a:r>
            <a:endParaRPr lang="en-US" sz="1300" dirty="0"/>
          </a:p>
        </p:txBody>
      </p:sp>
      <p:sp>
        <p:nvSpPr>
          <p:cNvPr id="19" name="Shape 16"/>
          <p:cNvSpPr/>
          <p:nvPr/>
        </p:nvSpPr>
        <p:spPr>
          <a:xfrm>
            <a:off x="914400" y="5330952"/>
            <a:ext cx="164592" cy="164592"/>
          </a:xfrm>
          <a:prstGeom prst="ellipse">
            <a:avLst/>
          </a:prstGeom>
          <a:solidFill>
            <a:srgbClr val="4F46E5"/>
          </a:solidFill>
          <a:ln w="12700">
            <a:solidFill>
              <a:srgbClr val="4F46E5"/>
            </a:solidFill>
            <a:prstDash val="solid"/>
          </a:ln>
        </p:spPr>
      </p:sp>
      <p:sp>
        <p:nvSpPr>
          <p:cNvPr id="20" name="Text 17"/>
          <p:cNvSpPr/>
          <p:nvPr/>
        </p:nvSpPr>
        <p:spPr>
          <a:xfrm>
            <a:off x="1234440" y="5193792"/>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Fonction n°5 — gestion des cas limites</a:t>
            </a:r>
            <a:endParaRPr lang="en-US" sz="1300" dirty="0"/>
          </a:p>
        </p:txBody>
      </p:sp>
      <p:sp>
        <p:nvSpPr>
          <p:cNvPr id="21" name="Shape 18"/>
          <p:cNvSpPr/>
          <p:nvPr/>
        </p:nvSpPr>
        <p:spPr>
          <a:xfrm>
            <a:off x="6217920" y="1554480"/>
            <a:ext cx="5486400" cy="4572000"/>
          </a:xfrm>
          <a:prstGeom prst="roundRect">
            <a:avLst>
              <a:gd name="adj" fmla="val 2800"/>
            </a:avLst>
          </a:prstGeom>
          <a:solidFill>
            <a:srgbClr val="F8FAFC"/>
          </a:solidFill>
          <a:ln w="12700">
            <a:solidFill>
              <a:srgbClr val="E2E8F0"/>
            </a:solidFill>
            <a:prstDash val="solid"/>
          </a:ln>
        </p:spPr>
      </p:sp>
      <p:sp>
        <p:nvSpPr>
          <p:cNvPr id="22" name="Shape 19"/>
          <p:cNvSpPr/>
          <p:nvPr/>
        </p:nvSpPr>
        <p:spPr>
          <a:xfrm>
            <a:off x="6217920" y="1554480"/>
            <a:ext cx="5486400" cy="777240"/>
          </a:xfrm>
          <a:prstGeom prst="rect">
            <a:avLst/>
          </a:prstGeom>
          <a:solidFill>
            <a:srgbClr val="06B6D4"/>
          </a:solidFill>
          <a:ln w="12700">
            <a:solidFill>
              <a:srgbClr val="06B6D4"/>
            </a:solidFill>
            <a:prstDash val="solid"/>
          </a:ln>
        </p:spPr>
      </p:sp>
      <p:pic>
        <p:nvPicPr>
          <p:cNvPr id="23" name="Image 1" descr="preencoded.png">    </p:cNvPr>
          <p:cNvPicPr>
            <a:picLocks noChangeAspect="1"/>
          </p:cNvPicPr>
          <p:nvPr/>
        </p:nvPicPr>
        <p:blipFill>
          <a:blip r:embed="rId2"/>
          <a:stretch>
            <a:fillRect/>
          </a:stretch>
        </p:blipFill>
        <p:spPr>
          <a:xfrm>
            <a:off x="6492240" y="1719072"/>
            <a:ext cx="457200" cy="457200"/>
          </a:xfrm>
          <a:prstGeom prst="rect">
            <a:avLst/>
          </a:prstGeom>
        </p:spPr>
      </p:pic>
      <p:sp>
        <p:nvSpPr>
          <p:cNvPr id="24" name="Text 20"/>
          <p:cNvSpPr/>
          <p:nvPr/>
        </p:nvSpPr>
        <p:spPr>
          <a:xfrm>
            <a:off x="7086600" y="1554480"/>
            <a:ext cx="457200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Besoins non-fonctionnels</a:t>
            </a:r>
            <a:endParaRPr lang="en-US" sz="1800" dirty="0"/>
          </a:p>
        </p:txBody>
      </p:sp>
      <p:sp>
        <p:nvSpPr>
          <p:cNvPr id="25" name="Shape 21"/>
          <p:cNvSpPr/>
          <p:nvPr/>
        </p:nvSpPr>
        <p:spPr>
          <a:xfrm>
            <a:off x="6583680" y="2697480"/>
            <a:ext cx="164592" cy="164592"/>
          </a:xfrm>
          <a:prstGeom prst="ellipse">
            <a:avLst/>
          </a:prstGeom>
          <a:solidFill>
            <a:srgbClr val="06B6D4"/>
          </a:solidFill>
          <a:ln w="12700">
            <a:solidFill>
              <a:srgbClr val="06B6D4"/>
            </a:solidFill>
            <a:prstDash val="solid"/>
          </a:ln>
        </p:spPr>
      </p:sp>
      <p:sp>
        <p:nvSpPr>
          <p:cNvPr id="26" name="Text 22"/>
          <p:cNvSpPr/>
          <p:nvPr/>
        </p:nvSpPr>
        <p:spPr>
          <a:xfrm>
            <a:off x="6903720" y="2560320"/>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Performance — temps de réponse, débit, charge</a:t>
            </a:r>
            <a:endParaRPr lang="en-US" sz="1300" dirty="0"/>
          </a:p>
        </p:txBody>
      </p:sp>
      <p:sp>
        <p:nvSpPr>
          <p:cNvPr id="27" name="Shape 23"/>
          <p:cNvSpPr/>
          <p:nvPr/>
        </p:nvSpPr>
        <p:spPr>
          <a:xfrm>
            <a:off x="6583680" y="3355848"/>
            <a:ext cx="164592" cy="164592"/>
          </a:xfrm>
          <a:prstGeom prst="ellipse">
            <a:avLst/>
          </a:prstGeom>
          <a:solidFill>
            <a:srgbClr val="06B6D4"/>
          </a:solidFill>
          <a:ln w="12700">
            <a:solidFill>
              <a:srgbClr val="06B6D4"/>
            </a:solidFill>
            <a:prstDash val="solid"/>
          </a:ln>
        </p:spPr>
      </p:sp>
      <p:sp>
        <p:nvSpPr>
          <p:cNvPr id="28" name="Text 24"/>
          <p:cNvSpPr/>
          <p:nvPr/>
        </p:nvSpPr>
        <p:spPr>
          <a:xfrm>
            <a:off x="6903720" y="3218688"/>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Fiabilité — taux d'erreur, robustesse</a:t>
            </a:r>
            <a:endParaRPr lang="en-US" sz="1300" dirty="0"/>
          </a:p>
        </p:txBody>
      </p:sp>
      <p:sp>
        <p:nvSpPr>
          <p:cNvPr id="29" name="Shape 25"/>
          <p:cNvSpPr/>
          <p:nvPr/>
        </p:nvSpPr>
        <p:spPr>
          <a:xfrm>
            <a:off x="6583680" y="4014216"/>
            <a:ext cx="164592" cy="164592"/>
          </a:xfrm>
          <a:prstGeom prst="ellipse">
            <a:avLst/>
          </a:prstGeom>
          <a:solidFill>
            <a:srgbClr val="06B6D4"/>
          </a:solidFill>
          <a:ln w="12700">
            <a:solidFill>
              <a:srgbClr val="06B6D4"/>
            </a:solidFill>
            <a:prstDash val="solid"/>
          </a:ln>
        </p:spPr>
      </p:sp>
      <p:sp>
        <p:nvSpPr>
          <p:cNvPr id="30" name="Text 26"/>
          <p:cNvSpPr/>
          <p:nvPr/>
        </p:nvSpPr>
        <p:spPr>
          <a:xfrm>
            <a:off x="6903720" y="3877056"/>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Sécurité — confidentialité, intégrité</a:t>
            </a:r>
            <a:endParaRPr lang="en-US" sz="1300" dirty="0"/>
          </a:p>
        </p:txBody>
      </p:sp>
      <p:sp>
        <p:nvSpPr>
          <p:cNvPr id="31" name="Shape 27"/>
          <p:cNvSpPr/>
          <p:nvPr/>
        </p:nvSpPr>
        <p:spPr>
          <a:xfrm>
            <a:off x="6583680" y="4672584"/>
            <a:ext cx="164592" cy="164592"/>
          </a:xfrm>
          <a:prstGeom prst="ellipse">
            <a:avLst/>
          </a:prstGeom>
          <a:solidFill>
            <a:srgbClr val="06B6D4"/>
          </a:solidFill>
          <a:ln w="12700">
            <a:solidFill>
              <a:srgbClr val="06B6D4"/>
            </a:solidFill>
            <a:prstDash val="solid"/>
          </a:ln>
        </p:spPr>
      </p:sp>
      <p:sp>
        <p:nvSpPr>
          <p:cNvPr id="32" name="Text 28"/>
          <p:cNvSpPr/>
          <p:nvPr/>
        </p:nvSpPr>
        <p:spPr>
          <a:xfrm>
            <a:off x="6903720" y="4535424"/>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Ergonomie — simplicité d'utilisation</a:t>
            </a:r>
            <a:endParaRPr lang="en-US" sz="1300" dirty="0"/>
          </a:p>
        </p:txBody>
      </p:sp>
      <p:sp>
        <p:nvSpPr>
          <p:cNvPr id="33" name="Shape 29"/>
          <p:cNvSpPr/>
          <p:nvPr/>
        </p:nvSpPr>
        <p:spPr>
          <a:xfrm>
            <a:off x="6583680" y="5330952"/>
            <a:ext cx="164592" cy="164592"/>
          </a:xfrm>
          <a:prstGeom prst="ellipse">
            <a:avLst/>
          </a:prstGeom>
          <a:solidFill>
            <a:srgbClr val="06B6D4"/>
          </a:solidFill>
          <a:ln w="12700">
            <a:solidFill>
              <a:srgbClr val="06B6D4"/>
            </a:solidFill>
            <a:prstDash val="solid"/>
          </a:ln>
        </p:spPr>
      </p:sp>
      <p:sp>
        <p:nvSpPr>
          <p:cNvPr id="34" name="Text 30"/>
          <p:cNvSpPr/>
          <p:nvPr/>
        </p:nvSpPr>
        <p:spPr>
          <a:xfrm>
            <a:off x="6903720" y="5193792"/>
            <a:ext cx="457200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Maintenabilité — évolutivité du code / système</a:t>
            </a:r>
            <a:endParaRPr lang="en-US" sz="1300" dirty="0"/>
          </a:p>
        </p:txBody>
      </p:sp>
      <p:sp>
        <p:nvSpPr>
          <p:cNvPr id="35" name="Text 31"/>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36" name="Text 32"/>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 / 27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État de l'art</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Text 5"/>
          <p:cNvSpPr/>
          <p:nvPr/>
        </p:nvSpPr>
        <p:spPr>
          <a:xfrm>
            <a:off x="548640" y="1417320"/>
            <a:ext cx="10972800" cy="36576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Travaux et solutions existantes dans le domaine étudié</a:t>
            </a:r>
            <a:endParaRPr lang="en-US" sz="1300" dirty="0"/>
          </a:p>
        </p:txBody>
      </p:sp>
      <p:sp>
        <p:nvSpPr>
          <p:cNvPr id="8" name="Shape 6"/>
          <p:cNvSpPr/>
          <p:nvPr/>
        </p:nvSpPr>
        <p:spPr>
          <a:xfrm>
            <a:off x="914400" y="3657600"/>
            <a:ext cx="10332720" cy="36576"/>
          </a:xfrm>
          <a:prstGeom prst="rect">
            <a:avLst/>
          </a:prstGeom>
          <a:solidFill>
            <a:srgbClr val="CBD5E1"/>
          </a:solidFill>
          <a:ln w="12700">
            <a:solidFill>
              <a:srgbClr val="CBD5E1"/>
            </a:solidFill>
            <a:prstDash val="solid"/>
          </a:ln>
        </p:spPr>
      </p:sp>
      <p:sp>
        <p:nvSpPr>
          <p:cNvPr id="9" name="Shape 7"/>
          <p:cNvSpPr/>
          <p:nvPr/>
        </p:nvSpPr>
        <p:spPr>
          <a:xfrm>
            <a:off x="2114550" y="3538728"/>
            <a:ext cx="274320" cy="274320"/>
          </a:xfrm>
          <a:prstGeom prst="ellipse">
            <a:avLst/>
          </a:prstGeom>
          <a:solidFill>
            <a:srgbClr val="475569"/>
          </a:solidFill>
          <a:ln w="25400">
            <a:solidFill>
              <a:srgbClr val="FFFFFF"/>
            </a:solidFill>
            <a:prstDash val="solid"/>
          </a:ln>
        </p:spPr>
      </p:sp>
      <p:sp>
        <p:nvSpPr>
          <p:cNvPr id="10" name="Shape 8"/>
          <p:cNvSpPr/>
          <p:nvPr/>
        </p:nvSpPr>
        <p:spPr>
          <a:xfrm>
            <a:off x="925830" y="2743200"/>
            <a:ext cx="2560320" cy="457200"/>
          </a:xfrm>
          <a:prstGeom prst="roundRect">
            <a:avLst>
              <a:gd name="adj" fmla="val 20000"/>
            </a:avLst>
          </a:prstGeom>
          <a:solidFill>
            <a:srgbClr val="475569"/>
          </a:solidFill>
          <a:ln w="12700">
            <a:solidFill>
              <a:srgbClr val="475569"/>
            </a:solidFill>
            <a:prstDash val="solid"/>
          </a:ln>
        </p:spPr>
      </p:sp>
      <p:sp>
        <p:nvSpPr>
          <p:cNvPr id="11" name="Text 9"/>
          <p:cNvSpPr/>
          <p:nvPr/>
        </p:nvSpPr>
        <p:spPr>
          <a:xfrm>
            <a:off x="925830" y="2743200"/>
            <a:ext cx="25603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Années 90</a:t>
            </a:r>
            <a:endParaRPr lang="en-US" sz="1300" dirty="0"/>
          </a:p>
        </p:txBody>
      </p:sp>
      <p:sp>
        <p:nvSpPr>
          <p:cNvPr id="12" name="Shape 10"/>
          <p:cNvSpPr/>
          <p:nvPr/>
        </p:nvSpPr>
        <p:spPr>
          <a:xfrm>
            <a:off x="925830" y="4023360"/>
            <a:ext cx="2560320" cy="1737360"/>
          </a:xfrm>
          <a:prstGeom prst="roundRect">
            <a:avLst>
              <a:gd name="adj" fmla="val 5263"/>
            </a:avLst>
          </a:prstGeom>
          <a:solidFill>
            <a:srgbClr val="F8FAFC"/>
          </a:solidFill>
          <a:ln w="12700">
            <a:solidFill>
              <a:srgbClr val="E2E8F0"/>
            </a:solidFill>
            <a:prstDash val="solid"/>
          </a:ln>
        </p:spPr>
      </p:sp>
      <p:sp>
        <p:nvSpPr>
          <p:cNvPr id="13" name="Text 11"/>
          <p:cNvSpPr/>
          <p:nvPr/>
        </p:nvSpPr>
        <p:spPr>
          <a:xfrm>
            <a:off x="1062990" y="4114800"/>
            <a:ext cx="228600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Premières approches</a:t>
            </a:r>
            <a:endParaRPr lang="en-US" sz="1300" dirty="0"/>
          </a:p>
        </p:txBody>
      </p:sp>
      <p:sp>
        <p:nvSpPr>
          <p:cNvPr id="14" name="Text 12"/>
          <p:cNvSpPr/>
          <p:nvPr/>
        </p:nvSpPr>
        <p:spPr>
          <a:xfrm>
            <a:off x="1062990" y="4526280"/>
            <a:ext cx="2286000" cy="11887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Solutions pionnières, technologies limitées.</a:t>
            </a:r>
            <a:endParaRPr lang="en-US" sz="1100" dirty="0"/>
          </a:p>
        </p:txBody>
      </p:sp>
      <p:sp>
        <p:nvSpPr>
          <p:cNvPr id="15" name="Shape 13"/>
          <p:cNvSpPr/>
          <p:nvPr/>
        </p:nvSpPr>
        <p:spPr>
          <a:xfrm>
            <a:off x="4697730" y="3538728"/>
            <a:ext cx="274320" cy="274320"/>
          </a:xfrm>
          <a:prstGeom prst="ellipse">
            <a:avLst/>
          </a:prstGeom>
          <a:solidFill>
            <a:srgbClr val="4F46E5"/>
          </a:solidFill>
          <a:ln w="25400">
            <a:solidFill>
              <a:srgbClr val="FFFFFF"/>
            </a:solidFill>
            <a:prstDash val="solid"/>
          </a:ln>
        </p:spPr>
      </p:sp>
      <p:sp>
        <p:nvSpPr>
          <p:cNvPr id="16" name="Shape 14"/>
          <p:cNvSpPr/>
          <p:nvPr/>
        </p:nvSpPr>
        <p:spPr>
          <a:xfrm>
            <a:off x="3509010" y="2743200"/>
            <a:ext cx="2560320" cy="457200"/>
          </a:xfrm>
          <a:prstGeom prst="roundRect">
            <a:avLst>
              <a:gd name="adj" fmla="val 20000"/>
            </a:avLst>
          </a:prstGeom>
          <a:solidFill>
            <a:srgbClr val="4F46E5"/>
          </a:solidFill>
          <a:ln w="12700">
            <a:solidFill>
              <a:srgbClr val="4F46E5"/>
            </a:solidFill>
            <a:prstDash val="solid"/>
          </a:ln>
        </p:spPr>
      </p:sp>
      <p:sp>
        <p:nvSpPr>
          <p:cNvPr id="17" name="Text 15"/>
          <p:cNvSpPr/>
          <p:nvPr/>
        </p:nvSpPr>
        <p:spPr>
          <a:xfrm>
            <a:off x="3509010" y="2743200"/>
            <a:ext cx="25603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2000-2010</a:t>
            </a:r>
            <a:endParaRPr lang="en-US" sz="1300" dirty="0"/>
          </a:p>
        </p:txBody>
      </p:sp>
      <p:sp>
        <p:nvSpPr>
          <p:cNvPr id="18" name="Shape 16"/>
          <p:cNvSpPr/>
          <p:nvPr/>
        </p:nvSpPr>
        <p:spPr>
          <a:xfrm>
            <a:off x="3509010" y="4023360"/>
            <a:ext cx="2560320" cy="1737360"/>
          </a:xfrm>
          <a:prstGeom prst="roundRect">
            <a:avLst>
              <a:gd name="adj" fmla="val 5263"/>
            </a:avLst>
          </a:prstGeom>
          <a:solidFill>
            <a:srgbClr val="F8FAFC"/>
          </a:solidFill>
          <a:ln w="12700">
            <a:solidFill>
              <a:srgbClr val="E2E8F0"/>
            </a:solidFill>
            <a:prstDash val="solid"/>
          </a:ln>
        </p:spPr>
      </p:sp>
      <p:sp>
        <p:nvSpPr>
          <p:cNvPr id="19" name="Text 17"/>
          <p:cNvSpPr/>
          <p:nvPr/>
        </p:nvSpPr>
        <p:spPr>
          <a:xfrm>
            <a:off x="3646170" y="4114800"/>
            <a:ext cx="228600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Standardisation</a:t>
            </a:r>
            <a:endParaRPr lang="en-US" sz="1300" dirty="0"/>
          </a:p>
        </p:txBody>
      </p:sp>
      <p:sp>
        <p:nvSpPr>
          <p:cNvPr id="20" name="Text 18"/>
          <p:cNvSpPr/>
          <p:nvPr/>
        </p:nvSpPr>
        <p:spPr>
          <a:xfrm>
            <a:off x="3646170" y="4526280"/>
            <a:ext cx="2286000" cy="11887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Émergence de standards et bonnes pratiques.</a:t>
            </a:r>
            <a:endParaRPr lang="en-US" sz="1100" dirty="0"/>
          </a:p>
        </p:txBody>
      </p:sp>
      <p:sp>
        <p:nvSpPr>
          <p:cNvPr id="21" name="Shape 19"/>
          <p:cNvSpPr/>
          <p:nvPr/>
        </p:nvSpPr>
        <p:spPr>
          <a:xfrm>
            <a:off x="7280910" y="3538728"/>
            <a:ext cx="274320" cy="274320"/>
          </a:xfrm>
          <a:prstGeom prst="ellipse">
            <a:avLst/>
          </a:prstGeom>
          <a:solidFill>
            <a:srgbClr val="06B6D4"/>
          </a:solidFill>
          <a:ln w="25400">
            <a:solidFill>
              <a:srgbClr val="FFFFFF"/>
            </a:solidFill>
            <a:prstDash val="solid"/>
          </a:ln>
        </p:spPr>
      </p:sp>
      <p:sp>
        <p:nvSpPr>
          <p:cNvPr id="22" name="Shape 20"/>
          <p:cNvSpPr/>
          <p:nvPr/>
        </p:nvSpPr>
        <p:spPr>
          <a:xfrm>
            <a:off x="6092190" y="2743200"/>
            <a:ext cx="2560320" cy="457200"/>
          </a:xfrm>
          <a:prstGeom prst="roundRect">
            <a:avLst>
              <a:gd name="adj" fmla="val 20000"/>
            </a:avLst>
          </a:prstGeom>
          <a:solidFill>
            <a:srgbClr val="06B6D4"/>
          </a:solidFill>
          <a:ln w="12700">
            <a:solidFill>
              <a:srgbClr val="06B6D4"/>
            </a:solidFill>
            <a:prstDash val="solid"/>
          </a:ln>
        </p:spPr>
      </p:sp>
      <p:sp>
        <p:nvSpPr>
          <p:cNvPr id="23" name="Text 21"/>
          <p:cNvSpPr/>
          <p:nvPr/>
        </p:nvSpPr>
        <p:spPr>
          <a:xfrm>
            <a:off x="6092190" y="2743200"/>
            <a:ext cx="25603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2010-2020</a:t>
            </a:r>
            <a:endParaRPr lang="en-US" sz="1300" dirty="0"/>
          </a:p>
        </p:txBody>
      </p:sp>
      <p:sp>
        <p:nvSpPr>
          <p:cNvPr id="24" name="Shape 22"/>
          <p:cNvSpPr/>
          <p:nvPr/>
        </p:nvSpPr>
        <p:spPr>
          <a:xfrm>
            <a:off x="6092190" y="4023360"/>
            <a:ext cx="2560320" cy="1737360"/>
          </a:xfrm>
          <a:prstGeom prst="roundRect">
            <a:avLst>
              <a:gd name="adj" fmla="val 5263"/>
            </a:avLst>
          </a:prstGeom>
          <a:solidFill>
            <a:srgbClr val="F8FAFC"/>
          </a:solidFill>
          <a:ln w="12700">
            <a:solidFill>
              <a:srgbClr val="E2E8F0"/>
            </a:solidFill>
            <a:prstDash val="solid"/>
          </a:ln>
        </p:spPr>
      </p:sp>
      <p:sp>
        <p:nvSpPr>
          <p:cNvPr id="25" name="Text 23"/>
          <p:cNvSpPr/>
          <p:nvPr/>
        </p:nvSpPr>
        <p:spPr>
          <a:xfrm>
            <a:off x="6229350" y="4114800"/>
            <a:ext cx="228600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Démocratisation</a:t>
            </a:r>
            <a:endParaRPr lang="en-US" sz="1300" dirty="0"/>
          </a:p>
        </p:txBody>
      </p:sp>
      <p:sp>
        <p:nvSpPr>
          <p:cNvPr id="26" name="Text 24"/>
          <p:cNvSpPr/>
          <p:nvPr/>
        </p:nvSpPr>
        <p:spPr>
          <a:xfrm>
            <a:off x="6229350" y="4526280"/>
            <a:ext cx="2286000" cy="11887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Outils accessibles, communautés actives.</a:t>
            </a:r>
            <a:endParaRPr lang="en-US" sz="1100" dirty="0"/>
          </a:p>
        </p:txBody>
      </p:sp>
      <p:sp>
        <p:nvSpPr>
          <p:cNvPr id="27" name="Shape 25"/>
          <p:cNvSpPr/>
          <p:nvPr/>
        </p:nvSpPr>
        <p:spPr>
          <a:xfrm>
            <a:off x="9864090" y="3538728"/>
            <a:ext cx="274320" cy="274320"/>
          </a:xfrm>
          <a:prstGeom prst="ellipse">
            <a:avLst/>
          </a:prstGeom>
          <a:solidFill>
            <a:srgbClr val="F59E0B"/>
          </a:solidFill>
          <a:ln w="25400">
            <a:solidFill>
              <a:srgbClr val="FFFFFF"/>
            </a:solidFill>
            <a:prstDash val="solid"/>
          </a:ln>
        </p:spPr>
      </p:sp>
      <p:sp>
        <p:nvSpPr>
          <p:cNvPr id="28" name="Shape 26"/>
          <p:cNvSpPr/>
          <p:nvPr/>
        </p:nvSpPr>
        <p:spPr>
          <a:xfrm>
            <a:off x="8675370" y="2743200"/>
            <a:ext cx="2560320" cy="457200"/>
          </a:xfrm>
          <a:prstGeom prst="roundRect">
            <a:avLst>
              <a:gd name="adj" fmla="val 20000"/>
            </a:avLst>
          </a:prstGeom>
          <a:solidFill>
            <a:srgbClr val="F59E0B"/>
          </a:solidFill>
          <a:ln w="12700">
            <a:solidFill>
              <a:srgbClr val="F59E0B"/>
            </a:solidFill>
            <a:prstDash val="solid"/>
          </a:ln>
        </p:spPr>
      </p:sp>
      <p:sp>
        <p:nvSpPr>
          <p:cNvPr id="29" name="Text 27"/>
          <p:cNvSpPr/>
          <p:nvPr/>
        </p:nvSpPr>
        <p:spPr>
          <a:xfrm>
            <a:off x="8675370" y="2743200"/>
            <a:ext cx="25603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Aujourd'hui</a:t>
            </a:r>
            <a:endParaRPr lang="en-US" sz="1300" dirty="0"/>
          </a:p>
        </p:txBody>
      </p:sp>
      <p:sp>
        <p:nvSpPr>
          <p:cNvPr id="30" name="Shape 28"/>
          <p:cNvSpPr/>
          <p:nvPr/>
        </p:nvSpPr>
        <p:spPr>
          <a:xfrm>
            <a:off x="8675370" y="4023360"/>
            <a:ext cx="2560320" cy="1737360"/>
          </a:xfrm>
          <a:prstGeom prst="roundRect">
            <a:avLst>
              <a:gd name="adj" fmla="val 5263"/>
            </a:avLst>
          </a:prstGeom>
          <a:solidFill>
            <a:srgbClr val="F8FAFC"/>
          </a:solidFill>
          <a:ln w="12700">
            <a:solidFill>
              <a:srgbClr val="E2E8F0"/>
            </a:solidFill>
            <a:prstDash val="solid"/>
          </a:ln>
        </p:spPr>
      </p:sp>
      <p:sp>
        <p:nvSpPr>
          <p:cNvPr id="31" name="Text 29"/>
          <p:cNvSpPr/>
          <p:nvPr/>
        </p:nvSpPr>
        <p:spPr>
          <a:xfrm>
            <a:off x="8812530" y="4114800"/>
            <a:ext cx="228600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Innovation continue</a:t>
            </a:r>
            <a:endParaRPr lang="en-US" sz="1300" dirty="0"/>
          </a:p>
        </p:txBody>
      </p:sp>
      <p:sp>
        <p:nvSpPr>
          <p:cNvPr id="32" name="Text 30"/>
          <p:cNvSpPr/>
          <p:nvPr/>
        </p:nvSpPr>
        <p:spPr>
          <a:xfrm>
            <a:off x="8812530" y="4526280"/>
            <a:ext cx="2286000" cy="11887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IA, automatisation, intégration avancée.</a:t>
            </a:r>
            <a:endParaRPr lang="en-US" sz="1100" dirty="0"/>
          </a:p>
        </p:txBody>
      </p:sp>
      <p:sp>
        <p:nvSpPr>
          <p:cNvPr id="33" name="Text 31"/>
          <p:cNvSpPr/>
          <p:nvPr/>
        </p:nvSpPr>
        <p:spPr>
          <a:xfrm>
            <a:off x="548640" y="6080760"/>
            <a:ext cx="10972800" cy="32004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À adapter avec les jalons spécifiques à votre domaine de recherche.</a:t>
            </a:r>
            <a:endParaRPr lang="en-US" sz="1100" dirty="0"/>
          </a:p>
        </p:txBody>
      </p:sp>
      <p:sp>
        <p:nvSpPr>
          <p:cNvPr id="34" name="Text 32"/>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35" name="Text 33"/>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 / 27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08</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Étude comparative des solutions existantes</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286000"/>
                <a:gridCol w="2194560"/>
                <a:gridCol w="2194560"/>
                <a:gridCol w="2194560"/>
                <a:gridCol w="219456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Critère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Solution 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4F46E5"/>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Solution B</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6B6D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Solution C</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59E0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Notre approche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0B981"/>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Coût</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Élevé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Modéré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Faible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Optimisé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Performance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Bonne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Moyenne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Limitée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Élevée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Complexité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Forte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Moyenne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Faible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Maîtrisée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Flexibilité</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Limitée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Bonne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Excellente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Excellente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Maintenance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Difficile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Moyenne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Facile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Simple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Adéquation au besoin</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Partielle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Bonne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Faible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334155"/>
                          </a:solidFill>
                          <a:latin typeface="Calibri" pitchFamily="34" charset="0"/>
                          <a:ea typeface="Calibri" pitchFamily="34" charset="-122"/>
                          <a:cs typeface="Calibri" pitchFamily="34" charset="-120"/>
                        </a:rPr>
                        <a:t>Très bonne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5943600"/>
            <a:ext cx="11064240" cy="365760"/>
          </a:xfrm>
          <a:prstGeom prst="rect">
            <a:avLst/>
          </a:prstGeom>
          <a:noFill/>
          <a:ln/>
        </p:spPr>
        <p:txBody>
          <a:bodyPr wrap="square" lIns="0" tIns="0" rIns="0" bIns="0" rtlCol="0" anchor="ctr"/>
          <a:lstStyle/>
          <a:p>
            <a:pPr algn="ctr" indent="0" marL="0">
              <a:buNone/>
            </a:pPr>
            <a:r>
              <a:rPr lang="en-US" sz="1200" i="1" dirty="0">
                <a:solidFill>
                  <a:srgbClr val="475569"/>
                </a:solidFill>
                <a:latin typeface="Calibri" pitchFamily="34" charset="0"/>
                <a:ea typeface="Calibri" pitchFamily="34" charset="-122"/>
                <a:cs typeface="Calibri" pitchFamily="34" charset="-120"/>
              </a:rPr>
              <a:t>Notre approche se distingue par un meilleur compromis entre performance, coût et adéquation au besoin.</a:t>
            </a:r>
            <a:endParaRPr lang="en-US" sz="1200" dirty="0"/>
          </a:p>
        </p:txBody>
      </p:sp>
      <p:sp>
        <p:nvSpPr>
          <p:cNvPr id="9" name="Text 6"/>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10" name="Text 7"/>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 / 27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09</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Méthodologie de travail</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920240"/>
            <a:ext cx="2103120" cy="2377440"/>
          </a:xfrm>
          <a:prstGeom prst="roundRect">
            <a:avLst>
              <a:gd name="adj" fmla="val 6087"/>
            </a:avLst>
          </a:prstGeom>
          <a:solidFill>
            <a:srgbClr val="F8FAFC"/>
          </a:solidFill>
          <a:ln w="12700">
            <a:solidFill>
              <a:srgbClr val="E2E8F0"/>
            </a:solidFill>
            <a:prstDash val="solid"/>
          </a:ln>
        </p:spPr>
      </p:sp>
      <p:sp>
        <p:nvSpPr>
          <p:cNvPr id="8" name="Shape 6"/>
          <p:cNvSpPr/>
          <p:nvPr/>
        </p:nvSpPr>
        <p:spPr>
          <a:xfrm>
            <a:off x="1188720" y="2194560"/>
            <a:ext cx="822960" cy="822960"/>
          </a:xfrm>
          <a:prstGeom prst="ellipse">
            <a:avLst/>
          </a:prstGeom>
          <a:solidFill>
            <a:srgbClr val="4F46E5"/>
          </a:solidFill>
          <a:ln w="12700">
            <a:solidFill>
              <a:srgbClr val="4F46E5"/>
            </a:solidFill>
            <a:prstDash val="solid"/>
          </a:ln>
        </p:spPr>
      </p:sp>
      <p:sp>
        <p:nvSpPr>
          <p:cNvPr id="9" name="Text 7"/>
          <p:cNvSpPr/>
          <p:nvPr/>
        </p:nvSpPr>
        <p:spPr>
          <a:xfrm>
            <a:off x="1188720" y="21945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10" name="Text 8"/>
          <p:cNvSpPr/>
          <p:nvPr/>
        </p:nvSpPr>
        <p:spPr>
          <a:xfrm>
            <a:off x="685800" y="3154680"/>
            <a:ext cx="18288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Analyse</a:t>
            </a:r>
            <a:endParaRPr lang="en-US" sz="1600" dirty="0"/>
          </a:p>
        </p:txBody>
      </p:sp>
      <p:sp>
        <p:nvSpPr>
          <p:cNvPr id="11" name="Text 9"/>
          <p:cNvSpPr/>
          <p:nvPr/>
        </p:nvSpPr>
        <p:spPr>
          <a:xfrm>
            <a:off x="685800" y="3611880"/>
            <a:ext cx="182880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Recueil et étude des besoins</a:t>
            </a:r>
            <a:endParaRPr lang="en-US" sz="1100" dirty="0"/>
          </a:p>
        </p:txBody>
      </p:sp>
      <p:sp>
        <p:nvSpPr>
          <p:cNvPr id="12" name="Shape 10"/>
          <p:cNvSpPr/>
          <p:nvPr/>
        </p:nvSpPr>
        <p:spPr>
          <a:xfrm rot="5400000">
            <a:off x="2660904" y="3035808"/>
            <a:ext cx="146304" cy="146304"/>
          </a:xfrm>
          <a:prstGeom prst="rightTriangle">
            <a:avLst/>
          </a:prstGeom>
          <a:solidFill>
            <a:srgbClr val="CBD5E1"/>
          </a:solidFill>
          <a:ln w="12700">
            <a:solidFill>
              <a:srgbClr val="CBD5E1"/>
            </a:solidFill>
            <a:prstDash val="solid"/>
          </a:ln>
        </p:spPr>
      </p:sp>
      <p:sp>
        <p:nvSpPr>
          <p:cNvPr id="13" name="Shape 11"/>
          <p:cNvSpPr/>
          <p:nvPr/>
        </p:nvSpPr>
        <p:spPr>
          <a:xfrm>
            <a:off x="2816352" y="1920240"/>
            <a:ext cx="2103120" cy="2377440"/>
          </a:xfrm>
          <a:prstGeom prst="roundRect">
            <a:avLst>
              <a:gd name="adj" fmla="val 6087"/>
            </a:avLst>
          </a:prstGeom>
          <a:solidFill>
            <a:srgbClr val="F8FAFC"/>
          </a:solidFill>
          <a:ln w="12700">
            <a:solidFill>
              <a:srgbClr val="E2E8F0"/>
            </a:solidFill>
            <a:prstDash val="solid"/>
          </a:ln>
        </p:spPr>
      </p:sp>
      <p:sp>
        <p:nvSpPr>
          <p:cNvPr id="14" name="Shape 12"/>
          <p:cNvSpPr/>
          <p:nvPr/>
        </p:nvSpPr>
        <p:spPr>
          <a:xfrm>
            <a:off x="3456432" y="2194560"/>
            <a:ext cx="822960" cy="822960"/>
          </a:xfrm>
          <a:prstGeom prst="ellipse">
            <a:avLst/>
          </a:prstGeom>
          <a:solidFill>
            <a:srgbClr val="06B6D4"/>
          </a:solidFill>
          <a:ln w="12700">
            <a:solidFill>
              <a:srgbClr val="06B6D4"/>
            </a:solidFill>
            <a:prstDash val="solid"/>
          </a:ln>
        </p:spPr>
      </p:sp>
      <p:sp>
        <p:nvSpPr>
          <p:cNvPr id="15" name="Text 13"/>
          <p:cNvSpPr/>
          <p:nvPr/>
        </p:nvSpPr>
        <p:spPr>
          <a:xfrm>
            <a:off x="3456432" y="21945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6" name="Text 14"/>
          <p:cNvSpPr/>
          <p:nvPr/>
        </p:nvSpPr>
        <p:spPr>
          <a:xfrm>
            <a:off x="2953512" y="3154680"/>
            <a:ext cx="18288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Conception</a:t>
            </a:r>
            <a:endParaRPr lang="en-US" sz="1600" dirty="0"/>
          </a:p>
        </p:txBody>
      </p:sp>
      <p:sp>
        <p:nvSpPr>
          <p:cNvPr id="17" name="Text 15"/>
          <p:cNvSpPr/>
          <p:nvPr/>
        </p:nvSpPr>
        <p:spPr>
          <a:xfrm>
            <a:off x="2953512" y="3611880"/>
            <a:ext cx="182880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Modélisation et architecture</a:t>
            </a:r>
            <a:endParaRPr lang="en-US" sz="1100" dirty="0"/>
          </a:p>
        </p:txBody>
      </p:sp>
      <p:sp>
        <p:nvSpPr>
          <p:cNvPr id="18" name="Shape 16"/>
          <p:cNvSpPr/>
          <p:nvPr/>
        </p:nvSpPr>
        <p:spPr>
          <a:xfrm rot="5400000">
            <a:off x="4928616" y="3035808"/>
            <a:ext cx="146304" cy="146304"/>
          </a:xfrm>
          <a:prstGeom prst="rightTriangle">
            <a:avLst/>
          </a:prstGeom>
          <a:solidFill>
            <a:srgbClr val="CBD5E1"/>
          </a:solidFill>
          <a:ln w="12700">
            <a:solidFill>
              <a:srgbClr val="CBD5E1"/>
            </a:solidFill>
            <a:prstDash val="solid"/>
          </a:ln>
        </p:spPr>
      </p:sp>
      <p:sp>
        <p:nvSpPr>
          <p:cNvPr id="19" name="Shape 17"/>
          <p:cNvSpPr/>
          <p:nvPr/>
        </p:nvSpPr>
        <p:spPr>
          <a:xfrm>
            <a:off x="5084064" y="1920240"/>
            <a:ext cx="2103120" cy="2377440"/>
          </a:xfrm>
          <a:prstGeom prst="roundRect">
            <a:avLst>
              <a:gd name="adj" fmla="val 6087"/>
            </a:avLst>
          </a:prstGeom>
          <a:solidFill>
            <a:srgbClr val="F8FAFC"/>
          </a:solidFill>
          <a:ln w="12700">
            <a:solidFill>
              <a:srgbClr val="E2E8F0"/>
            </a:solidFill>
            <a:prstDash val="solid"/>
          </a:ln>
        </p:spPr>
      </p:sp>
      <p:sp>
        <p:nvSpPr>
          <p:cNvPr id="20" name="Shape 18"/>
          <p:cNvSpPr/>
          <p:nvPr/>
        </p:nvSpPr>
        <p:spPr>
          <a:xfrm>
            <a:off x="5724144" y="2194560"/>
            <a:ext cx="822960" cy="822960"/>
          </a:xfrm>
          <a:prstGeom prst="ellipse">
            <a:avLst/>
          </a:prstGeom>
          <a:solidFill>
            <a:srgbClr val="F59E0B"/>
          </a:solidFill>
          <a:ln w="12700">
            <a:solidFill>
              <a:srgbClr val="F59E0B"/>
            </a:solidFill>
            <a:prstDash val="solid"/>
          </a:ln>
        </p:spPr>
      </p:sp>
      <p:sp>
        <p:nvSpPr>
          <p:cNvPr id="21" name="Text 19"/>
          <p:cNvSpPr/>
          <p:nvPr/>
        </p:nvSpPr>
        <p:spPr>
          <a:xfrm>
            <a:off x="5724144" y="21945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22" name="Text 20"/>
          <p:cNvSpPr/>
          <p:nvPr/>
        </p:nvSpPr>
        <p:spPr>
          <a:xfrm>
            <a:off x="5221224" y="3154680"/>
            <a:ext cx="18288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Réalisation</a:t>
            </a:r>
            <a:endParaRPr lang="en-US" sz="1600" dirty="0"/>
          </a:p>
        </p:txBody>
      </p:sp>
      <p:sp>
        <p:nvSpPr>
          <p:cNvPr id="23" name="Text 21"/>
          <p:cNvSpPr/>
          <p:nvPr/>
        </p:nvSpPr>
        <p:spPr>
          <a:xfrm>
            <a:off x="5221224" y="3611880"/>
            <a:ext cx="182880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Développement et intégration</a:t>
            </a:r>
            <a:endParaRPr lang="en-US" sz="1100" dirty="0"/>
          </a:p>
        </p:txBody>
      </p:sp>
      <p:sp>
        <p:nvSpPr>
          <p:cNvPr id="24" name="Shape 22"/>
          <p:cNvSpPr/>
          <p:nvPr/>
        </p:nvSpPr>
        <p:spPr>
          <a:xfrm rot="5400000">
            <a:off x="7196328" y="3035808"/>
            <a:ext cx="146304" cy="146304"/>
          </a:xfrm>
          <a:prstGeom prst="rightTriangle">
            <a:avLst/>
          </a:prstGeom>
          <a:solidFill>
            <a:srgbClr val="CBD5E1"/>
          </a:solidFill>
          <a:ln w="12700">
            <a:solidFill>
              <a:srgbClr val="CBD5E1"/>
            </a:solidFill>
            <a:prstDash val="solid"/>
          </a:ln>
        </p:spPr>
      </p:sp>
      <p:sp>
        <p:nvSpPr>
          <p:cNvPr id="25" name="Shape 23"/>
          <p:cNvSpPr/>
          <p:nvPr/>
        </p:nvSpPr>
        <p:spPr>
          <a:xfrm>
            <a:off x="7351776" y="1920240"/>
            <a:ext cx="2103120" cy="2377440"/>
          </a:xfrm>
          <a:prstGeom prst="roundRect">
            <a:avLst>
              <a:gd name="adj" fmla="val 6087"/>
            </a:avLst>
          </a:prstGeom>
          <a:solidFill>
            <a:srgbClr val="F8FAFC"/>
          </a:solidFill>
          <a:ln w="12700">
            <a:solidFill>
              <a:srgbClr val="E2E8F0"/>
            </a:solidFill>
            <a:prstDash val="solid"/>
          </a:ln>
        </p:spPr>
      </p:sp>
      <p:sp>
        <p:nvSpPr>
          <p:cNvPr id="26" name="Shape 24"/>
          <p:cNvSpPr/>
          <p:nvPr/>
        </p:nvSpPr>
        <p:spPr>
          <a:xfrm>
            <a:off x="7991856" y="2194560"/>
            <a:ext cx="822960" cy="822960"/>
          </a:xfrm>
          <a:prstGeom prst="ellipse">
            <a:avLst/>
          </a:prstGeom>
          <a:solidFill>
            <a:srgbClr val="EC4899"/>
          </a:solidFill>
          <a:ln w="12700">
            <a:solidFill>
              <a:srgbClr val="EC4899"/>
            </a:solidFill>
            <a:prstDash val="solid"/>
          </a:ln>
        </p:spPr>
      </p:sp>
      <p:sp>
        <p:nvSpPr>
          <p:cNvPr id="27" name="Text 25"/>
          <p:cNvSpPr/>
          <p:nvPr/>
        </p:nvSpPr>
        <p:spPr>
          <a:xfrm>
            <a:off x="7991856" y="21945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28" name="Text 26"/>
          <p:cNvSpPr/>
          <p:nvPr/>
        </p:nvSpPr>
        <p:spPr>
          <a:xfrm>
            <a:off x="7488936" y="3154680"/>
            <a:ext cx="18288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Tests</a:t>
            </a:r>
            <a:endParaRPr lang="en-US" sz="1600" dirty="0"/>
          </a:p>
        </p:txBody>
      </p:sp>
      <p:sp>
        <p:nvSpPr>
          <p:cNvPr id="29" name="Text 27"/>
          <p:cNvSpPr/>
          <p:nvPr/>
        </p:nvSpPr>
        <p:spPr>
          <a:xfrm>
            <a:off x="7488936" y="3611880"/>
            <a:ext cx="182880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Validation et qualification</a:t>
            </a:r>
            <a:endParaRPr lang="en-US" sz="1100" dirty="0"/>
          </a:p>
        </p:txBody>
      </p:sp>
      <p:sp>
        <p:nvSpPr>
          <p:cNvPr id="30" name="Shape 28"/>
          <p:cNvSpPr/>
          <p:nvPr/>
        </p:nvSpPr>
        <p:spPr>
          <a:xfrm rot="5400000">
            <a:off x="9464040" y="3035808"/>
            <a:ext cx="146304" cy="146304"/>
          </a:xfrm>
          <a:prstGeom prst="rightTriangle">
            <a:avLst/>
          </a:prstGeom>
          <a:solidFill>
            <a:srgbClr val="CBD5E1"/>
          </a:solidFill>
          <a:ln w="12700">
            <a:solidFill>
              <a:srgbClr val="CBD5E1"/>
            </a:solidFill>
            <a:prstDash val="solid"/>
          </a:ln>
        </p:spPr>
      </p:sp>
      <p:sp>
        <p:nvSpPr>
          <p:cNvPr id="31" name="Shape 29"/>
          <p:cNvSpPr/>
          <p:nvPr/>
        </p:nvSpPr>
        <p:spPr>
          <a:xfrm>
            <a:off x="9619488" y="1920240"/>
            <a:ext cx="2103120" cy="2377440"/>
          </a:xfrm>
          <a:prstGeom prst="roundRect">
            <a:avLst>
              <a:gd name="adj" fmla="val 6087"/>
            </a:avLst>
          </a:prstGeom>
          <a:solidFill>
            <a:srgbClr val="F8FAFC"/>
          </a:solidFill>
          <a:ln w="12700">
            <a:solidFill>
              <a:srgbClr val="E2E8F0"/>
            </a:solidFill>
            <a:prstDash val="solid"/>
          </a:ln>
        </p:spPr>
      </p:sp>
      <p:sp>
        <p:nvSpPr>
          <p:cNvPr id="32" name="Shape 30"/>
          <p:cNvSpPr/>
          <p:nvPr/>
        </p:nvSpPr>
        <p:spPr>
          <a:xfrm>
            <a:off x="10259568" y="2194560"/>
            <a:ext cx="822960" cy="822960"/>
          </a:xfrm>
          <a:prstGeom prst="ellipse">
            <a:avLst/>
          </a:prstGeom>
          <a:solidFill>
            <a:srgbClr val="10B981"/>
          </a:solidFill>
          <a:ln w="12700">
            <a:solidFill>
              <a:srgbClr val="10B981"/>
            </a:solidFill>
            <a:prstDash val="solid"/>
          </a:ln>
        </p:spPr>
      </p:sp>
      <p:sp>
        <p:nvSpPr>
          <p:cNvPr id="33" name="Text 31"/>
          <p:cNvSpPr/>
          <p:nvPr/>
        </p:nvSpPr>
        <p:spPr>
          <a:xfrm>
            <a:off x="10259568" y="2194560"/>
            <a:ext cx="82296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34" name="Text 32"/>
          <p:cNvSpPr/>
          <p:nvPr/>
        </p:nvSpPr>
        <p:spPr>
          <a:xfrm>
            <a:off x="9756648" y="3154680"/>
            <a:ext cx="18288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Livraison</a:t>
            </a:r>
            <a:endParaRPr lang="en-US" sz="1600" dirty="0"/>
          </a:p>
        </p:txBody>
      </p:sp>
      <p:sp>
        <p:nvSpPr>
          <p:cNvPr id="35" name="Text 33"/>
          <p:cNvSpPr/>
          <p:nvPr/>
        </p:nvSpPr>
        <p:spPr>
          <a:xfrm>
            <a:off x="9756648" y="3611880"/>
            <a:ext cx="1828800" cy="64008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Mise en service et bilan</a:t>
            </a:r>
            <a:endParaRPr lang="en-US" sz="1100" dirty="0"/>
          </a:p>
        </p:txBody>
      </p:sp>
      <p:sp>
        <p:nvSpPr>
          <p:cNvPr id="36" name="Shape 34"/>
          <p:cNvSpPr/>
          <p:nvPr/>
        </p:nvSpPr>
        <p:spPr>
          <a:xfrm>
            <a:off x="548640" y="4663440"/>
            <a:ext cx="11064240" cy="1463040"/>
          </a:xfrm>
          <a:prstGeom prst="roundRect">
            <a:avLst>
              <a:gd name="adj" fmla="val 7500"/>
            </a:avLst>
          </a:prstGeom>
          <a:solidFill>
            <a:srgbClr val="0F172A"/>
          </a:solidFill>
          <a:ln w="12700">
            <a:solidFill>
              <a:srgbClr val="0F172A"/>
            </a:solidFill>
            <a:prstDash val="solid"/>
          </a:ln>
        </p:spPr>
      </p:sp>
      <p:sp>
        <p:nvSpPr>
          <p:cNvPr id="37" name="Text 35"/>
          <p:cNvSpPr/>
          <p:nvPr/>
        </p:nvSpPr>
        <p:spPr>
          <a:xfrm>
            <a:off x="914400" y="4800600"/>
            <a:ext cx="10058400" cy="36576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Approche choisie : itérative et incrémentale</a:t>
            </a:r>
            <a:endParaRPr lang="en-US" sz="1600" dirty="0"/>
          </a:p>
        </p:txBody>
      </p:sp>
      <p:sp>
        <p:nvSpPr>
          <p:cNvPr id="38" name="Text 36"/>
          <p:cNvSpPr/>
          <p:nvPr/>
        </p:nvSpPr>
        <p:spPr>
          <a:xfrm>
            <a:off x="914400" y="5212080"/>
            <a:ext cx="10058400" cy="86868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Chaque itération produit un livrable testé et validé. Cette approche limite les risques et permet de s'adapter aux retours du jury et de l'encadrant tout au long du projet.</a:t>
            </a:r>
            <a:endParaRPr lang="en-US" sz="1300" dirty="0"/>
          </a:p>
        </p:txBody>
      </p:sp>
      <p:sp>
        <p:nvSpPr>
          <p:cNvPr id="39" name="Text 37"/>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40" name="Text 38"/>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 / 27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Architecture générale du système</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1097280" y="1645920"/>
            <a:ext cx="6858000" cy="1280160"/>
          </a:xfrm>
          <a:prstGeom prst="roundRect">
            <a:avLst>
              <a:gd name="adj" fmla="val 10000"/>
            </a:avLst>
          </a:prstGeom>
          <a:solidFill>
            <a:srgbClr val="4F46E5"/>
          </a:solidFill>
          <a:ln w="12700">
            <a:solidFill>
              <a:srgbClr val="4F46E5"/>
            </a:solidFill>
            <a:prstDash val="solid"/>
          </a:ln>
        </p:spPr>
      </p:sp>
      <p:pic>
        <p:nvPicPr>
          <p:cNvPr id="8" name="Image 0" descr="preencoded.png">    </p:cNvPr>
          <p:cNvPicPr>
            <a:picLocks noChangeAspect="1"/>
          </p:cNvPicPr>
          <p:nvPr/>
        </p:nvPicPr>
        <p:blipFill>
          <a:blip r:embed="rId1"/>
          <a:stretch>
            <a:fillRect/>
          </a:stretch>
        </p:blipFill>
        <p:spPr>
          <a:xfrm>
            <a:off x="1371600" y="2011680"/>
            <a:ext cx="548640" cy="548640"/>
          </a:xfrm>
          <a:prstGeom prst="rect">
            <a:avLst/>
          </a:prstGeom>
        </p:spPr>
      </p:pic>
      <p:sp>
        <p:nvSpPr>
          <p:cNvPr id="9" name="Text 6"/>
          <p:cNvSpPr/>
          <p:nvPr/>
        </p:nvSpPr>
        <p:spPr>
          <a:xfrm>
            <a:off x="2103120" y="1783080"/>
            <a:ext cx="566928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Couche Présentation</a:t>
            </a:r>
            <a:endParaRPr lang="en-US" sz="1800" dirty="0"/>
          </a:p>
        </p:txBody>
      </p:sp>
      <p:sp>
        <p:nvSpPr>
          <p:cNvPr id="10" name="Text 7"/>
          <p:cNvSpPr/>
          <p:nvPr/>
        </p:nvSpPr>
        <p:spPr>
          <a:xfrm>
            <a:off x="2103120" y="2286000"/>
            <a:ext cx="566928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Interface utilisateur — interaction et visualisation</a:t>
            </a:r>
            <a:endParaRPr lang="en-US" sz="1200" dirty="0"/>
          </a:p>
        </p:txBody>
      </p:sp>
      <p:sp>
        <p:nvSpPr>
          <p:cNvPr id="11" name="Shape 8"/>
          <p:cNvSpPr/>
          <p:nvPr/>
        </p:nvSpPr>
        <p:spPr>
          <a:xfrm>
            <a:off x="4480560" y="2926080"/>
            <a:ext cx="91440" cy="228600"/>
          </a:xfrm>
          <a:prstGeom prst="rect">
            <a:avLst/>
          </a:prstGeom>
          <a:solidFill>
            <a:srgbClr val="CBD5E1"/>
          </a:solidFill>
          <a:ln w="12700">
            <a:solidFill>
              <a:srgbClr val="CBD5E1"/>
            </a:solidFill>
            <a:prstDash val="solid"/>
          </a:ln>
        </p:spPr>
      </p:sp>
      <p:sp>
        <p:nvSpPr>
          <p:cNvPr id="12" name="Shape 9"/>
          <p:cNvSpPr/>
          <p:nvPr/>
        </p:nvSpPr>
        <p:spPr>
          <a:xfrm>
            <a:off x="1097280" y="3154680"/>
            <a:ext cx="6858000" cy="1280160"/>
          </a:xfrm>
          <a:prstGeom prst="roundRect">
            <a:avLst>
              <a:gd name="adj" fmla="val 10000"/>
            </a:avLst>
          </a:prstGeom>
          <a:solidFill>
            <a:srgbClr val="06B6D4"/>
          </a:solidFill>
          <a:ln w="12700">
            <a:solidFill>
              <a:srgbClr val="06B6D4"/>
            </a:solidFill>
            <a:prstDash val="solid"/>
          </a:ln>
        </p:spPr>
      </p:sp>
      <p:pic>
        <p:nvPicPr>
          <p:cNvPr id="13" name="Image 1" descr="preencoded.png">    </p:cNvPr>
          <p:cNvPicPr>
            <a:picLocks noChangeAspect="1"/>
          </p:cNvPicPr>
          <p:nvPr/>
        </p:nvPicPr>
        <p:blipFill>
          <a:blip r:embed="rId2"/>
          <a:stretch>
            <a:fillRect/>
          </a:stretch>
        </p:blipFill>
        <p:spPr>
          <a:xfrm>
            <a:off x="1371600" y="3520440"/>
            <a:ext cx="548640" cy="548640"/>
          </a:xfrm>
          <a:prstGeom prst="rect">
            <a:avLst/>
          </a:prstGeom>
        </p:spPr>
      </p:pic>
      <p:sp>
        <p:nvSpPr>
          <p:cNvPr id="14" name="Text 10"/>
          <p:cNvSpPr/>
          <p:nvPr/>
        </p:nvSpPr>
        <p:spPr>
          <a:xfrm>
            <a:off x="2103120" y="3291840"/>
            <a:ext cx="566928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Couche Métier</a:t>
            </a:r>
            <a:endParaRPr lang="en-US" sz="1800" dirty="0"/>
          </a:p>
        </p:txBody>
      </p:sp>
      <p:sp>
        <p:nvSpPr>
          <p:cNvPr id="15" name="Text 11"/>
          <p:cNvSpPr/>
          <p:nvPr/>
        </p:nvSpPr>
        <p:spPr>
          <a:xfrm>
            <a:off x="2103120" y="3794760"/>
            <a:ext cx="566928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Traitements, règles et logique fonctionnelle</a:t>
            </a:r>
            <a:endParaRPr lang="en-US" sz="1200" dirty="0"/>
          </a:p>
        </p:txBody>
      </p:sp>
      <p:sp>
        <p:nvSpPr>
          <p:cNvPr id="16" name="Shape 12"/>
          <p:cNvSpPr/>
          <p:nvPr/>
        </p:nvSpPr>
        <p:spPr>
          <a:xfrm>
            <a:off x="4480560" y="4434840"/>
            <a:ext cx="91440" cy="228600"/>
          </a:xfrm>
          <a:prstGeom prst="rect">
            <a:avLst/>
          </a:prstGeom>
          <a:solidFill>
            <a:srgbClr val="CBD5E1"/>
          </a:solidFill>
          <a:ln w="12700">
            <a:solidFill>
              <a:srgbClr val="CBD5E1"/>
            </a:solidFill>
            <a:prstDash val="solid"/>
          </a:ln>
        </p:spPr>
      </p:sp>
      <p:sp>
        <p:nvSpPr>
          <p:cNvPr id="17" name="Shape 13"/>
          <p:cNvSpPr/>
          <p:nvPr/>
        </p:nvSpPr>
        <p:spPr>
          <a:xfrm>
            <a:off x="1097280" y="4663440"/>
            <a:ext cx="6858000" cy="1280160"/>
          </a:xfrm>
          <a:prstGeom prst="roundRect">
            <a:avLst>
              <a:gd name="adj" fmla="val 10000"/>
            </a:avLst>
          </a:prstGeom>
          <a:solidFill>
            <a:srgbClr val="F59E0B"/>
          </a:solidFill>
          <a:ln w="12700">
            <a:solidFill>
              <a:srgbClr val="F59E0B"/>
            </a:solidFill>
            <a:prstDash val="solid"/>
          </a:ln>
        </p:spPr>
      </p:sp>
      <p:pic>
        <p:nvPicPr>
          <p:cNvPr id="18" name="Image 2" descr="preencoded.png">    </p:cNvPr>
          <p:cNvPicPr>
            <a:picLocks noChangeAspect="1"/>
          </p:cNvPicPr>
          <p:nvPr/>
        </p:nvPicPr>
        <p:blipFill>
          <a:blip r:embed="rId3"/>
          <a:stretch>
            <a:fillRect/>
          </a:stretch>
        </p:blipFill>
        <p:spPr>
          <a:xfrm>
            <a:off x="1371600" y="5029200"/>
            <a:ext cx="548640" cy="548640"/>
          </a:xfrm>
          <a:prstGeom prst="rect">
            <a:avLst/>
          </a:prstGeom>
        </p:spPr>
      </p:pic>
      <p:sp>
        <p:nvSpPr>
          <p:cNvPr id="19" name="Text 14"/>
          <p:cNvSpPr/>
          <p:nvPr/>
        </p:nvSpPr>
        <p:spPr>
          <a:xfrm>
            <a:off x="2103120" y="4800600"/>
            <a:ext cx="566928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Couche Données</a:t>
            </a:r>
            <a:endParaRPr lang="en-US" sz="1800" dirty="0"/>
          </a:p>
        </p:txBody>
      </p:sp>
      <p:sp>
        <p:nvSpPr>
          <p:cNvPr id="20" name="Text 15"/>
          <p:cNvSpPr/>
          <p:nvPr/>
        </p:nvSpPr>
        <p:spPr>
          <a:xfrm>
            <a:off x="2103120" y="5303520"/>
            <a:ext cx="566928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Stockage, accès et persistance des informations</a:t>
            </a:r>
            <a:endParaRPr lang="en-US" sz="1200" dirty="0"/>
          </a:p>
        </p:txBody>
      </p:sp>
      <p:sp>
        <p:nvSpPr>
          <p:cNvPr id="21" name="Shape 16"/>
          <p:cNvSpPr/>
          <p:nvPr/>
        </p:nvSpPr>
        <p:spPr>
          <a:xfrm>
            <a:off x="8412480" y="1645920"/>
            <a:ext cx="3200400" cy="4389120"/>
          </a:xfrm>
          <a:prstGeom prst="roundRect">
            <a:avLst>
              <a:gd name="adj" fmla="val 4000"/>
            </a:avLst>
          </a:prstGeom>
          <a:solidFill>
            <a:srgbClr val="F8FAFC"/>
          </a:solidFill>
          <a:ln w="12700">
            <a:solidFill>
              <a:srgbClr val="E2E8F0"/>
            </a:solidFill>
            <a:prstDash val="solid"/>
          </a:ln>
        </p:spPr>
      </p:sp>
      <p:sp>
        <p:nvSpPr>
          <p:cNvPr id="22" name="Text 17"/>
          <p:cNvSpPr/>
          <p:nvPr/>
        </p:nvSpPr>
        <p:spPr>
          <a:xfrm>
            <a:off x="8595360" y="1783080"/>
            <a:ext cx="283464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Choix d'architecture</a:t>
            </a:r>
            <a:endParaRPr lang="en-US" sz="1400" dirty="0"/>
          </a:p>
        </p:txBody>
      </p:sp>
      <p:sp>
        <p:nvSpPr>
          <p:cNvPr id="23" name="Text 18"/>
          <p:cNvSpPr/>
          <p:nvPr/>
        </p:nvSpPr>
        <p:spPr>
          <a:xfrm>
            <a:off x="8595360" y="2194560"/>
            <a:ext cx="2834640" cy="3657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Modulaire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Évolutive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Faiblement couplée</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Testable indépendamment</a:t>
            </a:r>
            <a:endParaRPr lang="en-US" sz="1200" dirty="0"/>
          </a:p>
          <a:p>
            <a:pPr marL="342900" indent="-342900">
              <a:spcAft>
                <a:spcPts val="600"/>
              </a:spcAft>
              <a:buSzPct val="100000"/>
              <a:buChar char="●"/>
            </a:pPr>
            <a:r>
              <a:rPr lang="en-US" sz="1200" dirty="0">
                <a:solidFill>
                  <a:srgbClr val="334155"/>
                </a:solidFill>
                <a:latin typeface="Calibri" pitchFamily="34" charset="0"/>
                <a:ea typeface="Calibri" pitchFamily="34" charset="-122"/>
                <a:cs typeface="Calibri" pitchFamily="34" charset="-120"/>
              </a:rPr>
              <a:t>Facile à maintenir</a:t>
            </a:r>
            <a:endParaRPr lang="en-US" sz="1200" dirty="0"/>
          </a:p>
        </p:txBody>
      </p:sp>
      <p:sp>
        <p:nvSpPr>
          <p:cNvPr id="24" name="Text 19"/>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5" name="Text 20"/>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 / 27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Conception détaillée — Module 1</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645920"/>
            <a:ext cx="5029200" cy="4480560"/>
          </a:xfrm>
          <a:prstGeom prst="roundRect">
            <a:avLst>
              <a:gd name="adj" fmla="val 3265"/>
            </a:avLst>
          </a:prstGeom>
          <a:solidFill>
            <a:srgbClr val="0F172A"/>
          </a:solidFill>
          <a:ln w="12700">
            <a:solidFill>
              <a:srgbClr val="0F172A"/>
            </a:solidFill>
            <a:prstDash val="solid"/>
          </a:ln>
        </p:spPr>
      </p:sp>
      <p:pic>
        <p:nvPicPr>
          <p:cNvPr id="8" name="Image 0" descr="preencoded.png">    </p:cNvPr>
          <p:cNvPicPr>
            <a:picLocks noChangeAspect="1"/>
          </p:cNvPicPr>
          <p:nvPr/>
        </p:nvPicPr>
        <p:blipFill>
          <a:blip r:embed="rId1"/>
          <a:stretch>
            <a:fillRect/>
          </a:stretch>
        </p:blipFill>
        <p:spPr>
          <a:xfrm>
            <a:off x="2423160" y="2194560"/>
            <a:ext cx="1280160" cy="1280160"/>
          </a:xfrm>
          <a:prstGeom prst="rect">
            <a:avLst/>
          </a:prstGeom>
        </p:spPr>
      </p:pic>
      <p:sp>
        <p:nvSpPr>
          <p:cNvPr id="9" name="Text 6"/>
          <p:cNvSpPr/>
          <p:nvPr/>
        </p:nvSpPr>
        <p:spPr>
          <a:xfrm>
            <a:off x="731520" y="3657600"/>
            <a:ext cx="46634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Module 1</a:t>
            </a:r>
            <a:endParaRPr lang="en-US" sz="2200" dirty="0"/>
          </a:p>
        </p:txBody>
      </p:sp>
      <p:sp>
        <p:nvSpPr>
          <p:cNvPr id="10" name="Text 7"/>
          <p:cNvSpPr/>
          <p:nvPr/>
        </p:nvSpPr>
        <p:spPr>
          <a:xfrm>
            <a:off x="731520" y="4114800"/>
            <a:ext cx="4663440" cy="365760"/>
          </a:xfrm>
          <a:prstGeom prst="rect">
            <a:avLst/>
          </a:prstGeom>
          <a:noFill/>
          <a:ln/>
        </p:spPr>
        <p:txBody>
          <a:bodyPr wrap="square" lIns="0" tIns="0" rIns="0" bIns="0" rtlCol="0" anchor="ctr"/>
          <a:lstStyle/>
          <a:p>
            <a:pPr algn="ctr" indent="0" marL="0">
              <a:buNone/>
            </a:pPr>
            <a:r>
              <a:rPr lang="en-US" sz="1400" i="1" dirty="0">
                <a:solidFill>
                  <a:srgbClr val="CBD5E1"/>
                </a:solidFill>
                <a:latin typeface="Calibri" pitchFamily="34" charset="0"/>
                <a:ea typeface="Calibri" pitchFamily="34" charset="-122"/>
                <a:cs typeface="Calibri" pitchFamily="34" charset="-120"/>
              </a:rPr>
              <a:t>Sous-titre du module</a:t>
            </a:r>
            <a:endParaRPr lang="en-US" sz="1400" dirty="0"/>
          </a:p>
        </p:txBody>
      </p:sp>
      <p:sp>
        <p:nvSpPr>
          <p:cNvPr id="11" name="Shape 8"/>
          <p:cNvSpPr/>
          <p:nvPr/>
        </p:nvSpPr>
        <p:spPr>
          <a:xfrm>
            <a:off x="2697480" y="4617720"/>
            <a:ext cx="731520" cy="36576"/>
          </a:xfrm>
          <a:prstGeom prst="rect">
            <a:avLst/>
          </a:prstGeom>
          <a:solidFill>
            <a:srgbClr val="F59E0B"/>
          </a:solidFill>
          <a:ln w="12700">
            <a:solidFill>
              <a:srgbClr val="F59E0B"/>
            </a:solidFill>
            <a:prstDash val="solid"/>
          </a:ln>
        </p:spPr>
      </p:sp>
      <p:sp>
        <p:nvSpPr>
          <p:cNvPr id="12" name="Text 9"/>
          <p:cNvSpPr/>
          <p:nvPr/>
        </p:nvSpPr>
        <p:spPr>
          <a:xfrm>
            <a:off x="822960" y="4754880"/>
            <a:ext cx="4480560" cy="1188720"/>
          </a:xfrm>
          <a:prstGeom prst="rect">
            <a:avLst/>
          </a:prstGeom>
          <a:noFill/>
          <a:ln/>
        </p:spPr>
        <p:txBody>
          <a:bodyPr wrap="square" lIns="0" tIns="0" rIns="0" bIns="0"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Composant central de la solution proposée. Assure l'orchestration des traitements principaux.</a:t>
            </a:r>
            <a:endParaRPr lang="en-US" sz="1200" dirty="0"/>
          </a:p>
        </p:txBody>
      </p:sp>
      <p:sp>
        <p:nvSpPr>
          <p:cNvPr id="13" name="Shape 10"/>
          <p:cNvSpPr/>
          <p:nvPr/>
        </p:nvSpPr>
        <p:spPr>
          <a:xfrm>
            <a:off x="5852160" y="1645920"/>
            <a:ext cx="5760720" cy="960120"/>
          </a:xfrm>
          <a:prstGeom prst="roundRect">
            <a:avLst>
              <a:gd name="adj" fmla="val 9524"/>
            </a:avLst>
          </a:prstGeom>
          <a:solidFill>
            <a:srgbClr val="F8FAFC"/>
          </a:solidFill>
          <a:ln w="12700">
            <a:solidFill>
              <a:srgbClr val="E2E8F0"/>
            </a:solidFill>
            <a:prstDash val="solid"/>
          </a:ln>
        </p:spPr>
      </p:sp>
      <p:sp>
        <p:nvSpPr>
          <p:cNvPr id="14" name="Shape 11"/>
          <p:cNvSpPr/>
          <p:nvPr/>
        </p:nvSpPr>
        <p:spPr>
          <a:xfrm>
            <a:off x="5852160" y="1645920"/>
            <a:ext cx="91440" cy="960120"/>
          </a:xfrm>
          <a:prstGeom prst="rect">
            <a:avLst/>
          </a:prstGeom>
          <a:solidFill>
            <a:srgbClr val="4F46E5"/>
          </a:solidFill>
          <a:ln w="12700">
            <a:solidFill>
              <a:srgbClr val="4F46E5"/>
            </a:solidFill>
            <a:prstDash val="solid"/>
          </a:ln>
        </p:spPr>
      </p:sp>
      <p:sp>
        <p:nvSpPr>
          <p:cNvPr id="15" name="Text 12"/>
          <p:cNvSpPr/>
          <p:nvPr/>
        </p:nvSpPr>
        <p:spPr>
          <a:xfrm>
            <a:off x="6035040" y="1737360"/>
            <a:ext cx="5486400" cy="365760"/>
          </a:xfrm>
          <a:prstGeom prst="rect">
            <a:avLst/>
          </a:prstGeom>
          <a:noFill/>
          <a:ln/>
        </p:spPr>
        <p:txBody>
          <a:bodyPr wrap="square" lIns="0" tIns="0" rIns="0" bIns="0" rtlCol="0" anchor="ctr"/>
          <a:lstStyle/>
          <a:p>
            <a:pPr indent="0" marL="0">
              <a:buNone/>
            </a:pPr>
            <a:r>
              <a:rPr lang="en-US" sz="1400" b="1" dirty="0">
                <a:solidFill>
                  <a:srgbClr val="4F46E5"/>
                </a:solidFill>
                <a:latin typeface="Calibri" pitchFamily="34" charset="0"/>
                <a:ea typeface="Calibri" pitchFamily="34" charset="-122"/>
                <a:cs typeface="Calibri" pitchFamily="34" charset="-120"/>
              </a:rPr>
              <a:t>Entrées</a:t>
            </a:r>
            <a:endParaRPr lang="en-US" sz="1400" dirty="0"/>
          </a:p>
        </p:txBody>
      </p:sp>
      <p:sp>
        <p:nvSpPr>
          <p:cNvPr id="16" name="Text 13"/>
          <p:cNvSpPr/>
          <p:nvPr/>
        </p:nvSpPr>
        <p:spPr>
          <a:xfrm>
            <a:off x="6035040" y="2103120"/>
            <a:ext cx="54864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Données reçues depuis l'utilisateur ou un capteur</a:t>
            </a:r>
            <a:endParaRPr lang="en-US" sz="1200" dirty="0"/>
          </a:p>
        </p:txBody>
      </p:sp>
      <p:sp>
        <p:nvSpPr>
          <p:cNvPr id="17" name="Shape 14"/>
          <p:cNvSpPr/>
          <p:nvPr/>
        </p:nvSpPr>
        <p:spPr>
          <a:xfrm>
            <a:off x="5852160" y="2788920"/>
            <a:ext cx="5760720" cy="960120"/>
          </a:xfrm>
          <a:prstGeom prst="roundRect">
            <a:avLst>
              <a:gd name="adj" fmla="val 9524"/>
            </a:avLst>
          </a:prstGeom>
          <a:solidFill>
            <a:srgbClr val="F8FAFC"/>
          </a:solidFill>
          <a:ln w="12700">
            <a:solidFill>
              <a:srgbClr val="E2E8F0"/>
            </a:solidFill>
            <a:prstDash val="solid"/>
          </a:ln>
        </p:spPr>
      </p:sp>
      <p:sp>
        <p:nvSpPr>
          <p:cNvPr id="18" name="Shape 15"/>
          <p:cNvSpPr/>
          <p:nvPr/>
        </p:nvSpPr>
        <p:spPr>
          <a:xfrm>
            <a:off x="5852160" y="2788920"/>
            <a:ext cx="91440" cy="960120"/>
          </a:xfrm>
          <a:prstGeom prst="rect">
            <a:avLst/>
          </a:prstGeom>
          <a:solidFill>
            <a:srgbClr val="06B6D4"/>
          </a:solidFill>
          <a:ln w="12700">
            <a:solidFill>
              <a:srgbClr val="06B6D4"/>
            </a:solidFill>
            <a:prstDash val="solid"/>
          </a:ln>
        </p:spPr>
      </p:sp>
      <p:sp>
        <p:nvSpPr>
          <p:cNvPr id="19" name="Text 16"/>
          <p:cNvSpPr/>
          <p:nvPr/>
        </p:nvSpPr>
        <p:spPr>
          <a:xfrm>
            <a:off x="6035040" y="2880360"/>
            <a:ext cx="5486400" cy="36576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Traitements</a:t>
            </a:r>
            <a:endParaRPr lang="en-US" sz="1400" dirty="0"/>
          </a:p>
        </p:txBody>
      </p:sp>
      <p:sp>
        <p:nvSpPr>
          <p:cNvPr id="20" name="Text 17"/>
          <p:cNvSpPr/>
          <p:nvPr/>
        </p:nvSpPr>
        <p:spPr>
          <a:xfrm>
            <a:off x="6035040" y="3246120"/>
            <a:ext cx="54864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Algorithme principal et règles métier</a:t>
            </a:r>
            <a:endParaRPr lang="en-US" sz="1200" dirty="0"/>
          </a:p>
        </p:txBody>
      </p:sp>
      <p:sp>
        <p:nvSpPr>
          <p:cNvPr id="21" name="Shape 18"/>
          <p:cNvSpPr/>
          <p:nvPr/>
        </p:nvSpPr>
        <p:spPr>
          <a:xfrm>
            <a:off x="5852160" y="3931920"/>
            <a:ext cx="5760720" cy="960120"/>
          </a:xfrm>
          <a:prstGeom prst="roundRect">
            <a:avLst>
              <a:gd name="adj" fmla="val 9524"/>
            </a:avLst>
          </a:prstGeom>
          <a:solidFill>
            <a:srgbClr val="F8FAFC"/>
          </a:solidFill>
          <a:ln w="12700">
            <a:solidFill>
              <a:srgbClr val="E2E8F0"/>
            </a:solidFill>
            <a:prstDash val="solid"/>
          </a:ln>
        </p:spPr>
      </p:sp>
      <p:sp>
        <p:nvSpPr>
          <p:cNvPr id="22" name="Shape 19"/>
          <p:cNvSpPr/>
          <p:nvPr/>
        </p:nvSpPr>
        <p:spPr>
          <a:xfrm>
            <a:off x="5852160" y="3931920"/>
            <a:ext cx="91440" cy="960120"/>
          </a:xfrm>
          <a:prstGeom prst="rect">
            <a:avLst/>
          </a:prstGeom>
          <a:solidFill>
            <a:srgbClr val="F59E0B"/>
          </a:solidFill>
          <a:ln w="12700">
            <a:solidFill>
              <a:srgbClr val="F59E0B"/>
            </a:solidFill>
            <a:prstDash val="solid"/>
          </a:ln>
        </p:spPr>
      </p:sp>
      <p:sp>
        <p:nvSpPr>
          <p:cNvPr id="23" name="Text 20"/>
          <p:cNvSpPr/>
          <p:nvPr/>
        </p:nvSpPr>
        <p:spPr>
          <a:xfrm>
            <a:off x="6035040" y="4023360"/>
            <a:ext cx="5486400" cy="3657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Sorties</a:t>
            </a:r>
            <a:endParaRPr lang="en-US" sz="1400" dirty="0"/>
          </a:p>
        </p:txBody>
      </p:sp>
      <p:sp>
        <p:nvSpPr>
          <p:cNvPr id="24" name="Text 21"/>
          <p:cNvSpPr/>
          <p:nvPr/>
        </p:nvSpPr>
        <p:spPr>
          <a:xfrm>
            <a:off x="6035040" y="4389120"/>
            <a:ext cx="54864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Résultats formatés et transmis à la couche suivante</a:t>
            </a:r>
            <a:endParaRPr lang="en-US" sz="1200" dirty="0"/>
          </a:p>
        </p:txBody>
      </p:sp>
      <p:sp>
        <p:nvSpPr>
          <p:cNvPr id="25" name="Shape 22"/>
          <p:cNvSpPr/>
          <p:nvPr/>
        </p:nvSpPr>
        <p:spPr>
          <a:xfrm>
            <a:off x="5852160" y="5074920"/>
            <a:ext cx="5760720" cy="960120"/>
          </a:xfrm>
          <a:prstGeom prst="roundRect">
            <a:avLst>
              <a:gd name="adj" fmla="val 9524"/>
            </a:avLst>
          </a:prstGeom>
          <a:solidFill>
            <a:srgbClr val="F8FAFC"/>
          </a:solidFill>
          <a:ln w="12700">
            <a:solidFill>
              <a:srgbClr val="E2E8F0"/>
            </a:solidFill>
            <a:prstDash val="solid"/>
          </a:ln>
        </p:spPr>
      </p:sp>
      <p:sp>
        <p:nvSpPr>
          <p:cNvPr id="26" name="Shape 23"/>
          <p:cNvSpPr/>
          <p:nvPr/>
        </p:nvSpPr>
        <p:spPr>
          <a:xfrm>
            <a:off x="5852160" y="5074920"/>
            <a:ext cx="91440" cy="960120"/>
          </a:xfrm>
          <a:prstGeom prst="rect">
            <a:avLst/>
          </a:prstGeom>
          <a:solidFill>
            <a:srgbClr val="10B981"/>
          </a:solidFill>
          <a:ln w="12700">
            <a:solidFill>
              <a:srgbClr val="10B981"/>
            </a:solidFill>
            <a:prstDash val="solid"/>
          </a:ln>
        </p:spPr>
      </p:sp>
      <p:sp>
        <p:nvSpPr>
          <p:cNvPr id="27" name="Text 24"/>
          <p:cNvSpPr/>
          <p:nvPr/>
        </p:nvSpPr>
        <p:spPr>
          <a:xfrm>
            <a:off x="6035040" y="5166360"/>
            <a:ext cx="5486400" cy="36576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Interfaces</a:t>
            </a:r>
            <a:endParaRPr lang="en-US" sz="1400" dirty="0"/>
          </a:p>
        </p:txBody>
      </p:sp>
      <p:sp>
        <p:nvSpPr>
          <p:cNvPr id="28" name="Text 25"/>
          <p:cNvSpPr/>
          <p:nvPr/>
        </p:nvSpPr>
        <p:spPr>
          <a:xfrm>
            <a:off x="6035040" y="5532120"/>
            <a:ext cx="5486400" cy="50292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Points d'échange avec les autres modules</a:t>
            </a:r>
            <a:endParaRPr lang="en-US" sz="1200" dirty="0"/>
          </a:p>
        </p:txBody>
      </p:sp>
      <p:sp>
        <p:nvSpPr>
          <p:cNvPr id="29" name="Text 26"/>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30" name="Text 27"/>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 / 27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Conception détaillée — Module 2</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554480"/>
            <a:ext cx="5532120" cy="2240280"/>
          </a:xfrm>
          <a:prstGeom prst="roundRect">
            <a:avLst>
              <a:gd name="adj" fmla="val 5714"/>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8" name="Shape 6"/>
          <p:cNvSpPr/>
          <p:nvPr/>
        </p:nvSpPr>
        <p:spPr>
          <a:xfrm>
            <a:off x="868680" y="1874520"/>
            <a:ext cx="777240" cy="777240"/>
          </a:xfrm>
          <a:prstGeom prst="ellipse">
            <a:avLst/>
          </a:prstGeom>
          <a:solidFill>
            <a:srgbClr val="4F46E5"/>
          </a:solidFill>
          <a:ln w="12700">
            <a:solidFill>
              <a:srgbClr val="4F46E5"/>
            </a:solidFill>
            <a:prstDash val="solid"/>
          </a:ln>
        </p:spPr>
      </p:sp>
      <p:pic>
        <p:nvPicPr>
          <p:cNvPr id="9" name="Image 0" descr="preencoded.png">    </p:cNvPr>
          <p:cNvPicPr>
            <a:picLocks noChangeAspect="1"/>
          </p:cNvPicPr>
          <p:nvPr/>
        </p:nvPicPr>
        <p:blipFill>
          <a:blip r:embed="rId1"/>
          <a:stretch>
            <a:fillRect/>
          </a:stretch>
        </p:blipFill>
        <p:spPr>
          <a:xfrm>
            <a:off x="1051560" y="2057400"/>
            <a:ext cx="411480" cy="411480"/>
          </a:xfrm>
          <a:prstGeom prst="rect">
            <a:avLst/>
          </a:prstGeom>
        </p:spPr>
      </p:pic>
      <p:sp>
        <p:nvSpPr>
          <p:cNvPr id="10" name="Text 7"/>
          <p:cNvSpPr/>
          <p:nvPr/>
        </p:nvSpPr>
        <p:spPr>
          <a:xfrm>
            <a:off x="1828800" y="1965960"/>
            <a:ext cx="4069080" cy="50292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Logique principale</a:t>
            </a:r>
            <a:endParaRPr lang="en-US" sz="1700" dirty="0"/>
          </a:p>
        </p:txBody>
      </p:sp>
      <p:sp>
        <p:nvSpPr>
          <p:cNvPr id="11" name="Text 8"/>
          <p:cNvSpPr/>
          <p:nvPr/>
        </p:nvSpPr>
        <p:spPr>
          <a:xfrm>
            <a:off x="914400" y="2788920"/>
            <a:ext cx="4800600" cy="9144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Implémentation de l'algorithme central et des règles métier dérivées du cahier des charges.</a:t>
            </a:r>
            <a:endParaRPr lang="en-US" sz="1200" dirty="0"/>
          </a:p>
        </p:txBody>
      </p:sp>
      <p:sp>
        <p:nvSpPr>
          <p:cNvPr id="12" name="Shape 9"/>
          <p:cNvSpPr/>
          <p:nvPr/>
        </p:nvSpPr>
        <p:spPr>
          <a:xfrm>
            <a:off x="6245352" y="1554480"/>
            <a:ext cx="5532120" cy="2240280"/>
          </a:xfrm>
          <a:prstGeom prst="roundRect">
            <a:avLst>
              <a:gd name="adj" fmla="val 5714"/>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13" name="Shape 10"/>
          <p:cNvSpPr/>
          <p:nvPr/>
        </p:nvSpPr>
        <p:spPr>
          <a:xfrm>
            <a:off x="6565392" y="1874520"/>
            <a:ext cx="777240" cy="777240"/>
          </a:xfrm>
          <a:prstGeom prst="ellipse">
            <a:avLst/>
          </a:prstGeom>
          <a:solidFill>
            <a:srgbClr val="06B6D4"/>
          </a:solidFill>
          <a:ln w="12700">
            <a:solidFill>
              <a:srgbClr val="06B6D4"/>
            </a:solidFill>
            <a:prstDash val="solid"/>
          </a:ln>
        </p:spPr>
      </p:sp>
      <p:pic>
        <p:nvPicPr>
          <p:cNvPr id="14" name="Image 1" descr="preencoded.png">    </p:cNvPr>
          <p:cNvPicPr>
            <a:picLocks noChangeAspect="1"/>
          </p:cNvPicPr>
          <p:nvPr/>
        </p:nvPicPr>
        <p:blipFill>
          <a:blip r:embed="rId2"/>
          <a:stretch>
            <a:fillRect/>
          </a:stretch>
        </p:blipFill>
        <p:spPr>
          <a:xfrm>
            <a:off x="6748272" y="2057400"/>
            <a:ext cx="411480" cy="411480"/>
          </a:xfrm>
          <a:prstGeom prst="rect">
            <a:avLst/>
          </a:prstGeom>
        </p:spPr>
      </p:pic>
      <p:sp>
        <p:nvSpPr>
          <p:cNvPr id="15" name="Text 11"/>
          <p:cNvSpPr/>
          <p:nvPr/>
        </p:nvSpPr>
        <p:spPr>
          <a:xfrm>
            <a:off x="7525512" y="1965960"/>
            <a:ext cx="4069080" cy="50292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Gestion des données</a:t>
            </a:r>
            <a:endParaRPr lang="en-US" sz="1700" dirty="0"/>
          </a:p>
        </p:txBody>
      </p:sp>
      <p:sp>
        <p:nvSpPr>
          <p:cNvPr id="16" name="Text 12"/>
          <p:cNvSpPr/>
          <p:nvPr/>
        </p:nvSpPr>
        <p:spPr>
          <a:xfrm>
            <a:off x="6611112" y="2788920"/>
            <a:ext cx="4800600" cy="9144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Modèle de données, persistance et accès optimisés selon les cas d'usage.</a:t>
            </a:r>
            <a:endParaRPr lang="en-US" sz="1200" dirty="0"/>
          </a:p>
        </p:txBody>
      </p:sp>
      <p:sp>
        <p:nvSpPr>
          <p:cNvPr id="17" name="Shape 13"/>
          <p:cNvSpPr/>
          <p:nvPr/>
        </p:nvSpPr>
        <p:spPr>
          <a:xfrm>
            <a:off x="548640" y="3959352"/>
            <a:ext cx="5532120" cy="2240280"/>
          </a:xfrm>
          <a:prstGeom prst="roundRect">
            <a:avLst>
              <a:gd name="adj" fmla="val 5714"/>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18" name="Shape 14"/>
          <p:cNvSpPr/>
          <p:nvPr/>
        </p:nvSpPr>
        <p:spPr>
          <a:xfrm>
            <a:off x="868680" y="4279392"/>
            <a:ext cx="777240" cy="777240"/>
          </a:xfrm>
          <a:prstGeom prst="ellipse">
            <a:avLst/>
          </a:prstGeom>
          <a:solidFill>
            <a:srgbClr val="F59E0B"/>
          </a:solidFill>
          <a:ln w="12700">
            <a:solidFill>
              <a:srgbClr val="F59E0B"/>
            </a:solidFill>
            <a:prstDash val="solid"/>
          </a:ln>
        </p:spPr>
      </p:sp>
      <p:pic>
        <p:nvPicPr>
          <p:cNvPr id="19" name="Image 2" descr="preencoded.png">    </p:cNvPr>
          <p:cNvPicPr>
            <a:picLocks noChangeAspect="1"/>
          </p:cNvPicPr>
          <p:nvPr/>
        </p:nvPicPr>
        <p:blipFill>
          <a:blip r:embed="rId3"/>
          <a:stretch>
            <a:fillRect/>
          </a:stretch>
        </p:blipFill>
        <p:spPr>
          <a:xfrm>
            <a:off x="1051560" y="4462272"/>
            <a:ext cx="411480" cy="411480"/>
          </a:xfrm>
          <a:prstGeom prst="rect">
            <a:avLst/>
          </a:prstGeom>
        </p:spPr>
      </p:pic>
      <p:sp>
        <p:nvSpPr>
          <p:cNvPr id="20" name="Text 15"/>
          <p:cNvSpPr/>
          <p:nvPr/>
        </p:nvSpPr>
        <p:spPr>
          <a:xfrm>
            <a:off x="1828800" y="4370832"/>
            <a:ext cx="4069080" cy="50292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Performance</a:t>
            </a:r>
            <a:endParaRPr lang="en-US" sz="1700" dirty="0"/>
          </a:p>
        </p:txBody>
      </p:sp>
      <p:sp>
        <p:nvSpPr>
          <p:cNvPr id="21" name="Text 16"/>
          <p:cNvSpPr/>
          <p:nvPr/>
        </p:nvSpPr>
        <p:spPr>
          <a:xfrm>
            <a:off x="914400" y="5193792"/>
            <a:ext cx="4800600" cy="9144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Optimisations clés : caching, parallélisme, structures de données adaptées.</a:t>
            </a:r>
            <a:endParaRPr lang="en-US" sz="1200" dirty="0"/>
          </a:p>
        </p:txBody>
      </p:sp>
      <p:sp>
        <p:nvSpPr>
          <p:cNvPr id="22" name="Shape 17"/>
          <p:cNvSpPr/>
          <p:nvPr/>
        </p:nvSpPr>
        <p:spPr>
          <a:xfrm>
            <a:off x="6245352" y="3959352"/>
            <a:ext cx="5532120" cy="2240280"/>
          </a:xfrm>
          <a:prstGeom prst="roundRect">
            <a:avLst>
              <a:gd name="adj" fmla="val 5714"/>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23" name="Shape 18"/>
          <p:cNvSpPr/>
          <p:nvPr/>
        </p:nvSpPr>
        <p:spPr>
          <a:xfrm>
            <a:off x="6565392" y="4279392"/>
            <a:ext cx="777240" cy="777240"/>
          </a:xfrm>
          <a:prstGeom prst="ellipse">
            <a:avLst/>
          </a:prstGeom>
          <a:solidFill>
            <a:srgbClr val="10B981"/>
          </a:solidFill>
          <a:ln w="12700">
            <a:solidFill>
              <a:srgbClr val="10B981"/>
            </a:solidFill>
            <a:prstDash val="solid"/>
          </a:ln>
        </p:spPr>
      </p:sp>
      <p:pic>
        <p:nvPicPr>
          <p:cNvPr id="24" name="Image 3" descr="preencoded.png">    </p:cNvPr>
          <p:cNvPicPr>
            <a:picLocks noChangeAspect="1"/>
          </p:cNvPicPr>
          <p:nvPr/>
        </p:nvPicPr>
        <p:blipFill>
          <a:blip r:embed="rId4"/>
          <a:stretch>
            <a:fillRect/>
          </a:stretch>
        </p:blipFill>
        <p:spPr>
          <a:xfrm>
            <a:off x="6748272" y="4462272"/>
            <a:ext cx="411480" cy="411480"/>
          </a:xfrm>
          <a:prstGeom prst="rect">
            <a:avLst/>
          </a:prstGeom>
        </p:spPr>
      </p:pic>
      <p:sp>
        <p:nvSpPr>
          <p:cNvPr id="25" name="Text 19"/>
          <p:cNvSpPr/>
          <p:nvPr/>
        </p:nvSpPr>
        <p:spPr>
          <a:xfrm>
            <a:off x="7525512" y="4370832"/>
            <a:ext cx="4069080" cy="502920"/>
          </a:xfrm>
          <a:prstGeom prst="rect">
            <a:avLst/>
          </a:prstGeom>
          <a:noFill/>
          <a:ln/>
        </p:spPr>
        <p:txBody>
          <a:bodyPr wrap="square" lIns="0" tIns="0" rIns="0" bIns="0" rtlCol="0" anchor="ctr"/>
          <a:lstStyle/>
          <a:p>
            <a:pPr indent="0" marL="0">
              <a:buNone/>
            </a:pPr>
            <a:r>
              <a:rPr lang="en-US" sz="1700" b="1" dirty="0">
                <a:solidFill>
                  <a:srgbClr val="0F172A"/>
                </a:solidFill>
                <a:latin typeface="Calibri" pitchFamily="34" charset="0"/>
                <a:ea typeface="Calibri" pitchFamily="34" charset="-122"/>
                <a:cs typeface="Calibri" pitchFamily="34" charset="-120"/>
              </a:rPr>
              <a:t>Sécurité</a:t>
            </a:r>
            <a:endParaRPr lang="en-US" sz="1700" dirty="0"/>
          </a:p>
        </p:txBody>
      </p:sp>
      <p:sp>
        <p:nvSpPr>
          <p:cNvPr id="26" name="Text 20"/>
          <p:cNvSpPr/>
          <p:nvPr/>
        </p:nvSpPr>
        <p:spPr>
          <a:xfrm>
            <a:off x="6611112" y="5193792"/>
            <a:ext cx="4800600" cy="9144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Contrôles d'accès, validation des entrées et protection des données sensibles.</a:t>
            </a:r>
            <a:endParaRPr lang="en-US" sz="1200" dirty="0"/>
          </a:p>
        </p:txBody>
      </p:sp>
      <p:sp>
        <p:nvSpPr>
          <p:cNvPr id="27" name="Text 21"/>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8" name="Text 22"/>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 / 27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Outils et technologies utilisés</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645920"/>
            <a:ext cx="2788920" cy="2103120"/>
          </a:xfrm>
          <a:prstGeom prst="roundRect">
            <a:avLst>
              <a:gd name="adj" fmla="val 5217"/>
            </a:avLst>
          </a:prstGeom>
          <a:solidFill>
            <a:srgbClr val="F8FAFC"/>
          </a:solidFill>
          <a:ln w="12700">
            <a:solidFill>
              <a:srgbClr val="E2E8F0"/>
            </a:solidFill>
            <a:prstDash val="solid"/>
          </a:ln>
        </p:spPr>
      </p:sp>
      <p:sp>
        <p:nvSpPr>
          <p:cNvPr id="8" name="Shape 6"/>
          <p:cNvSpPr/>
          <p:nvPr/>
        </p:nvSpPr>
        <p:spPr>
          <a:xfrm>
            <a:off x="1485900" y="1965960"/>
            <a:ext cx="914400" cy="914400"/>
          </a:xfrm>
          <a:prstGeom prst="ellipse">
            <a:avLst/>
          </a:prstGeom>
          <a:solidFill>
            <a:srgbClr val="4F46E5"/>
          </a:solidFill>
          <a:ln w="12700">
            <a:solidFill>
              <a:srgbClr val="4F46E5"/>
            </a:solidFill>
            <a:prstDash val="solid"/>
          </a:ln>
        </p:spPr>
      </p:sp>
      <p:pic>
        <p:nvPicPr>
          <p:cNvPr id="9" name="Image 0" descr="preencoded.png">    </p:cNvPr>
          <p:cNvPicPr>
            <a:picLocks noChangeAspect="1"/>
          </p:cNvPicPr>
          <p:nvPr/>
        </p:nvPicPr>
        <p:blipFill>
          <a:blip r:embed="rId1"/>
          <a:stretch>
            <a:fillRect/>
          </a:stretch>
        </p:blipFill>
        <p:spPr>
          <a:xfrm>
            <a:off x="1691640" y="2171700"/>
            <a:ext cx="502920" cy="502920"/>
          </a:xfrm>
          <a:prstGeom prst="rect">
            <a:avLst/>
          </a:prstGeom>
        </p:spPr>
      </p:pic>
      <p:sp>
        <p:nvSpPr>
          <p:cNvPr id="10" name="Text 7"/>
          <p:cNvSpPr/>
          <p:nvPr/>
        </p:nvSpPr>
        <p:spPr>
          <a:xfrm>
            <a:off x="685800" y="2971800"/>
            <a:ext cx="2514600" cy="41148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Langage / Framework</a:t>
            </a:r>
            <a:endParaRPr lang="en-US" sz="1300" dirty="0"/>
          </a:p>
        </p:txBody>
      </p:sp>
      <p:sp>
        <p:nvSpPr>
          <p:cNvPr id="11" name="Text 8"/>
          <p:cNvSpPr/>
          <p:nvPr/>
        </p:nvSpPr>
        <p:spPr>
          <a:xfrm>
            <a:off x="685800" y="3337560"/>
            <a:ext cx="2514600" cy="32004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À préciser</a:t>
            </a:r>
            <a:endParaRPr lang="en-US" sz="1000" dirty="0"/>
          </a:p>
        </p:txBody>
      </p:sp>
      <p:sp>
        <p:nvSpPr>
          <p:cNvPr id="12" name="Shape 9"/>
          <p:cNvSpPr/>
          <p:nvPr/>
        </p:nvSpPr>
        <p:spPr>
          <a:xfrm>
            <a:off x="3502152" y="1645920"/>
            <a:ext cx="2788920" cy="2103120"/>
          </a:xfrm>
          <a:prstGeom prst="roundRect">
            <a:avLst>
              <a:gd name="adj" fmla="val 5217"/>
            </a:avLst>
          </a:prstGeom>
          <a:solidFill>
            <a:srgbClr val="F8FAFC"/>
          </a:solidFill>
          <a:ln w="12700">
            <a:solidFill>
              <a:srgbClr val="E2E8F0"/>
            </a:solidFill>
            <a:prstDash val="solid"/>
          </a:ln>
        </p:spPr>
      </p:sp>
      <p:sp>
        <p:nvSpPr>
          <p:cNvPr id="13" name="Shape 10"/>
          <p:cNvSpPr/>
          <p:nvPr/>
        </p:nvSpPr>
        <p:spPr>
          <a:xfrm>
            <a:off x="4439412" y="1965960"/>
            <a:ext cx="914400" cy="914400"/>
          </a:xfrm>
          <a:prstGeom prst="ellipse">
            <a:avLst/>
          </a:prstGeom>
          <a:solidFill>
            <a:srgbClr val="06B6D4"/>
          </a:solidFill>
          <a:ln w="12700">
            <a:solidFill>
              <a:srgbClr val="06B6D4"/>
            </a:solidFill>
            <a:prstDash val="solid"/>
          </a:ln>
        </p:spPr>
      </p:sp>
      <p:pic>
        <p:nvPicPr>
          <p:cNvPr id="14" name="Image 1" descr="preencoded.png">    </p:cNvPr>
          <p:cNvPicPr>
            <a:picLocks noChangeAspect="1"/>
          </p:cNvPicPr>
          <p:nvPr/>
        </p:nvPicPr>
        <p:blipFill>
          <a:blip r:embed="rId2"/>
          <a:stretch>
            <a:fillRect/>
          </a:stretch>
        </p:blipFill>
        <p:spPr>
          <a:xfrm>
            <a:off x="4645152" y="2171700"/>
            <a:ext cx="502920" cy="502920"/>
          </a:xfrm>
          <a:prstGeom prst="rect">
            <a:avLst/>
          </a:prstGeom>
        </p:spPr>
      </p:pic>
      <p:sp>
        <p:nvSpPr>
          <p:cNvPr id="15" name="Text 11"/>
          <p:cNvSpPr/>
          <p:nvPr/>
        </p:nvSpPr>
        <p:spPr>
          <a:xfrm>
            <a:off x="3639312" y="2971800"/>
            <a:ext cx="2514600" cy="41148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Base de données</a:t>
            </a:r>
            <a:endParaRPr lang="en-US" sz="1300" dirty="0"/>
          </a:p>
        </p:txBody>
      </p:sp>
      <p:sp>
        <p:nvSpPr>
          <p:cNvPr id="16" name="Text 12"/>
          <p:cNvSpPr/>
          <p:nvPr/>
        </p:nvSpPr>
        <p:spPr>
          <a:xfrm>
            <a:off x="3639312" y="3337560"/>
            <a:ext cx="2514600" cy="32004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À préciser</a:t>
            </a:r>
            <a:endParaRPr lang="en-US" sz="1000" dirty="0"/>
          </a:p>
        </p:txBody>
      </p:sp>
      <p:sp>
        <p:nvSpPr>
          <p:cNvPr id="17" name="Shape 13"/>
          <p:cNvSpPr/>
          <p:nvPr/>
        </p:nvSpPr>
        <p:spPr>
          <a:xfrm>
            <a:off x="6455664" y="1645920"/>
            <a:ext cx="2788920" cy="2103120"/>
          </a:xfrm>
          <a:prstGeom prst="roundRect">
            <a:avLst>
              <a:gd name="adj" fmla="val 5217"/>
            </a:avLst>
          </a:prstGeom>
          <a:solidFill>
            <a:srgbClr val="F8FAFC"/>
          </a:solidFill>
          <a:ln w="12700">
            <a:solidFill>
              <a:srgbClr val="E2E8F0"/>
            </a:solidFill>
            <a:prstDash val="solid"/>
          </a:ln>
        </p:spPr>
      </p:sp>
      <p:sp>
        <p:nvSpPr>
          <p:cNvPr id="18" name="Shape 14"/>
          <p:cNvSpPr/>
          <p:nvPr/>
        </p:nvSpPr>
        <p:spPr>
          <a:xfrm>
            <a:off x="7392924" y="1965960"/>
            <a:ext cx="914400" cy="914400"/>
          </a:xfrm>
          <a:prstGeom prst="ellipse">
            <a:avLst/>
          </a:prstGeom>
          <a:solidFill>
            <a:srgbClr val="F59E0B"/>
          </a:solidFill>
          <a:ln w="12700">
            <a:solidFill>
              <a:srgbClr val="F59E0B"/>
            </a:solidFill>
            <a:prstDash val="solid"/>
          </a:ln>
        </p:spPr>
      </p:sp>
      <p:pic>
        <p:nvPicPr>
          <p:cNvPr id="19" name="Image 2" descr="preencoded.png">    </p:cNvPr>
          <p:cNvPicPr>
            <a:picLocks noChangeAspect="1"/>
          </p:cNvPicPr>
          <p:nvPr/>
        </p:nvPicPr>
        <p:blipFill>
          <a:blip r:embed="rId3"/>
          <a:stretch>
            <a:fillRect/>
          </a:stretch>
        </p:blipFill>
        <p:spPr>
          <a:xfrm>
            <a:off x="7598664" y="2171700"/>
            <a:ext cx="502920" cy="502920"/>
          </a:xfrm>
          <a:prstGeom prst="rect">
            <a:avLst/>
          </a:prstGeom>
        </p:spPr>
      </p:pic>
      <p:sp>
        <p:nvSpPr>
          <p:cNvPr id="20" name="Text 15"/>
          <p:cNvSpPr/>
          <p:nvPr/>
        </p:nvSpPr>
        <p:spPr>
          <a:xfrm>
            <a:off x="6592824" y="2971800"/>
            <a:ext cx="2514600" cy="41148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Plateforme / Cloud</a:t>
            </a:r>
            <a:endParaRPr lang="en-US" sz="1300" dirty="0"/>
          </a:p>
        </p:txBody>
      </p:sp>
      <p:sp>
        <p:nvSpPr>
          <p:cNvPr id="21" name="Text 16"/>
          <p:cNvSpPr/>
          <p:nvPr/>
        </p:nvSpPr>
        <p:spPr>
          <a:xfrm>
            <a:off x="6592824" y="3337560"/>
            <a:ext cx="2514600" cy="32004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À préciser</a:t>
            </a:r>
            <a:endParaRPr lang="en-US" sz="1000" dirty="0"/>
          </a:p>
        </p:txBody>
      </p:sp>
      <p:sp>
        <p:nvSpPr>
          <p:cNvPr id="22" name="Shape 17"/>
          <p:cNvSpPr/>
          <p:nvPr/>
        </p:nvSpPr>
        <p:spPr>
          <a:xfrm>
            <a:off x="9409176" y="1645920"/>
            <a:ext cx="2788920" cy="2103120"/>
          </a:xfrm>
          <a:prstGeom prst="roundRect">
            <a:avLst>
              <a:gd name="adj" fmla="val 5217"/>
            </a:avLst>
          </a:prstGeom>
          <a:solidFill>
            <a:srgbClr val="F8FAFC"/>
          </a:solidFill>
          <a:ln w="12700">
            <a:solidFill>
              <a:srgbClr val="E2E8F0"/>
            </a:solidFill>
            <a:prstDash val="solid"/>
          </a:ln>
        </p:spPr>
      </p:sp>
      <p:sp>
        <p:nvSpPr>
          <p:cNvPr id="23" name="Shape 18"/>
          <p:cNvSpPr/>
          <p:nvPr/>
        </p:nvSpPr>
        <p:spPr>
          <a:xfrm>
            <a:off x="10346436" y="1965960"/>
            <a:ext cx="914400" cy="914400"/>
          </a:xfrm>
          <a:prstGeom prst="ellipse">
            <a:avLst/>
          </a:prstGeom>
          <a:solidFill>
            <a:srgbClr val="10B981"/>
          </a:solidFill>
          <a:ln w="12700">
            <a:solidFill>
              <a:srgbClr val="10B981"/>
            </a:solidFill>
            <a:prstDash val="solid"/>
          </a:ln>
        </p:spPr>
      </p:sp>
      <p:pic>
        <p:nvPicPr>
          <p:cNvPr id="24" name="Image 3" descr="preencoded.png">    </p:cNvPr>
          <p:cNvPicPr>
            <a:picLocks noChangeAspect="1"/>
          </p:cNvPicPr>
          <p:nvPr/>
        </p:nvPicPr>
        <p:blipFill>
          <a:blip r:embed="rId4"/>
          <a:stretch>
            <a:fillRect/>
          </a:stretch>
        </p:blipFill>
        <p:spPr>
          <a:xfrm>
            <a:off x="10552176" y="2171700"/>
            <a:ext cx="502920" cy="502920"/>
          </a:xfrm>
          <a:prstGeom prst="rect">
            <a:avLst/>
          </a:prstGeom>
        </p:spPr>
      </p:pic>
      <p:sp>
        <p:nvSpPr>
          <p:cNvPr id="25" name="Text 19"/>
          <p:cNvSpPr/>
          <p:nvPr/>
        </p:nvSpPr>
        <p:spPr>
          <a:xfrm>
            <a:off x="9546336" y="2971800"/>
            <a:ext cx="2514600" cy="41148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Réseau / Protocoles</a:t>
            </a:r>
            <a:endParaRPr lang="en-US" sz="1300" dirty="0"/>
          </a:p>
        </p:txBody>
      </p:sp>
      <p:sp>
        <p:nvSpPr>
          <p:cNvPr id="26" name="Text 20"/>
          <p:cNvSpPr/>
          <p:nvPr/>
        </p:nvSpPr>
        <p:spPr>
          <a:xfrm>
            <a:off x="9546336" y="3337560"/>
            <a:ext cx="2514600" cy="32004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À préciser</a:t>
            </a:r>
            <a:endParaRPr lang="en-US" sz="1000" dirty="0"/>
          </a:p>
        </p:txBody>
      </p:sp>
      <p:sp>
        <p:nvSpPr>
          <p:cNvPr id="27" name="Shape 21"/>
          <p:cNvSpPr/>
          <p:nvPr/>
        </p:nvSpPr>
        <p:spPr>
          <a:xfrm>
            <a:off x="548640" y="3913632"/>
            <a:ext cx="2788920" cy="2103120"/>
          </a:xfrm>
          <a:prstGeom prst="roundRect">
            <a:avLst>
              <a:gd name="adj" fmla="val 5217"/>
            </a:avLst>
          </a:prstGeom>
          <a:solidFill>
            <a:srgbClr val="F8FAFC"/>
          </a:solidFill>
          <a:ln w="12700">
            <a:solidFill>
              <a:srgbClr val="E2E8F0"/>
            </a:solidFill>
            <a:prstDash val="solid"/>
          </a:ln>
        </p:spPr>
      </p:sp>
      <p:sp>
        <p:nvSpPr>
          <p:cNvPr id="28" name="Shape 22"/>
          <p:cNvSpPr/>
          <p:nvPr/>
        </p:nvSpPr>
        <p:spPr>
          <a:xfrm>
            <a:off x="1485900" y="4233672"/>
            <a:ext cx="914400" cy="914400"/>
          </a:xfrm>
          <a:prstGeom prst="ellipse">
            <a:avLst/>
          </a:prstGeom>
          <a:solidFill>
            <a:srgbClr val="EC4899"/>
          </a:solidFill>
          <a:ln w="12700">
            <a:solidFill>
              <a:srgbClr val="EC4899"/>
            </a:solidFill>
            <a:prstDash val="solid"/>
          </a:ln>
        </p:spPr>
      </p:sp>
      <p:pic>
        <p:nvPicPr>
          <p:cNvPr id="29" name="Image 4" descr="preencoded.png">    </p:cNvPr>
          <p:cNvPicPr>
            <a:picLocks noChangeAspect="1"/>
          </p:cNvPicPr>
          <p:nvPr/>
        </p:nvPicPr>
        <p:blipFill>
          <a:blip r:embed="rId5"/>
          <a:stretch>
            <a:fillRect/>
          </a:stretch>
        </p:blipFill>
        <p:spPr>
          <a:xfrm>
            <a:off x="1691640" y="4439412"/>
            <a:ext cx="502920" cy="502920"/>
          </a:xfrm>
          <a:prstGeom prst="rect">
            <a:avLst/>
          </a:prstGeom>
        </p:spPr>
      </p:pic>
      <p:sp>
        <p:nvSpPr>
          <p:cNvPr id="30" name="Text 23"/>
          <p:cNvSpPr/>
          <p:nvPr/>
        </p:nvSpPr>
        <p:spPr>
          <a:xfrm>
            <a:off x="685800" y="5239512"/>
            <a:ext cx="2514600" cy="41148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Outils de dév.</a:t>
            </a:r>
            <a:endParaRPr lang="en-US" sz="1300" dirty="0"/>
          </a:p>
        </p:txBody>
      </p:sp>
      <p:sp>
        <p:nvSpPr>
          <p:cNvPr id="31" name="Text 24"/>
          <p:cNvSpPr/>
          <p:nvPr/>
        </p:nvSpPr>
        <p:spPr>
          <a:xfrm>
            <a:off x="685800" y="5605272"/>
            <a:ext cx="2514600" cy="32004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À préciser</a:t>
            </a:r>
            <a:endParaRPr lang="en-US" sz="1000" dirty="0"/>
          </a:p>
        </p:txBody>
      </p:sp>
      <p:sp>
        <p:nvSpPr>
          <p:cNvPr id="32" name="Shape 25"/>
          <p:cNvSpPr/>
          <p:nvPr/>
        </p:nvSpPr>
        <p:spPr>
          <a:xfrm>
            <a:off x="3502152" y="3913632"/>
            <a:ext cx="2788920" cy="2103120"/>
          </a:xfrm>
          <a:prstGeom prst="roundRect">
            <a:avLst>
              <a:gd name="adj" fmla="val 5217"/>
            </a:avLst>
          </a:prstGeom>
          <a:solidFill>
            <a:srgbClr val="F8FAFC"/>
          </a:solidFill>
          <a:ln w="12700">
            <a:solidFill>
              <a:srgbClr val="E2E8F0"/>
            </a:solidFill>
            <a:prstDash val="solid"/>
          </a:ln>
        </p:spPr>
      </p:sp>
      <p:sp>
        <p:nvSpPr>
          <p:cNvPr id="33" name="Shape 26"/>
          <p:cNvSpPr/>
          <p:nvPr/>
        </p:nvSpPr>
        <p:spPr>
          <a:xfrm>
            <a:off x="4439412" y="4233672"/>
            <a:ext cx="914400" cy="914400"/>
          </a:xfrm>
          <a:prstGeom prst="ellipse">
            <a:avLst/>
          </a:prstGeom>
          <a:solidFill>
            <a:srgbClr val="3730A3"/>
          </a:solidFill>
          <a:ln w="12700">
            <a:solidFill>
              <a:srgbClr val="3730A3"/>
            </a:solidFill>
            <a:prstDash val="solid"/>
          </a:ln>
        </p:spPr>
      </p:sp>
      <p:pic>
        <p:nvPicPr>
          <p:cNvPr id="34" name="Image 5" descr="preencoded.png">    </p:cNvPr>
          <p:cNvPicPr>
            <a:picLocks noChangeAspect="1"/>
          </p:cNvPicPr>
          <p:nvPr/>
        </p:nvPicPr>
        <p:blipFill>
          <a:blip r:embed="rId6"/>
          <a:stretch>
            <a:fillRect/>
          </a:stretch>
        </p:blipFill>
        <p:spPr>
          <a:xfrm>
            <a:off x="4645152" y="4439412"/>
            <a:ext cx="502920" cy="502920"/>
          </a:xfrm>
          <a:prstGeom prst="rect">
            <a:avLst/>
          </a:prstGeom>
        </p:spPr>
      </p:pic>
      <p:sp>
        <p:nvSpPr>
          <p:cNvPr id="35" name="Text 27"/>
          <p:cNvSpPr/>
          <p:nvPr/>
        </p:nvSpPr>
        <p:spPr>
          <a:xfrm>
            <a:off x="3639312" y="5239512"/>
            <a:ext cx="2514600" cy="41148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Matériel / Hardware</a:t>
            </a:r>
            <a:endParaRPr lang="en-US" sz="1300" dirty="0"/>
          </a:p>
        </p:txBody>
      </p:sp>
      <p:sp>
        <p:nvSpPr>
          <p:cNvPr id="36" name="Text 28"/>
          <p:cNvSpPr/>
          <p:nvPr/>
        </p:nvSpPr>
        <p:spPr>
          <a:xfrm>
            <a:off x="3639312" y="5605272"/>
            <a:ext cx="2514600" cy="32004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À préciser</a:t>
            </a:r>
            <a:endParaRPr lang="en-US" sz="1000" dirty="0"/>
          </a:p>
        </p:txBody>
      </p:sp>
      <p:sp>
        <p:nvSpPr>
          <p:cNvPr id="37" name="Shape 29"/>
          <p:cNvSpPr/>
          <p:nvPr/>
        </p:nvSpPr>
        <p:spPr>
          <a:xfrm>
            <a:off x="6455664" y="3913632"/>
            <a:ext cx="2788920" cy="2103120"/>
          </a:xfrm>
          <a:prstGeom prst="roundRect">
            <a:avLst>
              <a:gd name="adj" fmla="val 5217"/>
            </a:avLst>
          </a:prstGeom>
          <a:solidFill>
            <a:srgbClr val="F8FAFC"/>
          </a:solidFill>
          <a:ln w="12700">
            <a:solidFill>
              <a:srgbClr val="E2E8F0"/>
            </a:solidFill>
            <a:prstDash val="solid"/>
          </a:ln>
        </p:spPr>
      </p:sp>
      <p:sp>
        <p:nvSpPr>
          <p:cNvPr id="38" name="Shape 30"/>
          <p:cNvSpPr/>
          <p:nvPr/>
        </p:nvSpPr>
        <p:spPr>
          <a:xfrm>
            <a:off x="7392924" y="4233672"/>
            <a:ext cx="914400" cy="914400"/>
          </a:xfrm>
          <a:prstGeom prst="ellipse">
            <a:avLst/>
          </a:prstGeom>
          <a:solidFill>
            <a:srgbClr val="0E7490"/>
          </a:solidFill>
          <a:ln w="12700">
            <a:solidFill>
              <a:srgbClr val="0E7490"/>
            </a:solidFill>
            <a:prstDash val="solid"/>
          </a:ln>
        </p:spPr>
      </p:sp>
      <p:pic>
        <p:nvPicPr>
          <p:cNvPr id="39" name="Image 6" descr="preencoded.png">    </p:cNvPr>
          <p:cNvPicPr>
            <a:picLocks noChangeAspect="1"/>
          </p:cNvPicPr>
          <p:nvPr/>
        </p:nvPicPr>
        <p:blipFill>
          <a:blip r:embed="rId7"/>
          <a:stretch>
            <a:fillRect/>
          </a:stretch>
        </p:blipFill>
        <p:spPr>
          <a:xfrm>
            <a:off x="7598664" y="4439412"/>
            <a:ext cx="502920" cy="502920"/>
          </a:xfrm>
          <a:prstGeom prst="rect">
            <a:avLst/>
          </a:prstGeom>
        </p:spPr>
      </p:pic>
      <p:sp>
        <p:nvSpPr>
          <p:cNvPr id="40" name="Text 31"/>
          <p:cNvSpPr/>
          <p:nvPr/>
        </p:nvSpPr>
        <p:spPr>
          <a:xfrm>
            <a:off x="6592824" y="5239512"/>
            <a:ext cx="2514600" cy="41148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Tests &amp; QA</a:t>
            </a:r>
            <a:endParaRPr lang="en-US" sz="1300" dirty="0"/>
          </a:p>
        </p:txBody>
      </p:sp>
      <p:sp>
        <p:nvSpPr>
          <p:cNvPr id="41" name="Text 32"/>
          <p:cNvSpPr/>
          <p:nvPr/>
        </p:nvSpPr>
        <p:spPr>
          <a:xfrm>
            <a:off x="6592824" y="5605272"/>
            <a:ext cx="2514600" cy="32004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À préciser</a:t>
            </a:r>
            <a:endParaRPr lang="en-US" sz="1000" dirty="0"/>
          </a:p>
        </p:txBody>
      </p:sp>
      <p:sp>
        <p:nvSpPr>
          <p:cNvPr id="42" name="Shape 33"/>
          <p:cNvSpPr/>
          <p:nvPr/>
        </p:nvSpPr>
        <p:spPr>
          <a:xfrm>
            <a:off x="9409176" y="3913632"/>
            <a:ext cx="2788920" cy="2103120"/>
          </a:xfrm>
          <a:prstGeom prst="roundRect">
            <a:avLst>
              <a:gd name="adj" fmla="val 5217"/>
            </a:avLst>
          </a:prstGeom>
          <a:solidFill>
            <a:srgbClr val="F8FAFC"/>
          </a:solidFill>
          <a:ln w="12700">
            <a:solidFill>
              <a:srgbClr val="E2E8F0"/>
            </a:solidFill>
            <a:prstDash val="solid"/>
          </a:ln>
        </p:spPr>
      </p:sp>
      <p:sp>
        <p:nvSpPr>
          <p:cNvPr id="43" name="Shape 34"/>
          <p:cNvSpPr/>
          <p:nvPr/>
        </p:nvSpPr>
        <p:spPr>
          <a:xfrm>
            <a:off x="10346436" y="4233672"/>
            <a:ext cx="914400" cy="914400"/>
          </a:xfrm>
          <a:prstGeom prst="ellipse">
            <a:avLst/>
          </a:prstGeom>
          <a:solidFill>
            <a:srgbClr val="B45309"/>
          </a:solidFill>
          <a:ln w="12700">
            <a:solidFill>
              <a:srgbClr val="B45309"/>
            </a:solidFill>
            <a:prstDash val="solid"/>
          </a:ln>
        </p:spPr>
      </p:sp>
      <p:pic>
        <p:nvPicPr>
          <p:cNvPr id="44" name="Image 7" descr="preencoded.png">    </p:cNvPr>
          <p:cNvPicPr>
            <a:picLocks noChangeAspect="1"/>
          </p:cNvPicPr>
          <p:nvPr/>
        </p:nvPicPr>
        <p:blipFill>
          <a:blip r:embed="rId8"/>
          <a:stretch>
            <a:fillRect/>
          </a:stretch>
        </p:blipFill>
        <p:spPr>
          <a:xfrm>
            <a:off x="10552176" y="4439412"/>
            <a:ext cx="502920" cy="502920"/>
          </a:xfrm>
          <a:prstGeom prst="rect">
            <a:avLst/>
          </a:prstGeom>
        </p:spPr>
      </p:pic>
      <p:sp>
        <p:nvSpPr>
          <p:cNvPr id="45" name="Text 35"/>
          <p:cNvSpPr/>
          <p:nvPr/>
        </p:nvSpPr>
        <p:spPr>
          <a:xfrm>
            <a:off x="9546336" y="5239512"/>
            <a:ext cx="2514600" cy="411480"/>
          </a:xfrm>
          <a:prstGeom prst="rect">
            <a:avLst/>
          </a:prstGeom>
          <a:noFill/>
          <a:ln/>
        </p:spPr>
        <p:txBody>
          <a:bodyPr wrap="square" lIns="0" tIns="0" rIns="0" bIns="0" rtlCol="0" anchor="ctr"/>
          <a:lstStyle/>
          <a:p>
            <a:pPr algn="ctr" indent="0" marL="0">
              <a:buNone/>
            </a:pPr>
            <a:r>
              <a:rPr lang="en-US" sz="1300" b="1" dirty="0">
                <a:solidFill>
                  <a:srgbClr val="0F172A"/>
                </a:solidFill>
                <a:latin typeface="Calibri" pitchFamily="34" charset="0"/>
                <a:ea typeface="Calibri" pitchFamily="34" charset="-122"/>
                <a:cs typeface="Calibri" pitchFamily="34" charset="-120"/>
              </a:rPr>
              <a:t>Bibliothèques</a:t>
            </a:r>
            <a:endParaRPr lang="en-US" sz="1300" dirty="0"/>
          </a:p>
        </p:txBody>
      </p:sp>
      <p:sp>
        <p:nvSpPr>
          <p:cNvPr id="46" name="Text 36"/>
          <p:cNvSpPr/>
          <p:nvPr/>
        </p:nvSpPr>
        <p:spPr>
          <a:xfrm>
            <a:off x="9546336" y="5605272"/>
            <a:ext cx="2514600" cy="32004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À préciser</a:t>
            </a:r>
            <a:endParaRPr lang="en-US" sz="1000" dirty="0"/>
          </a:p>
        </p:txBody>
      </p:sp>
      <p:sp>
        <p:nvSpPr>
          <p:cNvPr id="47" name="Text 37"/>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48" name="Text 38"/>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 / 27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Phase de réalisation — Étape 1</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554480"/>
            <a:ext cx="1828800" cy="1828800"/>
          </a:xfrm>
          <a:prstGeom prst="roundRect">
            <a:avLst>
              <a:gd name="adj" fmla="val 7000"/>
            </a:avLst>
          </a:prstGeom>
          <a:solidFill>
            <a:srgbClr val="4F46E5"/>
          </a:solidFill>
          <a:ln w="12700">
            <a:solidFill>
              <a:srgbClr val="4F46E5"/>
            </a:solidFill>
            <a:prstDash val="solid"/>
          </a:ln>
        </p:spPr>
      </p:sp>
      <p:sp>
        <p:nvSpPr>
          <p:cNvPr id="8" name="Text 6"/>
          <p:cNvSpPr/>
          <p:nvPr/>
        </p:nvSpPr>
        <p:spPr>
          <a:xfrm>
            <a:off x="548640" y="1554480"/>
            <a:ext cx="1828800" cy="1828800"/>
          </a:xfrm>
          <a:prstGeom prst="rect">
            <a:avLst/>
          </a:prstGeom>
          <a:noFill/>
          <a:ln/>
        </p:spPr>
        <p:txBody>
          <a:bodyPr wrap="square" lIns="0" tIns="0" rIns="0" bIns="0" rtlCol="0" anchor="ctr"/>
          <a:lstStyle/>
          <a:p>
            <a:pPr algn="ctr" indent="0" marL="0">
              <a:buNone/>
            </a:pPr>
            <a:r>
              <a:rPr lang="en-US" sz="7000" b="1" dirty="0">
                <a:solidFill>
                  <a:srgbClr val="FFFFFF"/>
                </a:solidFill>
                <a:latin typeface="Calibri" pitchFamily="34" charset="0"/>
                <a:ea typeface="Calibri" pitchFamily="34" charset="-122"/>
                <a:cs typeface="Calibri" pitchFamily="34" charset="-120"/>
              </a:rPr>
              <a:t>01</a:t>
            </a:r>
            <a:endParaRPr lang="en-US" sz="7000" dirty="0"/>
          </a:p>
        </p:txBody>
      </p:sp>
      <p:sp>
        <p:nvSpPr>
          <p:cNvPr id="9" name="Text 7"/>
          <p:cNvSpPr/>
          <p:nvPr/>
        </p:nvSpPr>
        <p:spPr>
          <a:xfrm>
            <a:off x="2606040" y="1645920"/>
            <a:ext cx="896112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Mise en place de l'environnement</a:t>
            </a:r>
            <a:endParaRPr lang="en-US" sz="2200" dirty="0"/>
          </a:p>
        </p:txBody>
      </p:sp>
      <p:sp>
        <p:nvSpPr>
          <p:cNvPr id="10" name="Text 8"/>
          <p:cNvSpPr/>
          <p:nvPr/>
        </p:nvSpPr>
        <p:spPr>
          <a:xfrm>
            <a:off x="2606040" y="2148840"/>
            <a:ext cx="896112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Préparation des outils, configuration des dépendances et création du squelette du projet.</a:t>
            </a:r>
            <a:endParaRPr lang="en-US" sz="1400" dirty="0"/>
          </a:p>
        </p:txBody>
      </p:sp>
      <p:sp>
        <p:nvSpPr>
          <p:cNvPr id="11" name="Shape 9"/>
          <p:cNvSpPr/>
          <p:nvPr/>
        </p:nvSpPr>
        <p:spPr>
          <a:xfrm>
            <a:off x="640080" y="3703320"/>
            <a:ext cx="365760" cy="365760"/>
          </a:xfrm>
          <a:prstGeom prst="ellipse">
            <a:avLst/>
          </a:prstGeom>
          <a:solidFill>
            <a:srgbClr val="10B981"/>
          </a:solidFill>
          <a:ln w="12700">
            <a:solidFill>
              <a:srgbClr val="10B981"/>
            </a:solidFill>
            <a:prstDash val="solid"/>
          </a:ln>
        </p:spPr>
      </p:sp>
      <p:pic>
        <p:nvPicPr>
          <p:cNvPr id="12" name="Image 0" descr="preencoded.png">    </p:cNvPr>
          <p:cNvPicPr>
            <a:picLocks noChangeAspect="1"/>
          </p:cNvPicPr>
          <p:nvPr/>
        </p:nvPicPr>
        <p:blipFill>
          <a:blip r:embed="rId1"/>
          <a:stretch>
            <a:fillRect/>
          </a:stretch>
        </p:blipFill>
        <p:spPr>
          <a:xfrm>
            <a:off x="713232" y="3776472"/>
            <a:ext cx="219456" cy="219456"/>
          </a:xfrm>
          <a:prstGeom prst="rect">
            <a:avLst/>
          </a:prstGeom>
        </p:spPr>
      </p:pic>
      <p:sp>
        <p:nvSpPr>
          <p:cNvPr id="13" name="Text 10"/>
          <p:cNvSpPr/>
          <p:nvPr/>
        </p:nvSpPr>
        <p:spPr>
          <a:xfrm>
            <a:off x="1188720" y="3657600"/>
            <a:ext cx="1042416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Installation et configuration des environnements de développement</a:t>
            </a:r>
            <a:endParaRPr lang="en-US" sz="1400" dirty="0"/>
          </a:p>
        </p:txBody>
      </p:sp>
      <p:sp>
        <p:nvSpPr>
          <p:cNvPr id="14" name="Shape 11"/>
          <p:cNvSpPr/>
          <p:nvPr/>
        </p:nvSpPr>
        <p:spPr>
          <a:xfrm>
            <a:off x="640080" y="4343400"/>
            <a:ext cx="365760" cy="365760"/>
          </a:xfrm>
          <a:prstGeom prst="ellipse">
            <a:avLst/>
          </a:prstGeom>
          <a:solidFill>
            <a:srgbClr val="10B981"/>
          </a:solidFill>
          <a:ln w="12700">
            <a:solidFill>
              <a:srgbClr val="10B981"/>
            </a:solidFill>
            <a:prstDash val="solid"/>
          </a:ln>
        </p:spPr>
      </p:sp>
      <p:pic>
        <p:nvPicPr>
          <p:cNvPr id="15" name="Image 1" descr="preencoded.png">    </p:cNvPr>
          <p:cNvPicPr>
            <a:picLocks noChangeAspect="1"/>
          </p:cNvPicPr>
          <p:nvPr/>
        </p:nvPicPr>
        <p:blipFill>
          <a:blip r:embed="rId2"/>
          <a:stretch>
            <a:fillRect/>
          </a:stretch>
        </p:blipFill>
        <p:spPr>
          <a:xfrm>
            <a:off x="713232" y="4416552"/>
            <a:ext cx="219456" cy="219456"/>
          </a:xfrm>
          <a:prstGeom prst="rect">
            <a:avLst/>
          </a:prstGeom>
        </p:spPr>
      </p:pic>
      <p:sp>
        <p:nvSpPr>
          <p:cNvPr id="16" name="Text 12"/>
          <p:cNvSpPr/>
          <p:nvPr/>
        </p:nvSpPr>
        <p:spPr>
          <a:xfrm>
            <a:off x="1188720" y="4297680"/>
            <a:ext cx="1042416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Initialisation du dépôt de code et mise en place du contrôle de version</a:t>
            </a:r>
            <a:endParaRPr lang="en-US" sz="1400" dirty="0"/>
          </a:p>
        </p:txBody>
      </p:sp>
      <p:sp>
        <p:nvSpPr>
          <p:cNvPr id="17" name="Shape 13"/>
          <p:cNvSpPr/>
          <p:nvPr/>
        </p:nvSpPr>
        <p:spPr>
          <a:xfrm>
            <a:off x="640080" y="4983480"/>
            <a:ext cx="365760" cy="365760"/>
          </a:xfrm>
          <a:prstGeom prst="ellipse">
            <a:avLst/>
          </a:prstGeom>
          <a:solidFill>
            <a:srgbClr val="10B981"/>
          </a:solidFill>
          <a:ln w="12700">
            <a:solidFill>
              <a:srgbClr val="10B981"/>
            </a:solidFill>
            <a:prstDash val="solid"/>
          </a:ln>
        </p:spPr>
      </p:sp>
      <p:pic>
        <p:nvPicPr>
          <p:cNvPr id="18" name="Image 2" descr="preencoded.png">    </p:cNvPr>
          <p:cNvPicPr>
            <a:picLocks noChangeAspect="1"/>
          </p:cNvPicPr>
          <p:nvPr/>
        </p:nvPicPr>
        <p:blipFill>
          <a:blip r:embed="rId3"/>
          <a:stretch>
            <a:fillRect/>
          </a:stretch>
        </p:blipFill>
        <p:spPr>
          <a:xfrm>
            <a:off x="713232" y="5056632"/>
            <a:ext cx="219456" cy="219456"/>
          </a:xfrm>
          <a:prstGeom prst="rect">
            <a:avLst/>
          </a:prstGeom>
        </p:spPr>
      </p:pic>
      <p:sp>
        <p:nvSpPr>
          <p:cNvPr id="19" name="Text 14"/>
          <p:cNvSpPr/>
          <p:nvPr/>
        </p:nvSpPr>
        <p:spPr>
          <a:xfrm>
            <a:off x="1188720" y="4937760"/>
            <a:ext cx="1042416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Création de la structure de base du projet et des modules principaux</a:t>
            </a:r>
            <a:endParaRPr lang="en-US" sz="1400" dirty="0"/>
          </a:p>
        </p:txBody>
      </p:sp>
      <p:sp>
        <p:nvSpPr>
          <p:cNvPr id="20" name="Shape 15"/>
          <p:cNvSpPr/>
          <p:nvPr/>
        </p:nvSpPr>
        <p:spPr>
          <a:xfrm>
            <a:off x="640080" y="5623560"/>
            <a:ext cx="365760" cy="365760"/>
          </a:xfrm>
          <a:prstGeom prst="ellipse">
            <a:avLst/>
          </a:prstGeom>
          <a:solidFill>
            <a:srgbClr val="10B981"/>
          </a:solidFill>
          <a:ln w="12700">
            <a:solidFill>
              <a:srgbClr val="10B981"/>
            </a:solidFill>
            <a:prstDash val="solid"/>
          </a:ln>
        </p:spPr>
      </p:sp>
      <p:pic>
        <p:nvPicPr>
          <p:cNvPr id="21" name="Image 3" descr="preencoded.png">    </p:cNvPr>
          <p:cNvPicPr>
            <a:picLocks noChangeAspect="1"/>
          </p:cNvPicPr>
          <p:nvPr/>
        </p:nvPicPr>
        <p:blipFill>
          <a:blip r:embed="rId4"/>
          <a:stretch>
            <a:fillRect/>
          </a:stretch>
        </p:blipFill>
        <p:spPr>
          <a:xfrm>
            <a:off x="713232" y="5696712"/>
            <a:ext cx="219456" cy="219456"/>
          </a:xfrm>
          <a:prstGeom prst="rect">
            <a:avLst/>
          </a:prstGeom>
        </p:spPr>
      </p:pic>
      <p:sp>
        <p:nvSpPr>
          <p:cNvPr id="22" name="Text 16"/>
          <p:cNvSpPr/>
          <p:nvPr/>
        </p:nvSpPr>
        <p:spPr>
          <a:xfrm>
            <a:off x="1188720" y="5577840"/>
            <a:ext cx="1042416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Configuration de la chaîne d'intégration et des outils de qualité</a:t>
            </a:r>
            <a:endParaRPr lang="en-US" sz="1400" dirty="0"/>
          </a:p>
        </p:txBody>
      </p:sp>
      <p:sp>
        <p:nvSpPr>
          <p:cNvPr id="23" name="Text 17"/>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4" name="Text 18"/>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 / 27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Phase de réalisation — Étape 2</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554480"/>
            <a:ext cx="1828800" cy="1828800"/>
          </a:xfrm>
          <a:prstGeom prst="roundRect">
            <a:avLst>
              <a:gd name="adj" fmla="val 7000"/>
            </a:avLst>
          </a:prstGeom>
          <a:solidFill>
            <a:srgbClr val="06B6D4"/>
          </a:solidFill>
          <a:ln w="12700">
            <a:solidFill>
              <a:srgbClr val="06B6D4"/>
            </a:solidFill>
            <a:prstDash val="solid"/>
          </a:ln>
        </p:spPr>
      </p:sp>
      <p:sp>
        <p:nvSpPr>
          <p:cNvPr id="8" name="Text 6"/>
          <p:cNvSpPr/>
          <p:nvPr/>
        </p:nvSpPr>
        <p:spPr>
          <a:xfrm>
            <a:off x="548640" y="1554480"/>
            <a:ext cx="1828800" cy="1828800"/>
          </a:xfrm>
          <a:prstGeom prst="rect">
            <a:avLst/>
          </a:prstGeom>
          <a:noFill/>
          <a:ln/>
        </p:spPr>
        <p:txBody>
          <a:bodyPr wrap="square" lIns="0" tIns="0" rIns="0" bIns="0" rtlCol="0" anchor="ctr"/>
          <a:lstStyle/>
          <a:p>
            <a:pPr algn="ctr" indent="0" marL="0">
              <a:buNone/>
            </a:pPr>
            <a:r>
              <a:rPr lang="en-US" sz="7000" b="1" dirty="0">
                <a:solidFill>
                  <a:srgbClr val="FFFFFF"/>
                </a:solidFill>
                <a:latin typeface="Calibri" pitchFamily="34" charset="0"/>
                <a:ea typeface="Calibri" pitchFamily="34" charset="-122"/>
                <a:cs typeface="Calibri" pitchFamily="34" charset="-120"/>
              </a:rPr>
              <a:t>02</a:t>
            </a:r>
            <a:endParaRPr lang="en-US" sz="7000" dirty="0"/>
          </a:p>
        </p:txBody>
      </p:sp>
      <p:sp>
        <p:nvSpPr>
          <p:cNvPr id="9" name="Text 7"/>
          <p:cNvSpPr/>
          <p:nvPr/>
        </p:nvSpPr>
        <p:spPr>
          <a:xfrm>
            <a:off x="2606040" y="1645920"/>
            <a:ext cx="896112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Développement du cœur fonctionnel</a:t>
            </a:r>
            <a:endParaRPr lang="en-US" sz="2200" dirty="0"/>
          </a:p>
        </p:txBody>
      </p:sp>
      <p:sp>
        <p:nvSpPr>
          <p:cNvPr id="10" name="Text 8"/>
          <p:cNvSpPr/>
          <p:nvPr/>
        </p:nvSpPr>
        <p:spPr>
          <a:xfrm>
            <a:off x="2606040" y="2148840"/>
            <a:ext cx="896112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Implémentation des fonctionnalités principales identifiées dans le cahier des charges.</a:t>
            </a:r>
            <a:endParaRPr lang="en-US" sz="1400" dirty="0"/>
          </a:p>
        </p:txBody>
      </p:sp>
      <p:sp>
        <p:nvSpPr>
          <p:cNvPr id="11" name="Shape 9"/>
          <p:cNvSpPr/>
          <p:nvPr/>
        </p:nvSpPr>
        <p:spPr>
          <a:xfrm>
            <a:off x="548640" y="3749040"/>
            <a:ext cx="5486400" cy="2468880"/>
          </a:xfrm>
          <a:prstGeom prst="roundRect">
            <a:avLst>
              <a:gd name="adj" fmla="val 4444"/>
            </a:avLst>
          </a:prstGeom>
          <a:solidFill>
            <a:srgbClr val="F8FAFC"/>
          </a:solidFill>
          <a:ln w="12700">
            <a:solidFill>
              <a:srgbClr val="E2E8F0"/>
            </a:solidFill>
            <a:prstDash val="solid"/>
          </a:ln>
        </p:spPr>
      </p:sp>
      <p:sp>
        <p:nvSpPr>
          <p:cNvPr id="12" name="Shape 10"/>
          <p:cNvSpPr/>
          <p:nvPr/>
        </p:nvSpPr>
        <p:spPr>
          <a:xfrm>
            <a:off x="548640" y="3749040"/>
            <a:ext cx="109728" cy="2468880"/>
          </a:xfrm>
          <a:prstGeom prst="rect">
            <a:avLst/>
          </a:prstGeom>
          <a:solidFill>
            <a:srgbClr val="4F46E5"/>
          </a:solidFill>
          <a:ln w="12700">
            <a:solidFill>
              <a:srgbClr val="4F46E5"/>
            </a:solidFill>
            <a:prstDash val="solid"/>
          </a:ln>
        </p:spPr>
      </p:sp>
      <p:sp>
        <p:nvSpPr>
          <p:cNvPr id="13" name="Text 11"/>
          <p:cNvSpPr/>
          <p:nvPr/>
        </p:nvSpPr>
        <p:spPr>
          <a:xfrm>
            <a:off x="822960" y="3886200"/>
            <a:ext cx="5120640" cy="45720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Modules développés</a:t>
            </a:r>
            <a:endParaRPr lang="en-US" sz="1600" dirty="0"/>
          </a:p>
        </p:txBody>
      </p:sp>
      <p:sp>
        <p:nvSpPr>
          <p:cNvPr id="14" name="Text 12"/>
          <p:cNvSpPr/>
          <p:nvPr/>
        </p:nvSpPr>
        <p:spPr>
          <a:xfrm>
            <a:off x="822960" y="4434840"/>
            <a:ext cx="5120640" cy="16916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334155"/>
                </a:solidFill>
                <a:latin typeface="Calibri" pitchFamily="34" charset="0"/>
                <a:ea typeface="Calibri" pitchFamily="34" charset="-122"/>
                <a:cs typeface="Calibri" pitchFamily="34" charset="-120"/>
              </a:rPr>
              <a:t>Module A — fonctionnalité X</a:t>
            </a:r>
            <a:endParaRPr lang="en-US" sz="1300" dirty="0"/>
          </a:p>
          <a:p>
            <a:pPr marL="342900" indent="-342900">
              <a:spcAft>
                <a:spcPts val="600"/>
              </a:spcAft>
              <a:buSzPct val="100000"/>
              <a:buChar char="●"/>
            </a:pPr>
            <a:r>
              <a:rPr lang="en-US" sz="1300" dirty="0">
                <a:solidFill>
                  <a:srgbClr val="334155"/>
                </a:solidFill>
                <a:latin typeface="Calibri" pitchFamily="34" charset="0"/>
                <a:ea typeface="Calibri" pitchFamily="34" charset="-122"/>
                <a:cs typeface="Calibri" pitchFamily="34" charset="-120"/>
              </a:rPr>
              <a:t>Module B — fonctionnalité Y</a:t>
            </a:r>
            <a:endParaRPr lang="en-US" sz="1300" dirty="0"/>
          </a:p>
          <a:p>
            <a:pPr marL="342900" indent="-342900">
              <a:spcAft>
                <a:spcPts val="600"/>
              </a:spcAft>
              <a:buSzPct val="100000"/>
              <a:buChar char="●"/>
            </a:pPr>
            <a:r>
              <a:rPr lang="en-US" sz="1300" dirty="0">
                <a:solidFill>
                  <a:srgbClr val="334155"/>
                </a:solidFill>
                <a:latin typeface="Calibri" pitchFamily="34" charset="0"/>
                <a:ea typeface="Calibri" pitchFamily="34" charset="-122"/>
                <a:cs typeface="Calibri" pitchFamily="34" charset="-120"/>
              </a:rPr>
              <a:t>Module C — intégration Z</a:t>
            </a:r>
            <a:endParaRPr lang="en-US" sz="1300" dirty="0"/>
          </a:p>
        </p:txBody>
      </p:sp>
      <p:sp>
        <p:nvSpPr>
          <p:cNvPr id="15" name="Shape 13"/>
          <p:cNvSpPr/>
          <p:nvPr/>
        </p:nvSpPr>
        <p:spPr>
          <a:xfrm>
            <a:off x="6217920" y="3749040"/>
            <a:ext cx="5486400" cy="2468880"/>
          </a:xfrm>
          <a:prstGeom prst="roundRect">
            <a:avLst>
              <a:gd name="adj" fmla="val 4444"/>
            </a:avLst>
          </a:prstGeom>
          <a:solidFill>
            <a:srgbClr val="F8FAFC"/>
          </a:solidFill>
          <a:ln w="12700">
            <a:solidFill>
              <a:srgbClr val="E2E8F0"/>
            </a:solidFill>
            <a:prstDash val="solid"/>
          </a:ln>
        </p:spPr>
      </p:sp>
      <p:sp>
        <p:nvSpPr>
          <p:cNvPr id="16" name="Shape 14"/>
          <p:cNvSpPr/>
          <p:nvPr/>
        </p:nvSpPr>
        <p:spPr>
          <a:xfrm>
            <a:off x="6217920" y="3749040"/>
            <a:ext cx="109728" cy="2468880"/>
          </a:xfrm>
          <a:prstGeom prst="rect">
            <a:avLst/>
          </a:prstGeom>
          <a:solidFill>
            <a:srgbClr val="F59E0B"/>
          </a:solidFill>
          <a:ln w="12700">
            <a:solidFill>
              <a:srgbClr val="F59E0B"/>
            </a:solidFill>
            <a:prstDash val="solid"/>
          </a:ln>
        </p:spPr>
      </p:sp>
      <p:sp>
        <p:nvSpPr>
          <p:cNvPr id="17" name="Text 15"/>
          <p:cNvSpPr/>
          <p:nvPr/>
        </p:nvSpPr>
        <p:spPr>
          <a:xfrm>
            <a:off x="6492240" y="3886200"/>
            <a:ext cx="5120640" cy="45720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Difficultés résolues</a:t>
            </a:r>
            <a:endParaRPr lang="en-US" sz="1600" dirty="0"/>
          </a:p>
        </p:txBody>
      </p:sp>
      <p:sp>
        <p:nvSpPr>
          <p:cNvPr id="18" name="Text 16"/>
          <p:cNvSpPr/>
          <p:nvPr/>
        </p:nvSpPr>
        <p:spPr>
          <a:xfrm>
            <a:off x="6492240" y="4434840"/>
            <a:ext cx="5120640" cy="16916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334155"/>
                </a:solidFill>
                <a:latin typeface="Calibri" pitchFamily="34" charset="0"/>
                <a:ea typeface="Calibri" pitchFamily="34" charset="-122"/>
                <a:cs typeface="Calibri" pitchFamily="34" charset="-120"/>
              </a:rPr>
              <a:t>Gestion de la concurrence</a:t>
            </a:r>
            <a:endParaRPr lang="en-US" sz="1300" dirty="0"/>
          </a:p>
          <a:p>
            <a:pPr marL="342900" indent="-342900">
              <a:spcAft>
                <a:spcPts val="600"/>
              </a:spcAft>
              <a:buSzPct val="100000"/>
              <a:buChar char="●"/>
            </a:pPr>
            <a:r>
              <a:rPr lang="en-US" sz="1300" dirty="0">
                <a:solidFill>
                  <a:srgbClr val="334155"/>
                </a:solidFill>
                <a:latin typeface="Calibri" pitchFamily="34" charset="0"/>
                <a:ea typeface="Calibri" pitchFamily="34" charset="-122"/>
                <a:cs typeface="Calibri" pitchFamily="34" charset="-120"/>
              </a:rPr>
              <a:t>Optimisation des accès aux données</a:t>
            </a:r>
            <a:endParaRPr lang="en-US" sz="1300" dirty="0"/>
          </a:p>
          <a:p>
            <a:pPr marL="342900" indent="-342900">
              <a:spcAft>
                <a:spcPts val="600"/>
              </a:spcAft>
              <a:buSzPct val="100000"/>
              <a:buChar char="●"/>
            </a:pPr>
            <a:r>
              <a:rPr lang="en-US" sz="1300" dirty="0">
                <a:solidFill>
                  <a:srgbClr val="334155"/>
                </a:solidFill>
                <a:latin typeface="Calibri" pitchFamily="34" charset="0"/>
                <a:ea typeface="Calibri" pitchFamily="34" charset="-122"/>
                <a:cs typeface="Calibri" pitchFamily="34" charset="-120"/>
              </a:rPr>
              <a:t>Compatibilité multi-plateforme</a:t>
            </a:r>
            <a:endParaRPr lang="en-US" sz="1300" dirty="0"/>
          </a:p>
        </p:txBody>
      </p:sp>
      <p:sp>
        <p:nvSpPr>
          <p:cNvPr id="19" name="Text 17"/>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0" name="Text 18"/>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 / 27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Phase de réalisation — Étape 3</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554480"/>
            <a:ext cx="1828800" cy="1828800"/>
          </a:xfrm>
          <a:prstGeom prst="roundRect">
            <a:avLst>
              <a:gd name="adj" fmla="val 7000"/>
            </a:avLst>
          </a:prstGeom>
          <a:solidFill>
            <a:srgbClr val="F59E0B"/>
          </a:solidFill>
          <a:ln w="12700">
            <a:solidFill>
              <a:srgbClr val="F59E0B"/>
            </a:solidFill>
            <a:prstDash val="solid"/>
          </a:ln>
        </p:spPr>
      </p:sp>
      <p:sp>
        <p:nvSpPr>
          <p:cNvPr id="8" name="Text 6"/>
          <p:cNvSpPr/>
          <p:nvPr/>
        </p:nvSpPr>
        <p:spPr>
          <a:xfrm>
            <a:off x="548640" y="1554480"/>
            <a:ext cx="1828800" cy="1828800"/>
          </a:xfrm>
          <a:prstGeom prst="rect">
            <a:avLst/>
          </a:prstGeom>
          <a:noFill/>
          <a:ln/>
        </p:spPr>
        <p:txBody>
          <a:bodyPr wrap="square" lIns="0" tIns="0" rIns="0" bIns="0" rtlCol="0" anchor="ctr"/>
          <a:lstStyle/>
          <a:p>
            <a:pPr algn="ctr" indent="0" marL="0">
              <a:buNone/>
            </a:pPr>
            <a:r>
              <a:rPr lang="en-US" sz="7000" b="1" dirty="0">
                <a:solidFill>
                  <a:srgbClr val="FFFFFF"/>
                </a:solidFill>
                <a:latin typeface="Calibri" pitchFamily="34" charset="0"/>
                <a:ea typeface="Calibri" pitchFamily="34" charset="-122"/>
                <a:cs typeface="Calibri" pitchFamily="34" charset="-120"/>
              </a:rPr>
              <a:t>03</a:t>
            </a:r>
            <a:endParaRPr lang="en-US" sz="7000" dirty="0"/>
          </a:p>
        </p:txBody>
      </p:sp>
      <p:sp>
        <p:nvSpPr>
          <p:cNvPr id="9" name="Text 7"/>
          <p:cNvSpPr/>
          <p:nvPr/>
        </p:nvSpPr>
        <p:spPr>
          <a:xfrm>
            <a:off x="2606040" y="1645920"/>
            <a:ext cx="896112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Intégration et finalisation</a:t>
            </a:r>
            <a:endParaRPr lang="en-US" sz="2200" dirty="0"/>
          </a:p>
        </p:txBody>
      </p:sp>
      <p:sp>
        <p:nvSpPr>
          <p:cNvPr id="10" name="Text 8"/>
          <p:cNvSpPr/>
          <p:nvPr/>
        </p:nvSpPr>
        <p:spPr>
          <a:xfrm>
            <a:off x="2606040" y="2148840"/>
            <a:ext cx="8961120" cy="548640"/>
          </a:xfrm>
          <a:prstGeom prst="rect">
            <a:avLst/>
          </a:prstGeom>
          <a:noFill/>
          <a:ln/>
        </p:spPr>
        <p:txBody>
          <a:bodyPr wrap="square" lIns="0" tIns="0" rIns="0" bIns="0" rtlCol="0" anchor="ctr"/>
          <a:lstStyle/>
          <a:p>
            <a:pPr indent="0" marL="0">
              <a:buNone/>
            </a:pPr>
            <a:r>
              <a:rPr lang="en-US" sz="1400" i="1" dirty="0">
                <a:solidFill>
                  <a:srgbClr val="475569"/>
                </a:solidFill>
                <a:latin typeface="Calibri" pitchFamily="34" charset="0"/>
                <a:ea typeface="Calibri" pitchFamily="34" charset="-122"/>
                <a:cs typeface="Calibri" pitchFamily="34" charset="-120"/>
              </a:rPr>
              <a:t>Assemblage des modules, optimisation et préparation à la mise en production.</a:t>
            </a:r>
            <a:endParaRPr lang="en-US" sz="1400" dirty="0"/>
          </a:p>
        </p:txBody>
      </p:sp>
      <p:sp>
        <p:nvSpPr>
          <p:cNvPr id="11" name="Shape 9"/>
          <p:cNvSpPr/>
          <p:nvPr/>
        </p:nvSpPr>
        <p:spPr>
          <a:xfrm>
            <a:off x="548640" y="3657600"/>
            <a:ext cx="3657600" cy="2377440"/>
          </a:xfrm>
          <a:prstGeom prst="roundRect">
            <a:avLst>
              <a:gd name="adj" fmla="val 4615"/>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12" name="Shape 10"/>
          <p:cNvSpPr/>
          <p:nvPr/>
        </p:nvSpPr>
        <p:spPr>
          <a:xfrm>
            <a:off x="822960" y="3931920"/>
            <a:ext cx="731520" cy="731520"/>
          </a:xfrm>
          <a:prstGeom prst="ellipse">
            <a:avLst/>
          </a:prstGeom>
          <a:solidFill>
            <a:srgbClr val="4F46E5"/>
          </a:solidFill>
          <a:ln w="12700">
            <a:solidFill>
              <a:srgbClr val="4F46E5"/>
            </a:solidFill>
            <a:prstDash val="solid"/>
          </a:ln>
        </p:spPr>
      </p:sp>
      <p:pic>
        <p:nvPicPr>
          <p:cNvPr id="13" name="Image 0" descr="preencoded.png">    </p:cNvPr>
          <p:cNvPicPr>
            <a:picLocks noChangeAspect="1"/>
          </p:cNvPicPr>
          <p:nvPr/>
        </p:nvPicPr>
        <p:blipFill>
          <a:blip r:embed="rId1"/>
          <a:stretch>
            <a:fillRect/>
          </a:stretch>
        </p:blipFill>
        <p:spPr>
          <a:xfrm>
            <a:off x="987552" y="4096512"/>
            <a:ext cx="411480" cy="411480"/>
          </a:xfrm>
          <a:prstGeom prst="rect">
            <a:avLst/>
          </a:prstGeom>
        </p:spPr>
      </p:pic>
      <p:sp>
        <p:nvSpPr>
          <p:cNvPr id="14" name="Text 11"/>
          <p:cNvSpPr/>
          <p:nvPr/>
        </p:nvSpPr>
        <p:spPr>
          <a:xfrm>
            <a:off x="1645920" y="4023360"/>
            <a:ext cx="2377440" cy="45720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Intégration</a:t>
            </a:r>
            <a:endParaRPr lang="en-US" sz="1600" dirty="0"/>
          </a:p>
        </p:txBody>
      </p:sp>
      <p:sp>
        <p:nvSpPr>
          <p:cNvPr id="15" name="Text 12"/>
          <p:cNvSpPr/>
          <p:nvPr/>
        </p:nvSpPr>
        <p:spPr>
          <a:xfrm>
            <a:off x="822960" y="4846320"/>
            <a:ext cx="3108960" cy="10972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Connexion des modules et tests d'intégration.</a:t>
            </a:r>
            <a:endParaRPr lang="en-US" sz="1200" dirty="0"/>
          </a:p>
        </p:txBody>
      </p:sp>
      <p:sp>
        <p:nvSpPr>
          <p:cNvPr id="16" name="Shape 13"/>
          <p:cNvSpPr/>
          <p:nvPr/>
        </p:nvSpPr>
        <p:spPr>
          <a:xfrm>
            <a:off x="4434840" y="3657600"/>
            <a:ext cx="3657600" cy="2377440"/>
          </a:xfrm>
          <a:prstGeom prst="roundRect">
            <a:avLst>
              <a:gd name="adj" fmla="val 4615"/>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17" name="Shape 14"/>
          <p:cNvSpPr/>
          <p:nvPr/>
        </p:nvSpPr>
        <p:spPr>
          <a:xfrm>
            <a:off x="4709160" y="3931920"/>
            <a:ext cx="731520" cy="731520"/>
          </a:xfrm>
          <a:prstGeom prst="ellipse">
            <a:avLst/>
          </a:prstGeom>
          <a:solidFill>
            <a:srgbClr val="06B6D4"/>
          </a:solidFill>
          <a:ln w="12700">
            <a:solidFill>
              <a:srgbClr val="06B6D4"/>
            </a:solidFill>
            <a:prstDash val="solid"/>
          </a:ln>
        </p:spPr>
      </p:sp>
      <p:pic>
        <p:nvPicPr>
          <p:cNvPr id="18" name="Image 1" descr="preencoded.png">    </p:cNvPr>
          <p:cNvPicPr>
            <a:picLocks noChangeAspect="1"/>
          </p:cNvPicPr>
          <p:nvPr/>
        </p:nvPicPr>
        <p:blipFill>
          <a:blip r:embed="rId2"/>
          <a:stretch>
            <a:fillRect/>
          </a:stretch>
        </p:blipFill>
        <p:spPr>
          <a:xfrm>
            <a:off x="4873752" y="4096512"/>
            <a:ext cx="411480" cy="411480"/>
          </a:xfrm>
          <a:prstGeom prst="rect">
            <a:avLst/>
          </a:prstGeom>
        </p:spPr>
      </p:pic>
      <p:sp>
        <p:nvSpPr>
          <p:cNvPr id="19" name="Text 15"/>
          <p:cNvSpPr/>
          <p:nvPr/>
        </p:nvSpPr>
        <p:spPr>
          <a:xfrm>
            <a:off x="5532120" y="4023360"/>
            <a:ext cx="2377440" cy="45720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Optimisation</a:t>
            </a:r>
            <a:endParaRPr lang="en-US" sz="1600" dirty="0"/>
          </a:p>
        </p:txBody>
      </p:sp>
      <p:sp>
        <p:nvSpPr>
          <p:cNvPr id="20" name="Text 16"/>
          <p:cNvSpPr/>
          <p:nvPr/>
        </p:nvSpPr>
        <p:spPr>
          <a:xfrm>
            <a:off x="4709160" y="4846320"/>
            <a:ext cx="3108960" cy="10972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Améliorations des performances et de la stabilité.</a:t>
            </a:r>
            <a:endParaRPr lang="en-US" sz="1200" dirty="0"/>
          </a:p>
        </p:txBody>
      </p:sp>
      <p:sp>
        <p:nvSpPr>
          <p:cNvPr id="21" name="Shape 17"/>
          <p:cNvSpPr/>
          <p:nvPr/>
        </p:nvSpPr>
        <p:spPr>
          <a:xfrm>
            <a:off x="8321040" y="3657600"/>
            <a:ext cx="3657600" cy="2377440"/>
          </a:xfrm>
          <a:prstGeom prst="roundRect">
            <a:avLst>
              <a:gd name="adj" fmla="val 4615"/>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22" name="Shape 18"/>
          <p:cNvSpPr/>
          <p:nvPr/>
        </p:nvSpPr>
        <p:spPr>
          <a:xfrm>
            <a:off x="8595360" y="3931920"/>
            <a:ext cx="731520" cy="731520"/>
          </a:xfrm>
          <a:prstGeom prst="ellipse">
            <a:avLst/>
          </a:prstGeom>
          <a:solidFill>
            <a:srgbClr val="F59E0B"/>
          </a:solidFill>
          <a:ln w="12700">
            <a:solidFill>
              <a:srgbClr val="F59E0B"/>
            </a:solidFill>
            <a:prstDash val="solid"/>
          </a:ln>
        </p:spPr>
      </p:sp>
      <p:pic>
        <p:nvPicPr>
          <p:cNvPr id="23" name="Image 2" descr="preencoded.png">    </p:cNvPr>
          <p:cNvPicPr>
            <a:picLocks noChangeAspect="1"/>
          </p:cNvPicPr>
          <p:nvPr/>
        </p:nvPicPr>
        <p:blipFill>
          <a:blip r:embed="rId3"/>
          <a:stretch>
            <a:fillRect/>
          </a:stretch>
        </p:blipFill>
        <p:spPr>
          <a:xfrm>
            <a:off x="8759952" y="4096512"/>
            <a:ext cx="411480" cy="411480"/>
          </a:xfrm>
          <a:prstGeom prst="rect">
            <a:avLst/>
          </a:prstGeom>
        </p:spPr>
      </p:pic>
      <p:sp>
        <p:nvSpPr>
          <p:cNvPr id="24" name="Text 19"/>
          <p:cNvSpPr/>
          <p:nvPr/>
        </p:nvSpPr>
        <p:spPr>
          <a:xfrm>
            <a:off x="9418320" y="4023360"/>
            <a:ext cx="2377440" cy="45720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Déploiement</a:t>
            </a:r>
            <a:endParaRPr lang="en-US" sz="1600" dirty="0"/>
          </a:p>
        </p:txBody>
      </p:sp>
      <p:sp>
        <p:nvSpPr>
          <p:cNvPr id="25" name="Text 20"/>
          <p:cNvSpPr/>
          <p:nvPr/>
        </p:nvSpPr>
        <p:spPr>
          <a:xfrm>
            <a:off x="8595360" y="4846320"/>
            <a:ext cx="3108960" cy="10972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Mise en production et supervision continue.</a:t>
            </a:r>
            <a:endParaRPr lang="en-US" sz="1200" dirty="0"/>
          </a:p>
        </p:txBody>
      </p:sp>
      <p:sp>
        <p:nvSpPr>
          <p:cNvPr id="26" name="Text 21"/>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7" name="Text 22"/>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 / 27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Tests et validation</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Text 5"/>
          <p:cNvSpPr/>
          <p:nvPr/>
        </p:nvSpPr>
        <p:spPr>
          <a:xfrm>
            <a:off x="548640" y="1554480"/>
            <a:ext cx="5486400" cy="457200"/>
          </a:xfrm>
          <a:prstGeom prst="rect">
            <a:avLst/>
          </a:prstGeom>
          <a:noFill/>
          <a:ln/>
        </p:spPr>
        <p:txBody>
          <a:bodyPr wrap="square" lIns="0" tIns="0" rIns="0" bIns="0" rtlCol="0" anchor="ctr"/>
          <a:lstStyle/>
          <a:p>
            <a:pPr indent="0" marL="0">
              <a:buNone/>
            </a:pPr>
            <a:r>
              <a:rPr lang="en-US" sz="1800" b="1" dirty="0">
                <a:solidFill>
                  <a:srgbClr val="4F46E5"/>
                </a:solidFill>
                <a:latin typeface="Calibri" pitchFamily="34" charset="0"/>
                <a:ea typeface="Calibri" pitchFamily="34" charset="-122"/>
                <a:cs typeface="Calibri" pitchFamily="34" charset="-120"/>
              </a:rPr>
              <a:t>Stratégie de tests</a:t>
            </a:r>
            <a:endParaRPr lang="en-US" sz="1800" dirty="0"/>
          </a:p>
        </p:txBody>
      </p:sp>
      <p:sp>
        <p:nvSpPr>
          <p:cNvPr id="8" name="Shape 6"/>
          <p:cNvSpPr/>
          <p:nvPr/>
        </p:nvSpPr>
        <p:spPr>
          <a:xfrm>
            <a:off x="548640" y="2103120"/>
            <a:ext cx="5486400" cy="777240"/>
          </a:xfrm>
          <a:prstGeom prst="roundRect">
            <a:avLst>
              <a:gd name="adj" fmla="val 11765"/>
            </a:avLst>
          </a:prstGeom>
          <a:solidFill>
            <a:srgbClr val="F8FAFC"/>
          </a:solidFill>
          <a:ln w="12700">
            <a:solidFill>
              <a:srgbClr val="E2E8F0"/>
            </a:solidFill>
            <a:prstDash val="solid"/>
          </a:ln>
        </p:spPr>
      </p:sp>
      <p:sp>
        <p:nvSpPr>
          <p:cNvPr id="9" name="Shape 7"/>
          <p:cNvSpPr/>
          <p:nvPr/>
        </p:nvSpPr>
        <p:spPr>
          <a:xfrm>
            <a:off x="713232" y="2267712"/>
            <a:ext cx="457200" cy="457200"/>
          </a:xfrm>
          <a:prstGeom prst="ellipse">
            <a:avLst/>
          </a:prstGeom>
          <a:solidFill>
            <a:srgbClr val="4F46E5"/>
          </a:solidFill>
          <a:ln w="12700">
            <a:solidFill>
              <a:srgbClr val="4F46E5"/>
            </a:solidFill>
            <a:prstDash val="solid"/>
          </a:ln>
        </p:spPr>
      </p:sp>
      <p:pic>
        <p:nvPicPr>
          <p:cNvPr id="10" name="Image 0" descr="preencoded.png">    </p:cNvPr>
          <p:cNvPicPr>
            <a:picLocks noChangeAspect="1"/>
          </p:cNvPicPr>
          <p:nvPr/>
        </p:nvPicPr>
        <p:blipFill>
          <a:blip r:embed="rId1"/>
          <a:stretch>
            <a:fillRect/>
          </a:stretch>
        </p:blipFill>
        <p:spPr>
          <a:xfrm>
            <a:off x="786384" y="2340864"/>
            <a:ext cx="310896" cy="310896"/>
          </a:xfrm>
          <a:prstGeom prst="rect">
            <a:avLst/>
          </a:prstGeom>
        </p:spPr>
      </p:pic>
      <p:sp>
        <p:nvSpPr>
          <p:cNvPr id="11" name="Text 8"/>
          <p:cNvSpPr/>
          <p:nvPr/>
        </p:nvSpPr>
        <p:spPr>
          <a:xfrm>
            <a:off x="1325880" y="2148840"/>
            <a:ext cx="44805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Tests unitaires</a:t>
            </a:r>
            <a:endParaRPr lang="en-US" sz="1400" dirty="0"/>
          </a:p>
        </p:txBody>
      </p:sp>
      <p:sp>
        <p:nvSpPr>
          <p:cNvPr id="12" name="Text 9"/>
          <p:cNvSpPr/>
          <p:nvPr/>
        </p:nvSpPr>
        <p:spPr>
          <a:xfrm>
            <a:off x="1325880" y="2514600"/>
            <a:ext cx="448056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Vérification des fonctions individuellement</a:t>
            </a:r>
            <a:endParaRPr lang="en-US" sz="1100" dirty="0"/>
          </a:p>
        </p:txBody>
      </p:sp>
      <p:sp>
        <p:nvSpPr>
          <p:cNvPr id="13" name="Shape 10"/>
          <p:cNvSpPr/>
          <p:nvPr/>
        </p:nvSpPr>
        <p:spPr>
          <a:xfrm>
            <a:off x="548640" y="3017520"/>
            <a:ext cx="5486400" cy="777240"/>
          </a:xfrm>
          <a:prstGeom prst="roundRect">
            <a:avLst>
              <a:gd name="adj" fmla="val 11765"/>
            </a:avLst>
          </a:prstGeom>
          <a:solidFill>
            <a:srgbClr val="F8FAFC"/>
          </a:solidFill>
          <a:ln w="12700">
            <a:solidFill>
              <a:srgbClr val="E2E8F0"/>
            </a:solidFill>
            <a:prstDash val="solid"/>
          </a:ln>
        </p:spPr>
      </p:sp>
      <p:sp>
        <p:nvSpPr>
          <p:cNvPr id="14" name="Shape 11"/>
          <p:cNvSpPr/>
          <p:nvPr/>
        </p:nvSpPr>
        <p:spPr>
          <a:xfrm>
            <a:off x="713232" y="3182112"/>
            <a:ext cx="457200" cy="457200"/>
          </a:xfrm>
          <a:prstGeom prst="ellipse">
            <a:avLst/>
          </a:prstGeom>
          <a:solidFill>
            <a:srgbClr val="06B6D4"/>
          </a:solidFill>
          <a:ln w="12700">
            <a:solidFill>
              <a:srgbClr val="06B6D4"/>
            </a:solidFill>
            <a:prstDash val="solid"/>
          </a:ln>
        </p:spPr>
      </p:sp>
      <p:pic>
        <p:nvPicPr>
          <p:cNvPr id="15" name="Image 1" descr="preencoded.png">    </p:cNvPr>
          <p:cNvPicPr>
            <a:picLocks noChangeAspect="1"/>
          </p:cNvPicPr>
          <p:nvPr/>
        </p:nvPicPr>
        <p:blipFill>
          <a:blip r:embed="rId2"/>
          <a:stretch>
            <a:fillRect/>
          </a:stretch>
        </p:blipFill>
        <p:spPr>
          <a:xfrm>
            <a:off x="786384" y="3255264"/>
            <a:ext cx="310896" cy="310896"/>
          </a:xfrm>
          <a:prstGeom prst="rect">
            <a:avLst/>
          </a:prstGeom>
        </p:spPr>
      </p:pic>
      <p:sp>
        <p:nvSpPr>
          <p:cNvPr id="16" name="Text 12"/>
          <p:cNvSpPr/>
          <p:nvPr/>
        </p:nvSpPr>
        <p:spPr>
          <a:xfrm>
            <a:off x="1325880" y="3063240"/>
            <a:ext cx="44805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Tests d'intégration</a:t>
            </a:r>
            <a:endParaRPr lang="en-US" sz="1400" dirty="0"/>
          </a:p>
        </p:txBody>
      </p:sp>
      <p:sp>
        <p:nvSpPr>
          <p:cNvPr id="17" name="Text 13"/>
          <p:cNvSpPr/>
          <p:nvPr/>
        </p:nvSpPr>
        <p:spPr>
          <a:xfrm>
            <a:off x="1325880" y="3429000"/>
            <a:ext cx="448056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Validation des interactions entre modules</a:t>
            </a:r>
            <a:endParaRPr lang="en-US" sz="1100" dirty="0"/>
          </a:p>
        </p:txBody>
      </p:sp>
      <p:sp>
        <p:nvSpPr>
          <p:cNvPr id="18" name="Shape 14"/>
          <p:cNvSpPr/>
          <p:nvPr/>
        </p:nvSpPr>
        <p:spPr>
          <a:xfrm>
            <a:off x="548640" y="3931920"/>
            <a:ext cx="5486400" cy="777240"/>
          </a:xfrm>
          <a:prstGeom prst="roundRect">
            <a:avLst>
              <a:gd name="adj" fmla="val 11765"/>
            </a:avLst>
          </a:prstGeom>
          <a:solidFill>
            <a:srgbClr val="F8FAFC"/>
          </a:solidFill>
          <a:ln w="12700">
            <a:solidFill>
              <a:srgbClr val="E2E8F0"/>
            </a:solidFill>
            <a:prstDash val="solid"/>
          </a:ln>
        </p:spPr>
      </p:sp>
      <p:sp>
        <p:nvSpPr>
          <p:cNvPr id="19" name="Shape 15"/>
          <p:cNvSpPr/>
          <p:nvPr/>
        </p:nvSpPr>
        <p:spPr>
          <a:xfrm>
            <a:off x="713232" y="4096512"/>
            <a:ext cx="457200" cy="457200"/>
          </a:xfrm>
          <a:prstGeom prst="ellipse">
            <a:avLst/>
          </a:prstGeom>
          <a:solidFill>
            <a:srgbClr val="F59E0B"/>
          </a:solidFill>
          <a:ln w="12700">
            <a:solidFill>
              <a:srgbClr val="F59E0B"/>
            </a:solidFill>
            <a:prstDash val="solid"/>
          </a:ln>
        </p:spPr>
      </p:sp>
      <p:pic>
        <p:nvPicPr>
          <p:cNvPr id="20" name="Image 2" descr="preencoded.png">    </p:cNvPr>
          <p:cNvPicPr>
            <a:picLocks noChangeAspect="1"/>
          </p:cNvPicPr>
          <p:nvPr/>
        </p:nvPicPr>
        <p:blipFill>
          <a:blip r:embed="rId3"/>
          <a:stretch>
            <a:fillRect/>
          </a:stretch>
        </p:blipFill>
        <p:spPr>
          <a:xfrm>
            <a:off x="786384" y="4169664"/>
            <a:ext cx="310896" cy="310896"/>
          </a:xfrm>
          <a:prstGeom prst="rect">
            <a:avLst/>
          </a:prstGeom>
        </p:spPr>
      </p:pic>
      <p:sp>
        <p:nvSpPr>
          <p:cNvPr id="21" name="Text 16"/>
          <p:cNvSpPr/>
          <p:nvPr/>
        </p:nvSpPr>
        <p:spPr>
          <a:xfrm>
            <a:off x="1325880" y="3977640"/>
            <a:ext cx="44805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Tests de performance</a:t>
            </a:r>
            <a:endParaRPr lang="en-US" sz="1400" dirty="0"/>
          </a:p>
        </p:txBody>
      </p:sp>
      <p:sp>
        <p:nvSpPr>
          <p:cNvPr id="22" name="Text 17"/>
          <p:cNvSpPr/>
          <p:nvPr/>
        </p:nvSpPr>
        <p:spPr>
          <a:xfrm>
            <a:off x="1325880" y="4343400"/>
            <a:ext cx="448056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Mesure des temps de réponse et de la charge</a:t>
            </a:r>
            <a:endParaRPr lang="en-US" sz="1100" dirty="0"/>
          </a:p>
        </p:txBody>
      </p:sp>
      <p:sp>
        <p:nvSpPr>
          <p:cNvPr id="23" name="Shape 18"/>
          <p:cNvSpPr/>
          <p:nvPr/>
        </p:nvSpPr>
        <p:spPr>
          <a:xfrm>
            <a:off x="548640" y="4846320"/>
            <a:ext cx="5486400" cy="777240"/>
          </a:xfrm>
          <a:prstGeom prst="roundRect">
            <a:avLst>
              <a:gd name="adj" fmla="val 11765"/>
            </a:avLst>
          </a:prstGeom>
          <a:solidFill>
            <a:srgbClr val="F8FAFC"/>
          </a:solidFill>
          <a:ln w="12700">
            <a:solidFill>
              <a:srgbClr val="E2E8F0"/>
            </a:solidFill>
            <a:prstDash val="solid"/>
          </a:ln>
        </p:spPr>
      </p:sp>
      <p:sp>
        <p:nvSpPr>
          <p:cNvPr id="24" name="Shape 19"/>
          <p:cNvSpPr/>
          <p:nvPr/>
        </p:nvSpPr>
        <p:spPr>
          <a:xfrm>
            <a:off x="713232" y="5010912"/>
            <a:ext cx="457200" cy="457200"/>
          </a:xfrm>
          <a:prstGeom prst="ellipse">
            <a:avLst/>
          </a:prstGeom>
          <a:solidFill>
            <a:srgbClr val="10B981"/>
          </a:solidFill>
          <a:ln w="12700">
            <a:solidFill>
              <a:srgbClr val="10B981"/>
            </a:solidFill>
            <a:prstDash val="solid"/>
          </a:ln>
        </p:spPr>
      </p:sp>
      <p:pic>
        <p:nvPicPr>
          <p:cNvPr id="25" name="Image 3" descr="preencoded.png">    </p:cNvPr>
          <p:cNvPicPr>
            <a:picLocks noChangeAspect="1"/>
          </p:cNvPicPr>
          <p:nvPr/>
        </p:nvPicPr>
        <p:blipFill>
          <a:blip r:embed="rId4"/>
          <a:stretch>
            <a:fillRect/>
          </a:stretch>
        </p:blipFill>
        <p:spPr>
          <a:xfrm>
            <a:off x="786384" y="5084064"/>
            <a:ext cx="310896" cy="310896"/>
          </a:xfrm>
          <a:prstGeom prst="rect">
            <a:avLst/>
          </a:prstGeom>
        </p:spPr>
      </p:pic>
      <p:sp>
        <p:nvSpPr>
          <p:cNvPr id="26" name="Text 20"/>
          <p:cNvSpPr/>
          <p:nvPr/>
        </p:nvSpPr>
        <p:spPr>
          <a:xfrm>
            <a:off x="1325880" y="4892040"/>
            <a:ext cx="448056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Tests utilisateurs</a:t>
            </a:r>
            <a:endParaRPr lang="en-US" sz="1400" dirty="0"/>
          </a:p>
        </p:txBody>
      </p:sp>
      <p:sp>
        <p:nvSpPr>
          <p:cNvPr id="27" name="Text 21"/>
          <p:cNvSpPr/>
          <p:nvPr/>
        </p:nvSpPr>
        <p:spPr>
          <a:xfrm>
            <a:off x="1325880" y="5257800"/>
            <a:ext cx="448056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Validation de l'ergonomie et de l'expérience</a:t>
            </a:r>
            <a:endParaRPr lang="en-US" sz="1100" dirty="0"/>
          </a:p>
        </p:txBody>
      </p:sp>
      <p:sp>
        <p:nvSpPr>
          <p:cNvPr id="28" name="Shape 22"/>
          <p:cNvSpPr/>
          <p:nvPr/>
        </p:nvSpPr>
        <p:spPr>
          <a:xfrm>
            <a:off x="6400800" y="1554480"/>
            <a:ext cx="5212080" cy="4572000"/>
          </a:xfrm>
          <a:prstGeom prst="roundRect">
            <a:avLst>
              <a:gd name="adj" fmla="val 3200"/>
            </a:avLst>
          </a:prstGeom>
          <a:solidFill>
            <a:srgbClr val="0F172A"/>
          </a:solidFill>
          <a:ln w="12700">
            <a:solidFill>
              <a:srgbClr val="0F172A"/>
            </a:solidFill>
            <a:prstDash val="solid"/>
          </a:ln>
        </p:spPr>
      </p:sp>
      <p:sp>
        <p:nvSpPr>
          <p:cNvPr id="29" name="Text 23"/>
          <p:cNvSpPr/>
          <p:nvPr/>
        </p:nvSpPr>
        <p:spPr>
          <a:xfrm>
            <a:off x="6583680" y="1783080"/>
            <a:ext cx="4846320" cy="45720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Résultats des tests</a:t>
            </a:r>
            <a:endParaRPr lang="en-US" sz="1600" dirty="0"/>
          </a:p>
        </p:txBody>
      </p:sp>
      <p:sp>
        <p:nvSpPr>
          <p:cNvPr id="30" name="Text 24"/>
          <p:cNvSpPr/>
          <p:nvPr/>
        </p:nvSpPr>
        <p:spPr>
          <a:xfrm>
            <a:off x="6675120" y="2468880"/>
            <a:ext cx="4846320" cy="5943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98%</a:t>
            </a:r>
            <a:endParaRPr lang="en-US" sz="3600" dirty="0"/>
          </a:p>
        </p:txBody>
      </p:sp>
      <p:sp>
        <p:nvSpPr>
          <p:cNvPr id="31" name="Text 25"/>
          <p:cNvSpPr/>
          <p:nvPr/>
        </p:nvSpPr>
        <p:spPr>
          <a:xfrm>
            <a:off x="6675120" y="3063240"/>
            <a:ext cx="4846320" cy="411480"/>
          </a:xfrm>
          <a:prstGeom prst="rect">
            <a:avLst/>
          </a:prstGeom>
          <a:noFill/>
          <a:ln/>
        </p:spPr>
        <p:txBody>
          <a:bodyPr wrap="square" lIns="0" tIns="0" rIns="0" bIns="0" rtlCol="0" anchor="ctr"/>
          <a:lstStyle/>
          <a:p>
            <a:pPr indent="0" marL="0">
              <a:buNone/>
            </a:pPr>
            <a:r>
              <a:rPr lang="en-US" sz="1300" i="1" dirty="0">
                <a:solidFill>
                  <a:srgbClr val="CBD5E1"/>
                </a:solidFill>
                <a:latin typeface="Calibri" pitchFamily="34" charset="0"/>
                <a:ea typeface="Calibri" pitchFamily="34" charset="-122"/>
                <a:cs typeface="Calibri" pitchFamily="34" charset="-120"/>
              </a:rPr>
              <a:t>de tests réussis</a:t>
            </a:r>
            <a:endParaRPr lang="en-US" sz="1300" dirty="0"/>
          </a:p>
        </p:txBody>
      </p:sp>
      <p:sp>
        <p:nvSpPr>
          <p:cNvPr id="32" name="Text 26"/>
          <p:cNvSpPr/>
          <p:nvPr/>
        </p:nvSpPr>
        <p:spPr>
          <a:xfrm>
            <a:off x="6675120" y="3611880"/>
            <a:ext cx="4846320" cy="5943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120+</a:t>
            </a:r>
            <a:endParaRPr lang="en-US" sz="3600" dirty="0"/>
          </a:p>
        </p:txBody>
      </p:sp>
      <p:sp>
        <p:nvSpPr>
          <p:cNvPr id="33" name="Text 27"/>
          <p:cNvSpPr/>
          <p:nvPr/>
        </p:nvSpPr>
        <p:spPr>
          <a:xfrm>
            <a:off x="6675120" y="4206240"/>
            <a:ext cx="4846320" cy="411480"/>
          </a:xfrm>
          <a:prstGeom prst="rect">
            <a:avLst/>
          </a:prstGeom>
          <a:noFill/>
          <a:ln/>
        </p:spPr>
        <p:txBody>
          <a:bodyPr wrap="square" lIns="0" tIns="0" rIns="0" bIns="0" rtlCol="0" anchor="ctr"/>
          <a:lstStyle/>
          <a:p>
            <a:pPr indent="0" marL="0">
              <a:buNone/>
            </a:pPr>
            <a:r>
              <a:rPr lang="en-US" sz="1300" i="1" dirty="0">
                <a:solidFill>
                  <a:srgbClr val="CBD5E1"/>
                </a:solidFill>
                <a:latin typeface="Calibri" pitchFamily="34" charset="0"/>
                <a:ea typeface="Calibri" pitchFamily="34" charset="-122"/>
                <a:cs typeface="Calibri" pitchFamily="34" charset="-120"/>
              </a:rPr>
              <a:t>scénarios couverts</a:t>
            </a:r>
            <a:endParaRPr lang="en-US" sz="1300" dirty="0"/>
          </a:p>
        </p:txBody>
      </p:sp>
      <p:sp>
        <p:nvSpPr>
          <p:cNvPr id="34" name="Text 28"/>
          <p:cNvSpPr/>
          <p:nvPr/>
        </p:nvSpPr>
        <p:spPr>
          <a:xfrm>
            <a:off x="6675120" y="4754880"/>
            <a:ext cx="4846320" cy="5943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&lt; 200 ms</a:t>
            </a:r>
            <a:endParaRPr lang="en-US" sz="3600" dirty="0"/>
          </a:p>
        </p:txBody>
      </p:sp>
      <p:sp>
        <p:nvSpPr>
          <p:cNvPr id="35" name="Text 29"/>
          <p:cNvSpPr/>
          <p:nvPr/>
        </p:nvSpPr>
        <p:spPr>
          <a:xfrm>
            <a:off x="6675120" y="5349240"/>
            <a:ext cx="4846320" cy="411480"/>
          </a:xfrm>
          <a:prstGeom prst="rect">
            <a:avLst/>
          </a:prstGeom>
          <a:noFill/>
          <a:ln/>
        </p:spPr>
        <p:txBody>
          <a:bodyPr wrap="square" lIns="0" tIns="0" rIns="0" bIns="0" rtlCol="0" anchor="ctr"/>
          <a:lstStyle/>
          <a:p>
            <a:pPr indent="0" marL="0">
              <a:buNone/>
            </a:pPr>
            <a:r>
              <a:rPr lang="en-US" sz="1300" i="1" dirty="0">
                <a:solidFill>
                  <a:srgbClr val="CBD5E1"/>
                </a:solidFill>
                <a:latin typeface="Calibri" pitchFamily="34" charset="0"/>
                <a:ea typeface="Calibri" pitchFamily="34" charset="-122"/>
                <a:cs typeface="Calibri" pitchFamily="34" charset="-120"/>
              </a:rPr>
              <a:t>temps de réponse moyen</a:t>
            </a:r>
            <a:endParaRPr lang="en-US" sz="1300" dirty="0"/>
          </a:p>
        </p:txBody>
      </p:sp>
      <p:sp>
        <p:nvSpPr>
          <p:cNvPr id="36" name="Text 3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37" name="Text 31"/>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 / 27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Résultats obtenus</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645920"/>
            <a:ext cx="2697480" cy="2194560"/>
          </a:xfrm>
          <a:prstGeom prst="roundRect">
            <a:avLst>
              <a:gd name="adj" fmla="val 5833"/>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8" name="Shape 6"/>
          <p:cNvSpPr/>
          <p:nvPr/>
        </p:nvSpPr>
        <p:spPr>
          <a:xfrm>
            <a:off x="548640" y="1645920"/>
            <a:ext cx="2697480" cy="109728"/>
          </a:xfrm>
          <a:prstGeom prst="rect">
            <a:avLst/>
          </a:prstGeom>
          <a:solidFill>
            <a:srgbClr val="4F46E5"/>
          </a:solidFill>
          <a:ln w="12700">
            <a:solidFill>
              <a:srgbClr val="4F46E5"/>
            </a:solidFill>
            <a:prstDash val="solid"/>
          </a:ln>
        </p:spPr>
      </p:sp>
      <p:sp>
        <p:nvSpPr>
          <p:cNvPr id="9" name="Shape 7"/>
          <p:cNvSpPr/>
          <p:nvPr/>
        </p:nvSpPr>
        <p:spPr>
          <a:xfrm>
            <a:off x="822960" y="1938528"/>
            <a:ext cx="685800" cy="685800"/>
          </a:xfrm>
          <a:prstGeom prst="ellipse">
            <a:avLst/>
          </a:prstGeom>
          <a:solidFill>
            <a:srgbClr val="4F46E5"/>
          </a:solidFill>
          <a:ln w="12700">
            <a:solidFill>
              <a:srgbClr val="4F46E5"/>
            </a:solidFill>
            <a:prstDash val="solid"/>
          </a:ln>
        </p:spPr>
      </p:sp>
      <p:pic>
        <p:nvPicPr>
          <p:cNvPr id="10" name="Image 0" descr="preencoded.png">    </p:cNvPr>
          <p:cNvPicPr>
            <a:picLocks noChangeAspect="1"/>
          </p:cNvPicPr>
          <p:nvPr/>
        </p:nvPicPr>
        <p:blipFill>
          <a:blip r:embed="rId1"/>
          <a:stretch>
            <a:fillRect/>
          </a:stretch>
        </p:blipFill>
        <p:spPr>
          <a:xfrm>
            <a:off x="960120" y="2075688"/>
            <a:ext cx="411480" cy="411480"/>
          </a:xfrm>
          <a:prstGeom prst="rect">
            <a:avLst/>
          </a:prstGeom>
        </p:spPr>
      </p:pic>
      <p:sp>
        <p:nvSpPr>
          <p:cNvPr id="11" name="Text 8"/>
          <p:cNvSpPr/>
          <p:nvPr/>
        </p:nvSpPr>
        <p:spPr>
          <a:xfrm>
            <a:off x="731520" y="2697480"/>
            <a:ext cx="2331720" cy="685800"/>
          </a:xfrm>
          <a:prstGeom prst="rect">
            <a:avLst/>
          </a:prstGeom>
          <a:noFill/>
          <a:ln/>
        </p:spPr>
        <p:txBody>
          <a:bodyPr wrap="square" lIns="0" tIns="0" rIns="0" bIns="0" rtlCol="0" anchor="ctr"/>
          <a:lstStyle/>
          <a:p>
            <a:pPr indent="0" marL="0">
              <a:buNone/>
            </a:pPr>
            <a:r>
              <a:rPr lang="en-US" sz="3800" b="1" dirty="0">
                <a:solidFill>
                  <a:srgbClr val="4F46E5"/>
                </a:solidFill>
                <a:latin typeface="Calibri" pitchFamily="34" charset="0"/>
                <a:ea typeface="Calibri" pitchFamily="34" charset="-122"/>
                <a:cs typeface="Calibri" pitchFamily="34" charset="-120"/>
              </a:rPr>
              <a:t>100%</a:t>
            </a:r>
            <a:endParaRPr lang="en-US" sz="3800" dirty="0"/>
          </a:p>
        </p:txBody>
      </p:sp>
      <p:sp>
        <p:nvSpPr>
          <p:cNvPr id="12" name="Text 9"/>
          <p:cNvSpPr/>
          <p:nvPr/>
        </p:nvSpPr>
        <p:spPr>
          <a:xfrm>
            <a:off x="731520" y="3383280"/>
            <a:ext cx="233172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Fonctionnalités implémentées</a:t>
            </a:r>
            <a:endParaRPr lang="en-US" sz="1200" dirty="0"/>
          </a:p>
        </p:txBody>
      </p:sp>
      <p:sp>
        <p:nvSpPr>
          <p:cNvPr id="13" name="Shape 10"/>
          <p:cNvSpPr/>
          <p:nvPr/>
        </p:nvSpPr>
        <p:spPr>
          <a:xfrm>
            <a:off x="3456432" y="1645920"/>
            <a:ext cx="2697480" cy="2194560"/>
          </a:xfrm>
          <a:prstGeom prst="roundRect">
            <a:avLst>
              <a:gd name="adj" fmla="val 5833"/>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14" name="Shape 11"/>
          <p:cNvSpPr/>
          <p:nvPr/>
        </p:nvSpPr>
        <p:spPr>
          <a:xfrm>
            <a:off x="3456432" y="1645920"/>
            <a:ext cx="2697480" cy="109728"/>
          </a:xfrm>
          <a:prstGeom prst="rect">
            <a:avLst/>
          </a:prstGeom>
          <a:solidFill>
            <a:srgbClr val="06B6D4"/>
          </a:solidFill>
          <a:ln w="12700">
            <a:solidFill>
              <a:srgbClr val="06B6D4"/>
            </a:solidFill>
            <a:prstDash val="solid"/>
          </a:ln>
        </p:spPr>
      </p:sp>
      <p:sp>
        <p:nvSpPr>
          <p:cNvPr id="15" name="Shape 12"/>
          <p:cNvSpPr/>
          <p:nvPr/>
        </p:nvSpPr>
        <p:spPr>
          <a:xfrm>
            <a:off x="3730752" y="1938528"/>
            <a:ext cx="685800" cy="685800"/>
          </a:xfrm>
          <a:prstGeom prst="ellipse">
            <a:avLst/>
          </a:prstGeom>
          <a:solidFill>
            <a:srgbClr val="06B6D4"/>
          </a:solidFill>
          <a:ln w="12700">
            <a:solidFill>
              <a:srgbClr val="06B6D4"/>
            </a:solidFill>
            <a:prstDash val="solid"/>
          </a:ln>
        </p:spPr>
      </p:sp>
      <p:pic>
        <p:nvPicPr>
          <p:cNvPr id="16" name="Image 1" descr="preencoded.png">    </p:cNvPr>
          <p:cNvPicPr>
            <a:picLocks noChangeAspect="1"/>
          </p:cNvPicPr>
          <p:nvPr/>
        </p:nvPicPr>
        <p:blipFill>
          <a:blip r:embed="rId2"/>
          <a:stretch>
            <a:fillRect/>
          </a:stretch>
        </p:blipFill>
        <p:spPr>
          <a:xfrm>
            <a:off x="3867912" y="2075688"/>
            <a:ext cx="411480" cy="411480"/>
          </a:xfrm>
          <a:prstGeom prst="rect">
            <a:avLst/>
          </a:prstGeom>
        </p:spPr>
      </p:pic>
      <p:sp>
        <p:nvSpPr>
          <p:cNvPr id="17" name="Text 13"/>
          <p:cNvSpPr/>
          <p:nvPr/>
        </p:nvSpPr>
        <p:spPr>
          <a:xfrm>
            <a:off x="3639312" y="2697480"/>
            <a:ext cx="2331720" cy="685800"/>
          </a:xfrm>
          <a:prstGeom prst="rect">
            <a:avLst/>
          </a:prstGeom>
          <a:noFill/>
          <a:ln/>
        </p:spPr>
        <p:txBody>
          <a:bodyPr wrap="square" lIns="0" tIns="0" rIns="0" bIns="0" rtlCol="0" anchor="ctr"/>
          <a:lstStyle/>
          <a:p>
            <a:pPr indent="0" marL="0">
              <a:buNone/>
            </a:pPr>
            <a:r>
              <a:rPr lang="en-US" sz="3800" b="1" dirty="0">
                <a:solidFill>
                  <a:srgbClr val="06B6D4"/>
                </a:solidFill>
                <a:latin typeface="Calibri" pitchFamily="34" charset="0"/>
                <a:ea typeface="Calibri" pitchFamily="34" charset="-122"/>
                <a:cs typeface="Calibri" pitchFamily="34" charset="-120"/>
              </a:rPr>
              <a:t>98%</a:t>
            </a:r>
            <a:endParaRPr lang="en-US" sz="3800" dirty="0"/>
          </a:p>
        </p:txBody>
      </p:sp>
      <p:sp>
        <p:nvSpPr>
          <p:cNvPr id="18" name="Text 14"/>
          <p:cNvSpPr/>
          <p:nvPr/>
        </p:nvSpPr>
        <p:spPr>
          <a:xfrm>
            <a:off x="3639312" y="3383280"/>
            <a:ext cx="233172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Taux de réussite des tests</a:t>
            </a:r>
            <a:endParaRPr lang="en-US" sz="1200" dirty="0"/>
          </a:p>
        </p:txBody>
      </p:sp>
      <p:sp>
        <p:nvSpPr>
          <p:cNvPr id="19" name="Shape 15"/>
          <p:cNvSpPr/>
          <p:nvPr/>
        </p:nvSpPr>
        <p:spPr>
          <a:xfrm>
            <a:off x="6364224" y="1645920"/>
            <a:ext cx="2697480" cy="2194560"/>
          </a:xfrm>
          <a:prstGeom prst="roundRect">
            <a:avLst>
              <a:gd name="adj" fmla="val 5833"/>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20" name="Shape 16"/>
          <p:cNvSpPr/>
          <p:nvPr/>
        </p:nvSpPr>
        <p:spPr>
          <a:xfrm>
            <a:off x="6364224" y="1645920"/>
            <a:ext cx="2697480" cy="109728"/>
          </a:xfrm>
          <a:prstGeom prst="rect">
            <a:avLst/>
          </a:prstGeom>
          <a:solidFill>
            <a:srgbClr val="F59E0B"/>
          </a:solidFill>
          <a:ln w="12700">
            <a:solidFill>
              <a:srgbClr val="F59E0B"/>
            </a:solidFill>
            <a:prstDash val="solid"/>
          </a:ln>
        </p:spPr>
      </p:sp>
      <p:sp>
        <p:nvSpPr>
          <p:cNvPr id="21" name="Shape 17"/>
          <p:cNvSpPr/>
          <p:nvPr/>
        </p:nvSpPr>
        <p:spPr>
          <a:xfrm>
            <a:off x="6638544" y="1938528"/>
            <a:ext cx="685800" cy="685800"/>
          </a:xfrm>
          <a:prstGeom prst="ellipse">
            <a:avLst/>
          </a:prstGeom>
          <a:solidFill>
            <a:srgbClr val="F59E0B"/>
          </a:solidFill>
          <a:ln w="12700">
            <a:solidFill>
              <a:srgbClr val="F59E0B"/>
            </a:solidFill>
            <a:prstDash val="solid"/>
          </a:ln>
        </p:spPr>
      </p:sp>
      <p:pic>
        <p:nvPicPr>
          <p:cNvPr id="22" name="Image 2" descr="preencoded.png">    </p:cNvPr>
          <p:cNvPicPr>
            <a:picLocks noChangeAspect="1"/>
          </p:cNvPicPr>
          <p:nvPr/>
        </p:nvPicPr>
        <p:blipFill>
          <a:blip r:embed="rId3"/>
          <a:stretch>
            <a:fillRect/>
          </a:stretch>
        </p:blipFill>
        <p:spPr>
          <a:xfrm>
            <a:off x="6775704" y="2075688"/>
            <a:ext cx="411480" cy="411480"/>
          </a:xfrm>
          <a:prstGeom prst="rect">
            <a:avLst/>
          </a:prstGeom>
        </p:spPr>
      </p:pic>
      <p:sp>
        <p:nvSpPr>
          <p:cNvPr id="23" name="Text 18"/>
          <p:cNvSpPr/>
          <p:nvPr/>
        </p:nvSpPr>
        <p:spPr>
          <a:xfrm>
            <a:off x="6547104" y="2697480"/>
            <a:ext cx="2331720" cy="685800"/>
          </a:xfrm>
          <a:prstGeom prst="rect">
            <a:avLst/>
          </a:prstGeom>
          <a:noFill/>
          <a:ln/>
        </p:spPr>
        <p:txBody>
          <a:bodyPr wrap="square" lIns="0" tIns="0" rIns="0" bIns="0" rtlCol="0" anchor="ctr"/>
          <a:lstStyle/>
          <a:p>
            <a:pPr indent="0" marL="0">
              <a:buNone/>
            </a:pPr>
            <a:r>
              <a:rPr lang="en-US" sz="3800" b="1" dirty="0">
                <a:solidFill>
                  <a:srgbClr val="F59E0B"/>
                </a:solidFill>
                <a:latin typeface="Calibri" pitchFamily="34" charset="0"/>
                <a:ea typeface="Calibri" pitchFamily="34" charset="-122"/>
                <a:cs typeface="Calibri" pitchFamily="34" charset="-120"/>
              </a:rPr>
              <a:t>× 3</a:t>
            </a:r>
            <a:endParaRPr lang="en-US" sz="3800" dirty="0"/>
          </a:p>
        </p:txBody>
      </p:sp>
      <p:sp>
        <p:nvSpPr>
          <p:cNvPr id="24" name="Text 19"/>
          <p:cNvSpPr/>
          <p:nvPr/>
        </p:nvSpPr>
        <p:spPr>
          <a:xfrm>
            <a:off x="6547104" y="3383280"/>
            <a:ext cx="233172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Gain en performance</a:t>
            </a:r>
            <a:endParaRPr lang="en-US" sz="1200" dirty="0"/>
          </a:p>
        </p:txBody>
      </p:sp>
      <p:sp>
        <p:nvSpPr>
          <p:cNvPr id="25" name="Shape 20"/>
          <p:cNvSpPr/>
          <p:nvPr/>
        </p:nvSpPr>
        <p:spPr>
          <a:xfrm>
            <a:off x="9272016" y="1645920"/>
            <a:ext cx="2697480" cy="2194560"/>
          </a:xfrm>
          <a:prstGeom prst="roundRect">
            <a:avLst>
              <a:gd name="adj" fmla="val 5833"/>
            </a:avLst>
          </a:prstGeom>
          <a:solidFill>
            <a:srgbClr val="FFFFFF"/>
          </a:solidFill>
          <a:ln w="12700">
            <a:solidFill>
              <a:srgbClr val="E2E8F0"/>
            </a:solidFill>
            <a:prstDash val="solid"/>
          </a:ln>
          <a:effectLst>
            <a:outerShdw sx="100000" sy="100000" kx="0" ky="0" algn="bl" rotWithShape="0" blurRad="152400" dist="38100" dir="5400000">
              <a:srgbClr val="000000">
                <a:alpha val="12000"/>
              </a:srgbClr>
            </a:outerShdw>
          </a:effectLst>
        </p:spPr>
      </p:sp>
      <p:sp>
        <p:nvSpPr>
          <p:cNvPr id="26" name="Shape 21"/>
          <p:cNvSpPr/>
          <p:nvPr/>
        </p:nvSpPr>
        <p:spPr>
          <a:xfrm>
            <a:off x="9272016" y="1645920"/>
            <a:ext cx="2697480" cy="109728"/>
          </a:xfrm>
          <a:prstGeom prst="rect">
            <a:avLst/>
          </a:prstGeom>
          <a:solidFill>
            <a:srgbClr val="10B981"/>
          </a:solidFill>
          <a:ln w="12700">
            <a:solidFill>
              <a:srgbClr val="10B981"/>
            </a:solidFill>
            <a:prstDash val="solid"/>
          </a:ln>
        </p:spPr>
      </p:sp>
      <p:sp>
        <p:nvSpPr>
          <p:cNvPr id="27" name="Shape 22"/>
          <p:cNvSpPr/>
          <p:nvPr/>
        </p:nvSpPr>
        <p:spPr>
          <a:xfrm>
            <a:off x="9546336" y="1938528"/>
            <a:ext cx="685800" cy="685800"/>
          </a:xfrm>
          <a:prstGeom prst="ellipse">
            <a:avLst/>
          </a:prstGeom>
          <a:solidFill>
            <a:srgbClr val="10B981"/>
          </a:solidFill>
          <a:ln w="12700">
            <a:solidFill>
              <a:srgbClr val="10B981"/>
            </a:solidFill>
            <a:prstDash val="solid"/>
          </a:ln>
        </p:spPr>
      </p:sp>
      <p:pic>
        <p:nvPicPr>
          <p:cNvPr id="28" name="Image 3" descr="preencoded.png">    </p:cNvPr>
          <p:cNvPicPr>
            <a:picLocks noChangeAspect="1"/>
          </p:cNvPicPr>
          <p:nvPr/>
        </p:nvPicPr>
        <p:blipFill>
          <a:blip r:embed="rId4"/>
          <a:stretch>
            <a:fillRect/>
          </a:stretch>
        </p:blipFill>
        <p:spPr>
          <a:xfrm>
            <a:off x="9683496" y="2075688"/>
            <a:ext cx="411480" cy="411480"/>
          </a:xfrm>
          <a:prstGeom prst="rect">
            <a:avLst/>
          </a:prstGeom>
        </p:spPr>
      </p:pic>
      <p:sp>
        <p:nvSpPr>
          <p:cNvPr id="29" name="Text 23"/>
          <p:cNvSpPr/>
          <p:nvPr/>
        </p:nvSpPr>
        <p:spPr>
          <a:xfrm>
            <a:off x="9454896" y="2697480"/>
            <a:ext cx="2331720" cy="685800"/>
          </a:xfrm>
          <a:prstGeom prst="rect">
            <a:avLst/>
          </a:prstGeom>
          <a:noFill/>
          <a:ln/>
        </p:spPr>
        <p:txBody>
          <a:bodyPr wrap="square" lIns="0" tIns="0" rIns="0" bIns="0" rtlCol="0" anchor="ctr"/>
          <a:lstStyle/>
          <a:p>
            <a:pPr indent="0" marL="0">
              <a:buNone/>
            </a:pPr>
            <a:r>
              <a:rPr lang="en-US" sz="3800" b="1" dirty="0">
                <a:solidFill>
                  <a:srgbClr val="10B981"/>
                </a:solidFill>
                <a:latin typeface="Calibri" pitchFamily="34" charset="0"/>
                <a:ea typeface="Calibri" pitchFamily="34" charset="-122"/>
                <a:cs typeface="Calibri" pitchFamily="34" charset="-120"/>
              </a:rPr>
              <a:t>+5</a:t>
            </a:r>
            <a:endParaRPr lang="en-US" sz="3800" dirty="0"/>
          </a:p>
        </p:txBody>
      </p:sp>
      <p:sp>
        <p:nvSpPr>
          <p:cNvPr id="30" name="Text 24"/>
          <p:cNvSpPr/>
          <p:nvPr/>
        </p:nvSpPr>
        <p:spPr>
          <a:xfrm>
            <a:off x="9454896" y="3383280"/>
            <a:ext cx="233172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Améliorations apportées</a:t>
            </a:r>
            <a:endParaRPr lang="en-US" sz="1200" dirty="0"/>
          </a:p>
        </p:txBody>
      </p:sp>
      <p:sp>
        <p:nvSpPr>
          <p:cNvPr id="31" name="Shape 25"/>
          <p:cNvSpPr/>
          <p:nvPr/>
        </p:nvSpPr>
        <p:spPr>
          <a:xfrm>
            <a:off x="548640" y="4114800"/>
            <a:ext cx="11064240" cy="1920240"/>
          </a:xfrm>
          <a:prstGeom prst="roundRect">
            <a:avLst>
              <a:gd name="adj" fmla="val 6667"/>
            </a:avLst>
          </a:prstGeom>
          <a:solidFill>
            <a:srgbClr val="FFFFFF"/>
          </a:solidFill>
          <a:ln w="12700">
            <a:solidFill>
              <a:srgbClr val="E2E8F0"/>
            </a:solidFill>
            <a:prstDash val="solid"/>
          </a:ln>
        </p:spPr>
      </p:sp>
      <p:sp>
        <p:nvSpPr>
          <p:cNvPr id="32" name="Shape 26"/>
          <p:cNvSpPr/>
          <p:nvPr/>
        </p:nvSpPr>
        <p:spPr>
          <a:xfrm>
            <a:off x="548640" y="4114800"/>
            <a:ext cx="164592" cy="1920240"/>
          </a:xfrm>
          <a:prstGeom prst="rect">
            <a:avLst/>
          </a:prstGeom>
          <a:solidFill>
            <a:srgbClr val="4F46E5"/>
          </a:solidFill>
          <a:ln w="12700">
            <a:solidFill>
              <a:srgbClr val="4F46E5"/>
            </a:solidFill>
            <a:prstDash val="solid"/>
          </a:ln>
        </p:spPr>
      </p:sp>
      <p:sp>
        <p:nvSpPr>
          <p:cNvPr id="33" name="Text 27"/>
          <p:cNvSpPr/>
          <p:nvPr/>
        </p:nvSpPr>
        <p:spPr>
          <a:xfrm>
            <a:off x="868680" y="4251960"/>
            <a:ext cx="10515600" cy="411480"/>
          </a:xfrm>
          <a:prstGeom prst="rect">
            <a:avLst/>
          </a:prstGeom>
          <a:noFill/>
          <a:ln/>
        </p:spPr>
        <p:txBody>
          <a:bodyPr wrap="square" lIns="0" tIns="0" rIns="0" bIns="0" rtlCol="0" anchor="ctr"/>
          <a:lstStyle/>
          <a:p>
            <a:pPr indent="0" marL="0">
              <a:buNone/>
            </a:pPr>
            <a:r>
              <a:rPr lang="en-US" sz="1600" b="1" dirty="0">
                <a:solidFill>
                  <a:srgbClr val="4F46E5"/>
                </a:solidFill>
                <a:latin typeface="Calibri" pitchFamily="34" charset="0"/>
                <a:ea typeface="Calibri" pitchFamily="34" charset="-122"/>
                <a:cs typeface="Calibri" pitchFamily="34" charset="-120"/>
              </a:rPr>
              <a:t>Synthèse</a:t>
            </a:r>
            <a:endParaRPr lang="en-US" sz="1600" dirty="0"/>
          </a:p>
        </p:txBody>
      </p:sp>
      <p:sp>
        <p:nvSpPr>
          <p:cNvPr id="34" name="Text 28"/>
          <p:cNvSpPr/>
          <p:nvPr/>
        </p:nvSpPr>
        <p:spPr>
          <a:xfrm>
            <a:off x="868680" y="4709160"/>
            <a:ext cx="10515600" cy="1280160"/>
          </a:xfrm>
          <a:prstGeom prst="rect">
            <a:avLst/>
          </a:prstGeom>
          <a:noFill/>
          <a:ln/>
        </p:spPr>
        <p:txBody>
          <a:bodyPr wrap="square" lIns="0" tIns="0" rIns="0" bIns="0" rtlCol="0" anchor="ctr"/>
          <a:lstStyle/>
          <a:p>
            <a:pPr indent="0" marL="0">
              <a:buNone/>
            </a:pPr>
            <a:r>
              <a:rPr lang="en-US" sz="1300" dirty="0">
                <a:solidFill>
                  <a:srgbClr val="334155"/>
                </a:solidFill>
                <a:latin typeface="Calibri" pitchFamily="34" charset="0"/>
                <a:ea typeface="Calibri" pitchFamily="34" charset="-122"/>
                <a:cs typeface="Calibri" pitchFamily="34" charset="-120"/>
              </a:rPr>
              <a:t>Les résultats obtenus confirment la pertinence de l'approche choisie. Les indicateurs quantitatifs et qualitatifs montrent que les objectifs initiaux ont été atteints, et que la solution développée répond efficacement aux besoins exprimés.</a:t>
            </a:r>
            <a:endParaRPr lang="en-US" sz="1300" dirty="0"/>
          </a:p>
        </p:txBody>
      </p:sp>
      <p:sp>
        <p:nvSpPr>
          <p:cNvPr id="35" name="Text 29"/>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36" name="Text 30"/>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 / 27</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Analyse des performances</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Text 5"/>
          <p:cNvSpPr/>
          <p:nvPr/>
        </p:nvSpPr>
        <p:spPr>
          <a:xfrm>
            <a:off x="548640" y="1463040"/>
            <a:ext cx="10972800" cy="36576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Comparaison avant / après — métrique clé</a:t>
            </a:r>
            <a:endParaRPr lang="en-US" sz="1300" dirty="0"/>
          </a:p>
        </p:txBody>
      </p:sp>
      <p:graphicFrame>
        <p:nvGraphicFramePr>
          <p:cNvPr id="8" name="Chart 0" descr=""/>
          <p:cNvGraphicFramePr/>
          <p:nvPr/>
        </p:nvGraphicFramePr>
        <p:xfrm>
          <a:off x="548640" y="1920240"/>
          <a:ext cx="7315200" cy="420624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092440" y="1920240"/>
            <a:ext cx="3520440" cy="4206240"/>
          </a:xfrm>
          <a:prstGeom prst="roundRect">
            <a:avLst>
              <a:gd name="adj" fmla="val 3636"/>
            </a:avLst>
          </a:prstGeom>
          <a:solidFill>
            <a:srgbClr val="F8FAFC"/>
          </a:solidFill>
          <a:ln w="12700">
            <a:solidFill>
              <a:srgbClr val="E2E8F0"/>
            </a:solidFill>
            <a:prstDash val="solid"/>
          </a:ln>
        </p:spPr>
      </p:sp>
      <p:sp>
        <p:nvSpPr>
          <p:cNvPr id="10" name="Text 7"/>
          <p:cNvSpPr/>
          <p:nvPr/>
        </p:nvSpPr>
        <p:spPr>
          <a:xfrm>
            <a:off x="8275320" y="2057400"/>
            <a:ext cx="3200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Lecture du graphique</a:t>
            </a:r>
            <a:endParaRPr lang="en-US" sz="1400" dirty="0"/>
          </a:p>
        </p:txBody>
      </p:sp>
      <p:sp>
        <p:nvSpPr>
          <p:cNvPr id="11" name="Text 8"/>
          <p:cNvSpPr/>
          <p:nvPr/>
        </p:nvSpPr>
        <p:spPr>
          <a:xfrm>
            <a:off x="8275320" y="2468880"/>
            <a:ext cx="3246120" cy="35204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Progression nette sur tous les axes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Gain particulièrement marqué en précision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Amélioration cohérente de la satisfaction utilisateur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Solution validée selon tous les critères mesurés</a:t>
            </a:r>
            <a:endParaRPr lang="en-US" sz="1200" dirty="0"/>
          </a:p>
        </p:txBody>
      </p:sp>
      <p:sp>
        <p:nvSpPr>
          <p:cNvPr id="12" name="Text 9"/>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13" name="Text 10"/>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 / 27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Difficultés rencontrées</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554480"/>
            <a:ext cx="3703320" cy="2240280"/>
          </a:xfrm>
          <a:prstGeom prst="roundRect">
            <a:avLst>
              <a:gd name="adj" fmla="val 4898"/>
            </a:avLst>
          </a:prstGeom>
          <a:solidFill>
            <a:srgbClr val="F8FAFC"/>
          </a:solidFill>
          <a:ln w="12700">
            <a:solidFill>
              <a:srgbClr val="E2E8F0"/>
            </a:solidFill>
            <a:prstDash val="solid"/>
          </a:ln>
        </p:spPr>
      </p:sp>
      <p:sp>
        <p:nvSpPr>
          <p:cNvPr id="8" name="Shape 6"/>
          <p:cNvSpPr/>
          <p:nvPr/>
        </p:nvSpPr>
        <p:spPr>
          <a:xfrm>
            <a:off x="822960" y="1828800"/>
            <a:ext cx="640080" cy="640080"/>
          </a:xfrm>
          <a:prstGeom prst="ellipse">
            <a:avLst/>
          </a:prstGeom>
          <a:solidFill>
            <a:srgbClr val="EC4899"/>
          </a:solidFill>
          <a:ln w="12700">
            <a:solidFill>
              <a:srgbClr val="EC4899"/>
            </a:solidFill>
            <a:prstDash val="solid"/>
          </a:ln>
        </p:spPr>
      </p:sp>
      <p:pic>
        <p:nvPicPr>
          <p:cNvPr id="9" name="Image 0" descr="preencoded.png">    </p:cNvPr>
          <p:cNvPicPr>
            <a:picLocks noChangeAspect="1"/>
          </p:cNvPicPr>
          <p:nvPr/>
        </p:nvPicPr>
        <p:blipFill>
          <a:blip r:embed="rId1"/>
          <a:stretch>
            <a:fillRect/>
          </a:stretch>
        </p:blipFill>
        <p:spPr>
          <a:xfrm>
            <a:off x="960120" y="1965960"/>
            <a:ext cx="365760" cy="365760"/>
          </a:xfrm>
          <a:prstGeom prst="rect">
            <a:avLst/>
          </a:prstGeom>
        </p:spPr>
      </p:pic>
      <p:sp>
        <p:nvSpPr>
          <p:cNvPr id="10" name="Text 7"/>
          <p:cNvSpPr/>
          <p:nvPr/>
        </p:nvSpPr>
        <p:spPr>
          <a:xfrm>
            <a:off x="1554480" y="1920240"/>
            <a:ext cx="2514600" cy="45720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Difficulté technique</a:t>
            </a:r>
            <a:endParaRPr lang="en-US" sz="1400" dirty="0"/>
          </a:p>
        </p:txBody>
      </p:sp>
      <p:sp>
        <p:nvSpPr>
          <p:cNvPr id="11" name="Text 8"/>
          <p:cNvSpPr/>
          <p:nvPr/>
        </p:nvSpPr>
        <p:spPr>
          <a:xfrm>
            <a:off x="822960" y="2651760"/>
            <a:ext cx="3154680" cy="10515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Complexité de certains algorithmes et limites des outils.</a:t>
            </a:r>
            <a:endParaRPr lang="en-US" sz="1200" dirty="0"/>
          </a:p>
        </p:txBody>
      </p:sp>
      <p:sp>
        <p:nvSpPr>
          <p:cNvPr id="12" name="Shape 9"/>
          <p:cNvSpPr/>
          <p:nvPr/>
        </p:nvSpPr>
        <p:spPr>
          <a:xfrm>
            <a:off x="4416552" y="1554480"/>
            <a:ext cx="3703320" cy="2240280"/>
          </a:xfrm>
          <a:prstGeom prst="roundRect">
            <a:avLst>
              <a:gd name="adj" fmla="val 4898"/>
            </a:avLst>
          </a:prstGeom>
          <a:solidFill>
            <a:srgbClr val="F8FAFC"/>
          </a:solidFill>
          <a:ln w="12700">
            <a:solidFill>
              <a:srgbClr val="E2E8F0"/>
            </a:solidFill>
            <a:prstDash val="solid"/>
          </a:ln>
        </p:spPr>
      </p:sp>
      <p:sp>
        <p:nvSpPr>
          <p:cNvPr id="13" name="Shape 10"/>
          <p:cNvSpPr/>
          <p:nvPr/>
        </p:nvSpPr>
        <p:spPr>
          <a:xfrm>
            <a:off x="4690872" y="1828800"/>
            <a:ext cx="640080" cy="640080"/>
          </a:xfrm>
          <a:prstGeom prst="ellipse">
            <a:avLst/>
          </a:prstGeom>
          <a:solidFill>
            <a:srgbClr val="F59E0B"/>
          </a:solidFill>
          <a:ln w="12700">
            <a:solidFill>
              <a:srgbClr val="F59E0B"/>
            </a:solidFill>
            <a:prstDash val="solid"/>
          </a:ln>
        </p:spPr>
      </p:sp>
      <p:pic>
        <p:nvPicPr>
          <p:cNvPr id="14" name="Image 1" descr="preencoded.png">    </p:cNvPr>
          <p:cNvPicPr>
            <a:picLocks noChangeAspect="1"/>
          </p:cNvPicPr>
          <p:nvPr/>
        </p:nvPicPr>
        <p:blipFill>
          <a:blip r:embed="rId2"/>
          <a:stretch>
            <a:fillRect/>
          </a:stretch>
        </p:blipFill>
        <p:spPr>
          <a:xfrm>
            <a:off x="4828032" y="1965960"/>
            <a:ext cx="365760" cy="365760"/>
          </a:xfrm>
          <a:prstGeom prst="rect">
            <a:avLst/>
          </a:prstGeom>
        </p:spPr>
      </p:pic>
      <p:sp>
        <p:nvSpPr>
          <p:cNvPr id="15" name="Text 11"/>
          <p:cNvSpPr/>
          <p:nvPr/>
        </p:nvSpPr>
        <p:spPr>
          <a:xfrm>
            <a:off x="5422392" y="1920240"/>
            <a:ext cx="2514600" cy="45720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Gestion du temps</a:t>
            </a:r>
            <a:endParaRPr lang="en-US" sz="1400" dirty="0"/>
          </a:p>
        </p:txBody>
      </p:sp>
      <p:sp>
        <p:nvSpPr>
          <p:cNvPr id="16" name="Text 12"/>
          <p:cNvSpPr/>
          <p:nvPr/>
        </p:nvSpPr>
        <p:spPr>
          <a:xfrm>
            <a:off x="4690872" y="2651760"/>
            <a:ext cx="3154680" cy="10515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Équilibre entre les phases du projet et les autres engagements.</a:t>
            </a:r>
            <a:endParaRPr lang="en-US" sz="1200" dirty="0"/>
          </a:p>
        </p:txBody>
      </p:sp>
      <p:sp>
        <p:nvSpPr>
          <p:cNvPr id="17" name="Shape 13"/>
          <p:cNvSpPr/>
          <p:nvPr/>
        </p:nvSpPr>
        <p:spPr>
          <a:xfrm>
            <a:off x="8284464" y="1554480"/>
            <a:ext cx="3703320" cy="2240280"/>
          </a:xfrm>
          <a:prstGeom prst="roundRect">
            <a:avLst>
              <a:gd name="adj" fmla="val 4898"/>
            </a:avLst>
          </a:prstGeom>
          <a:solidFill>
            <a:srgbClr val="F8FAFC"/>
          </a:solidFill>
          <a:ln w="12700">
            <a:solidFill>
              <a:srgbClr val="E2E8F0"/>
            </a:solidFill>
            <a:prstDash val="solid"/>
          </a:ln>
        </p:spPr>
      </p:sp>
      <p:sp>
        <p:nvSpPr>
          <p:cNvPr id="18" name="Shape 14"/>
          <p:cNvSpPr/>
          <p:nvPr/>
        </p:nvSpPr>
        <p:spPr>
          <a:xfrm>
            <a:off x="8558784" y="1828800"/>
            <a:ext cx="640080" cy="640080"/>
          </a:xfrm>
          <a:prstGeom prst="ellipse">
            <a:avLst/>
          </a:prstGeom>
          <a:solidFill>
            <a:srgbClr val="06B6D4"/>
          </a:solidFill>
          <a:ln w="12700">
            <a:solidFill>
              <a:srgbClr val="06B6D4"/>
            </a:solidFill>
            <a:prstDash val="solid"/>
          </a:ln>
        </p:spPr>
      </p:sp>
      <p:pic>
        <p:nvPicPr>
          <p:cNvPr id="19" name="Image 2" descr="preencoded.png">    </p:cNvPr>
          <p:cNvPicPr>
            <a:picLocks noChangeAspect="1"/>
          </p:cNvPicPr>
          <p:nvPr/>
        </p:nvPicPr>
        <p:blipFill>
          <a:blip r:embed="rId3"/>
          <a:stretch>
            <a:fillRect/>
          </a:stretch>
        </p:blipFill>
        <p:spPr>
          <a:xfrm>
            <a:off x="8695944" y="1965960"/>
            <a:ext cx="365760" cy="365760"/>
          </a:xfrm>
          <a:prstGeom prst="rect">
            <a:avLst/>
          </a:prstGeom>
        </p:spPr>
      </p:pic>
      <p:sp>
        <p:nvSpPr>
          <p:cNvPr id="20" name="Text 15"/>
          <p:cNvSpPr/>
          <p:nvPr/>
        </p:nvSpPr>
        <p:spPr>
          <a:xfrm>
            <a:off x="9290304" y="1920240"/>
            <a:ext cx="2514600" cy="45720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Manque de documentation</a:t>
            </a:r>
            <a:endParaRPr lang="en-US" sz="1400" dirty="0"/>
          </a:p>
        </p:txBody>
      </p:sp>
      <p:sp>
        <p:nvSpPr>
          <p:cNvPr id="21" name="Text 16"/>
          <p:cNvSpPr/>
          <p:nvPr/>
        </p:nvSpPr>
        <p:spPr>
          <a:xfrm>
            <a:off x="8558784" y="2651760"/>
            <a:ext cx="3154680" cy="10515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Certaines technologies utilisées étaient peu documentées.</a:t>
            </a:r>
            <a:endParaRPr lang="en-US" sz="1200" dirty="0"/>
          </a:p>
        </p:txBody>
      </p:sp>
      <p:sp>
        <p:nvSpPr>
          <p:cNvPr id="22" name="Shape 17"/>
          <p:cNvSpPr/>
          <p:nvPr/>
        </p:nvSpPr>
        <p:spPr>
          <a:xfrm>
            <a:off x="548640" y="3959352"/>
            <a:ext cx="3703320" cy="2240280"/>
          </a:xfrm>
          <a:prstGeom prst="roundRect">
            <a:avLst>
              <a:gd name="adj" fmla="val 4898"/>
            </a:avLst>
          </a:prstGeom>
          <a:solidFill>
            <a:srgbClr val="F8FAFC"/>
          </a:solidFill>
          <a:ln w="12700">
            <a:solidFill>
              <a:srgbClr val="E2E8F0"/>
            </a:solidFill>
            <a:prstDash val="solid"/>
          </a:ln>
        </p:spPr>
      </p:sp>
      <p:sp>
        <p:nvSpPr>
          <p:cNvPr id="23" name="Shape 18"/>
          <p:cNvSpPr/>
          <p:nvPr/>
        </p:nvSpPr>
        <p:spPr>
          <a:xfrm>
            <a:off x="822960" y="4233672"/>
            <a:ext cx="640080" cy="640080"/>
          </a:xfrm>
          <a:prstGeom prst="ellipse">
            <a:avLst/>
          </a:prstGeom>
          <a:solidFill>
            <a:srgbClr val="4F46E5"/>
          </a:solidFill>
          <a:ln w="12700">
            <a:solidFill>
              <a:srgbClr val="4F46E5"/>
            </a:solidFill>
            <a:prstDash val="solid"/>
          </a:ln>
        </p:spPr>
      </p:sp>
      <p:pic>
        <p:nvPicPr>
          <p:cNvPr id="24" name="Image 3" descr="preencoded.png">    </p:cNvPr>
          <p:cNvPicPr>
            <a:picLocks noChangeAspect="1"/>
          </p:cNvPicPr>
          <p:nvPr/>
        </p:nvPicPr>
        <p:blipFill>
          <a:blip r:embed="rId4"/>
          <a:stretch>
            <a:fillRect/>
          </a:stretch>
        </p:blipFill>
        <p:spPr>
          <a:xfrm>
            <a:off x="960120" y="4370832"/>
            <a:ext cx="365760" cy="365760"/>
          </a:xfrm>
          <a:prstGeom prst="rect">
            <a:avLst/>
          </a:prstGeom>
        </p:spPr>
      </p:pic>
      <p:sp>
        <p:nvSpPr>
          <p:cNvPr id="25" name="Text 19"/>
          <p:cNvSpPr/>
          <p:nvPr/>
        </p:nvSpPr>
        <p:spPr>
          <a:xfrm>
            <a:off x="1554480" y="4325112"/>
            <a:ext cx="2514600" cy="45720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Intégration des composants</a:t>
            </a:r>
            <a:endParaRPr lang="en-US" sz="1400" dirty="0"/>
          </a:p>
        </p:txBody>
      </p:sp>
      <p:sp>
        <p:nvSpPr>
          <p:cNvPr id="26" name="Text 20"/>
          <p:cNvSpPr/>
          <p:nvPr/>
        </p:nvSpPr>
        <p:spPr>
          <a:xfrm>
            <a:off x="822960" y="5056632"/>
            <a:ext cx="3154680" cy="10515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Compatibilités à gérer entre les différents modules.</a:t>
            </a:r>
            <a:endParaRPr lang="en-US" sz="1200" dirty="0"/>
          </a:p>
        </p:txBody>
      </p:sp>
      <p:sp>
        <p:nvSpPr>
          <p:cNvPr id="27" name="Shape 21"/>
          <p:cNvSpPr/>
          <p:nvPr/>
        </p:nvSpPr>
        <p:spPr>
          <a:xfrm>
            <a:off x="4416552" y="3959352"/>
            <a:ext cx="3703320" cy="2240280"/>
          </a:xfrm>
          <a:prstGeom prst="roundRect">
            <a:avLst>
              <a:gd name="adj" fmla="val 4898"/>
            </a:avLst>
          </a:prstGeom>
          <a:solidFill>
            <a:srgbClr val="F8FAFC"/>
          </a:solidFill>
          <a:ln w="12700">
            <a:solidFill>
              <a:srgbClr val="E2E8F0"/>
            </a:solidFill>
            <a:prstDash val="solid"/>
          </a:ln>
        </p:spPr>
      </p:sp>
      <p:sp>
        <p:nvSpPr>
          <p:cNvPr id="28" name="Shape 22"/>
          <p:cNvSpPr/>
          <p:nvPr/>
        </p:nvSpPr>
        <p:spPr>
          <a:xfrm>
            <a:off x="4690872" y="4233672"/>
            <a:ext cx="640080" cy="640080"/>
          </a:xfrm>
          <a:prstGeom prst="ellipse">
            <a:avLst/>
          </a:prstGeom>
          <a:solidFill>
            <a:srgbClr val="10B981"/>
          </a:solidFill>
          <a:ln w="12700">
            <a:solidFill>
              <a:srgbClr val="10B981"/>
            </a:solidFill>
            <a:prstDash val="solid"/>
          </a:ln>
        </p:spPr>
      </p:sp>
      <p:pic>
        <p:nvPicPr>
          <p:cNvPr id="29" name="Image 4" descr="preencoded.png">    </p:cNvPr>
          <p:cNvPicPr>
            <a:picLocks noChangeAspect="1"/>
          </p:cNvPicPr>
          <p:nvPr/>
        </p:nvPicPr>
        <p:blipFill>
          <a:blip r:embed="rId5"/>
          <a:stretch>
            <a:fillRect/>
          </a:stretch>
        </p:blipFill>
        <p:spPr>
          <a:xfrm>
            <a:off x="4828032" y="4370832"/>
            <a:ext cx="365760" cy="365760"/>
          </a:xfrm>
          <a:prstGeom prst="rect">
            <a:avLst/>
          </a:prstGeom>
        </p:spPr>
      </p:pic>
      <p:sp>
        <p:nvSpPr>
          <p:cNvPr id="30" name="Text 23"/>
          <p:cNvSpPr/>
          <p:nvPr/>
        </p:nvSpPr>
        <p:spPr>
          <a:xfrm>
            <a:off x="5422392" y="4325112"/>
            <a:ext cx="2514600" cy="45720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Contraintes de sécurité</a:t>
            </a:r>
            <a:endParaRPr lang="en-US" sz="1400" dirty="0"/>
          </a:p>
        </p:txBody>
      </p:sp>
      <p:sp>
        <p:nvSpPr>
          <p:cNvPr id="31" name="Text 24"/>
          <p:cNvSpPr/>
          <p:nvPr/>
        </p:nvSpPr>
        <p:spPr>
          <a:xfrm>
            <a:off x="4690872" y="5056632"/>
            <a:ext cx="3154680" cy="10515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Respect des bonnes pratiques en matière de protection des données.</a:t>
            </a:r>
            <a:endParaRPr lang="en-US" sz="1200" dirty="0"/>
          </a:p>
        </p:txBody>
      </p:sp>
      <p:sp>
        <p:nvSpPr>
          <p:cNvPr id="32" name="Shape 25"/>
          <p:cNvSpPr/>
          <p:nvPr/>
        </p:nvSpPr>
        <p:spPr>
          <a:xfrm>
            <a:off x="8284464" y="3959352"/>
            <a:ext cx="3703320" cy="2240280"/>
          </a:xfrm>
          <a:prstGeom prst="roundRect">
            <a:avLst>
              <a:gd name="adj" fmla="val 4898"/>
            </a:avLst>
          </a:prstGeom>
          <a:solidFill>
            <a:srgbClr val="F8FAFC"/>
          </a:solidFill>
          <a:ln w="12700">
            <a:solidFill>
              <a:srgbClr val="E2E8F0"/>
            </a:solidFill>
            <a:prstDash val="solid"/>
          </a:ln>
        </p:spPr>
      </p:sp>
      <p:sp>
        <p:nvSpPr>
          <p:cNvPr id="33" name="Shape 26"/>
          <p:cNvSpPr/>
          <p:nvPr/>
        </p:nvSpPr>
        <p:spPr>
          <a:xfrm>
            <a:off x="8558784" y="4233672"/>
            <a:ext cx="640080" cy="640080"/>
          </a:xfrm>
          <a:prstGeom prst="ellipse">
            <a:avLst/>
          </a:prstGeom>
          <a:solidFill>
            <a:srgbClr val="3730A3"/>
          </a:solidFill>
          <a:ln w="12700">
            <a:solidFill>
              <a:srgbClr val="3730A3"/>
            </a:solidFill>
            <a:prstDash val="solid"/>
          </a:ln>
        </p:spPr>
      </p:sp>
      <p:pic>
        <p:nvPicPr>
          <p:cNvPr id="34" name="Image 5" descr="preencoded.png">    </p:cNvPr>
          <p:cNvPicPr>
            <a:picLocks noChangeAspect="1"/>
          </p:cNvPicPr>
          <p:nvPr/>
        </p:nvPicPr>
        <p:blipFill>
          <a:blip r:embed="rId6"/>
          <a:stretch>
            <a:fillRect/>
          </a:stretch>
        </p:blipFill>
        <p:spPr>
          <a:xfrm>
            <a:off x="8695944" y="4370832"/>
            <a:ext cx="365760" cy="365760"/>
          </a:xfrm>
          <a:prstGeom prst="rect">
            <a:avLst/>
          </a:prstGeom>
        </p:spPr>
      </p:pic>
      <p:sp>
        <p:nvSpPr>
          <p:cNvPr id="35" name="Text 27"/>
          <p:cNvSpPr/>
          <p:nvPr/>
        </p:nvSpPr>
        <p:spPr>
          <a:xfrm>
            <a:off x="9290304" y="4325112"/>
            <a:ext cx="2514600" cy="45720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Mise au point</a:t>
            </a:r>
            <a:endParaRPr lang="en-US" sz="1400" dirty="0"/>
          </a:p>
        </p:txBody>
      </p:sp>
      <p:sp>
        <p:nvSpPr>
          <p:cNvPr id="36" name="Text 28"/>
          <p:cNvSpPr/>
          <p:nvPr/>
        </p:nvSpPr>
        <p:spPr>
          <a:xfrm>
            <a:off x="8558784" y="5056632"/>
            <a:ext cx="3154680" cy="10515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Identification et correction de bugs subtils.</a:t>
            </a:r>
            <a:endParaRPr lang="en-US" sz="1200" dirty="0"/>
          </a:p>
        </p:txBody>
      </p:sp>
      <p:sp>
        <p:nvSpPr>
          <p:cNvPr id="37" name="Text 29"/>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38" name="Text 30"/>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 / 27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21</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Solutions adoptées</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Text 5"/>
          <p:cNvSpPr/>
          <p:nvPr/>
        </p:nvSpPr>
        <p:spPr>
          <a:xfrm>
            <a:off x="548640" y="1554480"/>
            <a:ext cx="5486400" cy="365760"/>
          </a:xfrm>
          <a:prstGeom prst="rect">
            <a:avLst/>
          </a:prstGeom>
          <a:noFill/>
          <a:ln/>
        </p:spPr>
        <p:txBody>
          <a:bodyPr wrap="square" lIns="0" tIns="0" rIns="0" bIns="0"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Problème rencontré</a:t>
            </a:r>
            <a:endParaRPr lang="en-US" sz="1400" dirty="0"/>
          </a:p>
        </p:txBody>
      </p:sp>
      <p:sp>
        <p:nvSpPr>
          <p:cNvPr id="8" name="Text 6"/>
          <p:cNvSpPr/>
          <p:nvPr/>
        </p:nvSpPr>
        <p:spPr>
          <a:xfrm>
            <a:off x="6126480" y="1554480"/>
            <a:ext cx="5486400" cy="36576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Solution mise en place</a:t>
            </a:r>
            <a:endParaRPr lang="en-US" sz="1400" dirty="0"/>
          </a:p>
        </p:txBody>
      </p:sp>
      <p:sp>
        <p:nvSpPr>
          <p:cNvPr id="9" name="Shape 7"/>
          <p:cNvSpPr/>
          <p:nvPr/>
        </p:nvSpPr>
        <p:spPr>
          <a:xfrm>
            <a:off x="548640" y="2011680"/>
            <a:ext cx="5486400" cy="731520"/>
          </a:xfrm>
          <a:prstGeom prst="roundRect">
            <a:avLst>
              <a:gd name="adj" fmla="val 12500"/>
            </a:avLst>
          </a:prstGeom>
          <a:solidFill>
            <a:srgbClr val="FEE2E2"/>
          </a:solidFill>
          <a:ln w="12700">
            <a:solidFill>
              <a:srgbClr val="FCA5A5"/>
            </a:solidFill>
            <a:prstDash val="solid"/>
          </a:ln>
        </p:spPr>
      </p:sp>
      <p:sp>
        <p:nvSpPr>
          <p:cNvPr id="10" name="Text 8"/>
          <p:cNvSpPr/>
          <p:nvPr/>
        </p:nvSpPr>
        <p:spPr>
          <a:xfrm>
            <a:off x="777240" y="2011680"/>
            <a:ext cx="5029200" cy="731520"/>
          </a:xfrm>
          <a:prstGeom prst="rect">
            <a:avLst/>
          </a:prstGeom>
          <a:noFill/>
          <a:ln/>
        </p:spPr>
        <p:txBody>
          <a:bodyPr wrap="square" lIns="0" tIns="0" rIns="0" bIns="0" rtlCol="0" anchor="ctr"/>
          <a:lstStyle/>
          <a:p>
            <a:pPr indent="0" marL="0">
              <a:buNone/>
            </a:pPr>
            <a:r>
              <a:rPr lang="en-US" sz="1300" dirty="0">
                <a:solidFill>
                  <a:srgbClr val="991B1B"/>
                </a:solidFill>
                <a:latin typeface="Calibri" pitchFamily="34" charset="0"/>
                <a:ea typeface="Calibri" pitchFamily="34" charset="-122"/>
                <a:cs typeface="Calibri" pitchFamily="34" charset="-120"/>
              </a:rPr>
              <a:t>Algorithmes complexes</a:t>
            </a:r>
            <a:endParaRPr lang="en-US" sz="1300" dirty="0"/>
          </a:p>
        </p:txBody>
      </p:sp>
      <p:sp>
        <p:nvSpPr>
          <p:cNvPr id="11" name="Shape 9"/>
          <p:cNvSpPr/>
          <p:nvPr/>
        </p:nvSpPr>
        <p:spPr>
          <a:xfrm rot="5400000">
            <a:off x="6053328" y="2286000"/>
            <a:ext cx="182880" cy="182880"/>
          </a:xfrm>
          <a:prstGeom prst="rightTriangle">
            <a:avLst/>
          </a:prstGeom>
          <a:solidFill>
            <a:srgbClr val="94A3B8"/>
          </a:solidFill>
          <a:ln w="12700">
            <a:solidFill>
              <a:srgbClr val="94A3B8"/>
            </a:solidFill>
            <a:prstDash val="solid"/>
          </a:ln>
        </p:spPr>
      </p:sp>
      <p:sp>
        <p:nvSpPr>
          <p:cNvPr id="12" name="Shape 10"/>
          <p:cNvSpPr/>
          <p:nvPr/>
        </p:nvSpPr>
        <p:spPr>
          <a:xfrm>
            <a:off x="6126480" y="2011680"/>
            <a:ext cx="5486400" cy="731520"/>
          </a:xfrm>
          <a:prstGeom prst="roundRect">
            <a:avLst>
              <a:gd name="adj" fmla="val 12500"/>
            </a:avLst>
          </a:prstGeom>
          <a:solidFill>
            <a:srgbClr val="DCFCE7"/>
          </a:solidFill>
          <a:ln w="12700">
            <a:solidFill>
              <a:srgbClr val="86EFAC"/>
            </a:solidFill>
            <a:prstDash val="solid"/>
          </a:ln>
        </p:spPr>
      </p:sp>
      <p:sp>
        <p:nvSpPr>
          <p:cNvPr id="13" name="Text 11"/>
          <p:cNvSpPr/>
          <p:nvPr/>
        </p:nvSpPr>
        <p:spPr>
          <a:xfrm>
            <a:off x="6355080" y="2011680"/>
            <a:ext cx="5029200" cy="731520"/>
          </a:xfrm>
          <a:prstGeom prst="rect">
            <a:avLst/>
          </a:prstGeom>
          <a:noFill/>
          <a:ln/>
        </p:spPr>
        <p:txBody>
          <a:bodyPr wrap="square" lIns="0" tIns="0" rIns="0" bIns="0" rtlCol="0" anchor="ctr"/>
          <a:lstStyle/>
          <a:p>
            <a:pPr indent="0" marL="0">
              <a:buNone/>
            </a:pPr>
            <a:r>
              <a:rPr lang="en-US" sz="1300" dirty="0">
                <a:solidFill>
                  <a:srgbClr val="166534"/>
                </a:solidFill>
                <a:latin typeface="Calibri" pitchFamily="34" charset="0"/>
                <a:ea typeface="Calibri" pitchFamily="34" charset="-122"/>
                <a:cs typeface="Calibri" pitchFamily="34" charset="-120"/>
              </a:rPr>
              <a:t>Décomposition en sous-problèmes simples et tests unitaires ciblés.</a:t>
            </a:r>
            <a:endParaRPr lang="en-US" sz="1300" dirty="0"/>
          </a:p>
        </p:txBody>
      </p:sp>
      <p:sp>
        <p:nvSpPr>
          <p:cNvPr id="14" name="Shape 12"/>
          <p:cNvSpPr/>
          <p:nvPr/>
        </p:nvSpPr>
        <p:spPr>
          <a:xfrm>
            <a:off x="548640" y="2880360"/>
            <a:ext cx="5486400" cy="731520"/>
          </a:xfrm>
          <a:prstGeom prst="roundRect">
            <a:avLst>
              <a:gd name="adj" fmla="val 12500"/>
            </a:avLst>
          </a:prstGeom>
          <a:solidFill>
            <a:srgbClr val="FEE2E2"/>
          </a:solidFill>
          <a:ln w="12700">
            <a:solidFill>
              <a:srgbClr val="FCA5A5"/>
            </a:solidFill>
            <a:prstDash val="solid"/>
          </a:ln>
        </p:spPr>
      </p:sp>
      <p:sp>
        <p:nvSpPr>
          <p:cNvPr id="15" name="Text 13"/>
          <p:cNvSpPr/>
          <p:nvPr/>
        </p:nvSpPr>
        <p:spPr>
          <a:xfrm>
            <a:off x="777240" y="2880360"/>
            <a:ext cx="5029200" cy="731520"/>
          </a:xfrm>
          <a:prstGeom prst="rect">
            <a:avLst/>
          </a:prstGeom>
          <a:noFill/>
          <a:ln/>
        </p:spPr>
        <p:txBody>
          <a:bodyPr wrap="square" lIns="0" tIns="0" rIns="0" bIns="0" rtlCol="0" anchor="ctr"/>
          <a:lstStyle/>
          <a:p>
            <a:pPr indent="0" marL="0">
              <a:buNone/>
            </a:pPr>
            <a:r>
              <a:rPr lang="en-US" sz="1300" dirty="0">
                <a:solidFill>
                  <a:srgbClr val="991B1B"/>
                </a:solidFill>
                <a:latin typeface="Calibri" pitchFamily="34" charset="0"/>
                <a:ea typeface="Calibri" pitchFamily="34" charset="-122"/>
                <a:cs typeface="Calibri" pitchFamily="34" charset="-120"/>
              </a:rPr>
              <a:t>Gestion du temps</a:t>
            </a:r>
            <a:endParaRPr lang="en-US" sz="1300" dirty="0"/>
          </a:p>
        </p:txBody>
      </p:sp>
      <p:sp>
        <p:nvSpPr>
          <p:cNvPr id="16" name="Shape 14"/>
          <p:cNvSpPr/>
          <p:nvPr/>
        </p:nvSpPr>
        <p:spPr>
          <a:xfrm rot="5400000">
            <a:off x="6053328" y="3154680"/>
            <a:ext cx="182880" cy="182880"/>
          </a:xfrm>
          <a:prstGeom prst="rightTriangle">
            <a:avLst/>
          </a:prstGeom>
          <a:solidFill>
            <a:srgbClr val="94A3B8"/>
          </a:solidFill>
          <a:ln w="12700">
            <a:solidFill>
              <a:srgbClr val="94A3B8"/>
            </a:solidFill>
            <a:prstDash val="solid"/>
          </a:ln>
        </p:spPr>
      </p:sp>
      <p:sp>
        <p:nvSpPr>
          <p:cNvPr id="17" name="Shape 15"/>
          <p:cNvSpPr/>
          <p:nvPr/>
        </p:nvSpPr>
        <p:spPr>
          <a:xfrm>
            <a:off x="6126480" y="2880360"/>
            <a:ext cx="5486400" cy="731520"/>
          </a:xfrm>
          <a:prstGeom prst="roundRect">
            <a:avLst>
              <a:gd name="adj" fmla="val 12500"/>
            </a:avLst>
          </a:prstGeom>
          <a:solidFill>
            <a:srgbClr val="DCFCE7"/>
          </a:solidFill>
          <a:ln w="12700">
            <a:solidFill>
              <a:srgbClr val="86EFAC"/>
            </a:solidFill>
            <a:prstDash val="solid"/>
          </a:ln>
        </p:spPr>
      </p:sp>
      <p:sp>
        <p:nvSpPr>
          <p:cNvPr id="18" name="Text 16"/>
          <p:cNvSpPr/>
          <p:nvPr/>
        </p:nvSpPr>
        <p:spPr>
          <a:xfrm>
            <a:off x="6355080" y="2880360"/>
            <a:ext cx="5029200" cy="731520"/>
          </a:xfrm>
          <a:prstGeom prst="rect">
            <a:avLst/>
          </a:prstGeom>
          <a:noFill/>
          <a:ln/>
        </p:spPr>
        <p:txBody>
          <a:bodyPr wrap="square" lIns="0" tIns="0" rIns="0" bIns="0" rtlCol="0" anchor="ctr"/>
          <a:lstStyle/>
          <a:p>
            <a:pPr indent="0" marL="0">
              <a:buNone/>
            </a:pPr>
            <a:r>
              <a:rPr lang="en-US" sz="1300" dirty="0">
                <a:solidFill>
                  <a:srgbClr val="166534"/>
                </a:solidFill>
                <a:latin typeface="Calibri" pitchFamily="34" charset="0"/>
                <a:ea typeface="Calibri" pitchFamily="34" charset="-122"/>
                <a:cs typeface="Calibri" pitchFamily="34" charset="-120"/>
              </a:rPr>
              <a:t>Adoption d'une planification agile avec sprints hebdomadaires.</a:t>
            </a:r>
            <a:endParaRPr lang="en-US" sz="1300" dirty="0"/>
          </a:p>
        </p:txBody>
      </p:sp>
      <p:sp>
        <p:nvSpPr>
          <p:cNvPr id="19" name="Shape 17"/>
          <p:cNvSpPr/>
          <p:nvPr/>
        </p:nvSpPr>
        <p:spPr>
          <a:xfrm>
            <a:off x="548640" y="3749040"/>
            <a:ext cx="5486400" cy="731520"/>
          </a:xfrm>
          <a:prstGeom prst="roundRect">
            <a:avLst>
              <a:gd name="adj" fmla="val 12500"/>
            </a:avLst>
          </a:prstGeom>
          <a:solidFill>
            <a:srgbClr val="FEE2E2"/>
          </a:solidFill>
          <a:ln w="12700">
            <a:solidFill>
              <a:srgbClr val="FCA5A5"/>
            </a:solidFill>
            <a:prstDash val="solid"/>
          </a:ln>
        </p:spPr>
      </p:sp>
      <p:sp>
        <p:nvSpPr>
          <p:cNvPr id="20" name="Text 18"/>
          <p:cNvSpPr/>
          <p:nvPr/>
        </p:nvSpPr>
        <p:spPr>
          <a:xfrm>
            <a:off x="777240" y="3749040"/>
            <a:ext cx="5029200" cy="731520"/>
          </a:xfrm>
          <a:prstGeom prst="rect">
            <a:avLst/>
          </a:prstGeom>
          <a:noFill/>
          <a:ln/>
        </p:spPr>
        <p:txBody>
          <a:bodyPr wrap="square" lIns="0" tIns="0" rIns="0" bIns="0" rtlCol="0" anchor="ctr"/>
          <a:lstStyle/>
          <a:p>
            <a:pPr indent="0" marL="0">
              <a:buNone/>
            </a:pPr>
            <a:r>
              <a:rPr lang="en-US" sz="1300" dirty="0">
                <a:solidFill>
                  <a:srgbClr val="991B1B"/>
                </a:solidFill>
                <a:latin typeface="Calibri" pitchFamily="34" charset="0"/>
                <a:ea typeface="Calibri" pitchFamily="34" charset="-122"/>
                <a:cs typeface="Calibri" pitchFamily="34" charset="-120"/>
              </a:rPr>
              <a:t>Documentation limitée</a:t>
            </a:r>
            <a:endParaRPr lang="en-US" sz="1300" dirty="0"/>
          </a:p>
        </p:txBody>
      </p:sp>
      <p:sp>
        <p:nvSpPr>
          <p:cNvPr id="21" name="Shape 19"/>
          <p:cNvSpPr/>
          <p:nvPr/>
        </p:nvSpPr>
        <p:spPr>
          <a:xfrm rot="5400000">
            <a:off x="6053328" y="4023360"/>
            <a:ext cx="182880" cy="182880"/>
          </a:xfrm>
          <a:prstGeom prst="rightTriangle">
            <a:avLst/>
          </a:prstGeom>
          <a:solidFill>
            <a:srgbClr val="94A3B8"/>
          </a:solidFill>
          <a:ln w="12700">
            <a:solidFill>
              <a:srgbClr val="94A3B8"/>
            </a:solidFill>
            <a:prstDash val="solid"/>
          </a:ln>
        </p:spPr>
      </p:sp>
      <p:sp>
        <p:nvSpPr>
          <p:cNvPr id="22" name="Shape 20"/>
          <p:cNvSpPr/>
          <p:nvPr/>
        </p:nvSpPr>
        <p:spPr>
          <a:xfrm>
            <a:off x="6126480" y="3749040"/>
            <a:ext cx="5486400" cy="731520"/>
          </a:xfrm>
          <a:prstGeom prst="roundRect">
            <a:avLst>
              <a:gd name="adj" fmla="val 12500"/>
            </a:avLst>
          </a:prstGeom>
          <a:solidFill>
            <a:srgbClr val="DCFCE7"/>
          </a:solidFill>
          <a:ln w="12700">
            <a:solidFill>
              <a:srgbClr val="86EFAC"/>
            </a:solidFill>
            <a:prstDash val="solid"/>
          </a:ln>
        </p:spPr>
      </p:sp>
      <p:sp>
        <p:nvSpPr>
          <p:cNvPr id="23" name="Text 21"/>
          <p:cNvSpPr/>
          <p:nvPr/>
        </p:nvSpPr>
        <p:spPr>
          <a:xfrm>
            <a:off x="6355080" y="3749040"/>
            <a:ext cx="5029200" cy="731520"/>
          </a:xfrm>
          <a:prstGeom prst="rect">
            <a:avLst/>
          </a:prstGeom>
          <a:noFill/>
          <a:ln/>
        </p:spPr>
        <p:txBody>
          <a:bodyPr wrap="square" lIns="0" tIns="0" rIns="0" bIns="0" rtlCol="0" anchor="ctr"/>
          <a:lstStyle/>
          <a:p>
            <a:pPr indent="0" marL="0">
              <a:buNone/>
            </a:pPr>
            <a:r>
              <a:rPr lang="en-US" sz="1300" dirty="0">
                <a:solidFill>
                  <a:srgbClr val="166534"/>
                </a:solidFill>
                <a:latin typeface="Calibri" pitchFamily="34" charset="0"/>
                <a:ea typeface="Calibri" pitchFamily="34" charset="-122"/>
                <a:cs typeface="Calibri" pitchFamily="34" charset="-120"/>
              </a:rPr>
              <a:t>Échanges avec la communauté et lecture du code source.</a:t>
            </a:r>
            <a:endParaRPr lang="en-US" sz="1300" dirty="0"/>
          </a:p>
        </p:txBody>
      </p:sp>
      <p:sp>
        <p:nvSpPr>
          <p:cNvPr id="24" name="Shape 22"/>
          <p:cNvSpPr/>
          <p:nvPr/>
        </p:nvSpPr>
        <p:spPr>
          <a:xfrm>
            <a:off x="548640" y="4617720"/>
            <a:ext cx="5486400" cy="731520"/>
          </a:xfrm>
          <a:prstGeom prst="roundRect">
            <a:avLst>
              <a:gd name="adj" fmla="val 12500"/>
            </a:avLst>
          </a:prstGeom>
          <a:solidFill>
            <a:srgbClr val="FEE2E2"/>
          </a:solidFill>
          <a:ln w="12700">
            <a:solidFill>
              <a:srgbClr val="FCA5A5"/>
            </a:solidFill>
            <a:prstDash val="solid"/>
          </a:ln>
        </p:spPr>
      </p:sp>
      <p:sp>
        <p:nvSpPr>
          <p:cNvPr id="25" name="Text 23"/>
          <p:cNvSpPr/>
          <p:nvPr/>
        </p:nvSpPr>
        <p:spPr>
          <a:xfrm>
            <a:off x="777240" y="4617720"/>
            <a:ext cx="5029200" cy="731520"/>
          </a:xfrm>
          <a:prstGeom prst="rect">
            <a:avLst/>
          </a:prstGeom>
          <a:noFill/>
          <a:ln/>
        </p:spPr>
        <p:txBody>
          <a:bodyPr wrap="square" lIns="0" tIns="0" rIns="0" bIns="0" rtlCol="0" anchor="ctr"/>
          <a:lstStyle/>
          <a:p>
            <a:pPr indent="0" marL="0">
              <a:buNone/>
            </a:pPr>
            <a:r>
              <a:rPr lang="en-US" sz="1300" dirty="0">
                <a:solidFill>
                  <a:srgbClr val="991B1B"/>
                </a:solidFill>
                <a:latin typeface="Calibri" pitchFamily="34" charset="0"/>
                <a:ea typeface="Calibri" pitchFamily="34" charset="-122"/>
                <a:cs typeface="Calibri" pitchFamily="34" charset="-120"/>
              </a:rPr>
              <a:t>Intégration des composants</a:t>
            </a:r>
            <a:endParaRPr lang="en-US" sz="1300" dirty="0"/>
          </a:p>
        </p:txBody>
      </p:sp>
      <p:sp>
        <p:nvSpPr>
          <p:cNvPr id="26" name="Shape 24"/>
          <p:cNvSpPr/>
          <p:nvPr/>
        </p:nvSpPr>
        <p:spPr>
          <a:xfrm rot="5400000">
            <a:off x="6053328" y="4892040"/>
            <a:ext cx="182880" cy="182880"/>
          </a:xfrm>
          <a:prstGeom prst="rightTriangle">
            <a:avLst/>
          </a:prstGeom>
          <a:solidFill>
            <a:srgbClr val="94A3B8"/>
          </a:solidFill>
          <a:ln w="12700">
            <a:solidFill>
              <a:srgbClr val="94A3B8"/>
            </a:solidFill>
            <a:prstDash val="solid"/>
          </a:ln>
        </p:spPr>
      </p:sp>
      <p:sp>
        <p:nvSpPr>
          <p:cNvPr id="27" name="Shape 25"/>
          <p:cNvSpPr/>
          <p:nvPr/>
        </p:nvSpPr>
        <p:spPr>
          <a:xfrm>
            <a:off x="6126480" y="4617720"/>
            <a:ext cx="5486400" cy="731520"/>
          </a:xfrm>
          <a:prstGeom prst="roundRect">
            <a:avLst>
              <a:gd name="adj" fmla="val 12500"/>
            </a:avLst>
          </a:prstGeom>
          <a:solidFill>
            <a:srgbClr val="DCFCE7"/>
          </a:solidFill>
          <a:ln w="12700">
            <a:solidFill>
              <a:srgbClr val="86EFAC"/>
            </a:solidFill>
            <a:prstDash val="solid"/>
          </a:ln>
        </p:spPr>
      </p:sp>
      <p:sp>
        <p:nvSpPr>
          <p:cNvPr id="28" name="Text 26"/>
          <p:cNvSpPr/>
          <p:nvPr/>
        </p:nvSpPr>
        <p:spPr>
          <a:xfrm>
            <a:off x="6355080" y="4617720"/>
            <a:ext cx="5029200" cy="731520"/>
          </a:xfrm>
          <a:prstGeom prst="rect">
            <a:avLst/>
          </a:prstGeom>
          <a:noFill/>
          <a:ln/>
        </p:spPr>
        <p:txBody>
          <a:bodyPr wrap="square" lIns="0" tIns="0" rIns="0" bIns="0" rtlCol="0" anchor="ctr"/>
          <a:lstStyle/>
          <a:p>
            <a:pPr indent="0" marL="0">
              <a:buNone/>
            </a:pPr>
            <a:r>
              <a:rPr lang="en-US" sz="1300" dirty="0">
                <a:solidFill>
                  <a:srgbClr val="166534"/>
                </a:solidFill>
                <a:latin typeface="Calibri" pitchFamily="34" charset="0"/>
                <a:ea typeface="Calibri" pitchFamily="34" charset="-122"/>
                <a:cs typeface="Calibri" pitchFamily="34" charset="-120"/>
              </a:rPr>
              <a:t>Définition d'interfaces claires et tests d'intégration automatisés.</a:t>
            </a:r>
            <a:endParaRPr lang="en-US" sz="1300" dirty="0"/>
          </a:p>
        </p:txBody>
      </p:sp>
      <p:sp>
        <p:nvSpPr>
          <p:cNvPr id="29" name="Shape 27"/>
          <p:cNvSpPr/>
          <p:nvPr/>
        </p:nvSpPr>
        <p:spPr>
          <a:xfrm>
            <a:off x="548640" y="5486400"/>
            <a:ext cx="5486400" cy="731520"/>
          </a:xfrm>
          <a:prstGeom prst="roundRect">
            <a:avLst>
              <a:gd name="adj" fmla="val 12500"/>
            </a:avLst>
          </a:prstGeom>
          <a:solidFill>
            <a:srgbClr val="FEE2E2"/>
          </a:solidFill>
          <a:ln w="12700">
            <a:solidFill>
              <a:srgbClr val="FCA5A5"/>
            </a:solidFill>
            <a:prstDash val="solid"/>
          </a:ln>
        </p:spPr>
      </p:sp>
      <p:sp>
        <p:nvSpPr>
          <p:cNvPr id="30" name="Text 28"/>
          <p:cNvSpPr/>
          <p:nvPr/>
        </p:nvSpPr>
        <p:spPr>
          <a:xfrm>
            <a:off x="777240" y="5486400"/>
            <a:ext cx="5029200" cy="731520"/>
          </a:xfrm>
          <a:prstGeom prst="rect">
            <a:avLst/>
          </a:prstGeom>
          <a:noFill/>
          <a:ln/>
        </p:spPr>
        <p:txBody>
          <a:bodyPr wrap="square" lIns="0" tIns="0" rIns="0" bIns="0" rtlCol="0" anchor="ctr"/>
          <a:lstStyle/>
          <a:p>
            <a:pPr indent="0" marL="0">
              <a:buNone/>
            </a:pPr>
            <a:r>
              <a:rPr lang="en-US" sz="1300" dirty="0">
                <a:solidFill>
                  <a:srgbClr val="991B1B"/>
                </a:solidFill>
                <a:latin typeface="Calibri" pitchFamily="34" charset="0"/>
                <a:ea typeface="Calibri" pitchFamily="34" charset="-122"/>
                <a:cs typeface="Calibri" pitchFamily="34" charset="-120"/>
              </a:rPr>
              <a:t>Sécurité</a:t>
            </a:r>
            <a:endParaRPr lang="en-US" sz="1300" dirty="0"/>
          </a:p>
        </p:txBody>
      </p:sp>
      <p:sp>
        <p:nvSpPr>
          <p:cNvPr id="31" name="Shape 29"/>
          <p:cNvSpPr/>
          <p:nvPr/>
        </p:nvSpPr>
        <p:spPr>
          <a:xfrm rot="5400000">
            <a:off x="6053328" y="5760720"/>
            <a:ext cx="182880" cy="182880"/>
          </a:xfrm>
          <a:prstGeom prst="rightTriangle">
            <a:avLst/>
          </a:prstGeom>
          <a:solidFill>
            <a:srgbClr val="94A3B8"/>
          </a:solidFill>
          <a:ln w="12700">
            <a:solidFill>
              <a:srgbClr val="94A3B8"/>
            </a:solidFill>
            <a:prstDash val="solid"/>
          </a:ln>
        </p:spPr>
      </p:sp>
      <p:sp>
        <p:nvSpPr>
          <p:cNvPr id="32" name="Shape 30"/>
          <p:cNvSpPr/>
          <p:nvPr/>
        </p:nvSpPr>
        <p:spPr>
          <a:xfrm>
            <a:off x="6126480" y="5486400"/>
            <a:ext cx="5486400" cy="731520"/>
          </a:xfrm>
          <a:prstGeom prst="roundRect">
            <a:avLst>
              <a:gd name="adj" fmla="val 12500"/>
            </a:avLst>
          </a:prstGeom>
          <a:solidFill>
            <a:srgbClr val="DCFCE7"/>
          </a:solidFill>
          <a:ln w="12700">
            <a:solidFill>
              <a:srgbClr val="86EFAC"/>
            </a:solidFill>
            <a:prstDash val="solid"/>
          </a:ln>
        </p:spPr>
      </p:sp>
      <p:sp>
        <p:nvSpPr>
          <p:cNvPr id="33" name="Text 31"/>
          <p:cNvSpPr/>
          <p:nvPr/>
        </p:nvSpPr>
        <p:spPr>
          <a:xfrm>
            <a:off x="6355080" y="5486400"/>
            <a:ext cx="5029200" cy="731520"/>
          </a:xfrm>
          <a:prstGeom prst="rect">
            <a:avLst/>
          </a:prstGeom>
          <a:noFill/>
          <a:ln/>
        </p:spPr>
        <p:txBody>
          <a:bodyPr wrap="square" lIns="0" tIns="0" rIns="0" bIns="0" rtlCol="0" anchor="ctr"/>
          <a:lstStyle/>
          <a:p>
            <a:pPr indent="0" marL="0">
              <a:buNone/>
            </a:pPr>
            <a:r>
              <a:rPr lang="en-US" sz="1300" dirty="0">
                <a:solidFill>
                  <a:srgbClr val="166534"/>
                </a:solidFill>
                <a:latin typeface="Calibri" pitchFamily="34" charset="0"/>
                <a:ea typeface="Calibri" pitchFamily="34" charset="-122"/>
                <a:cs typeface="Calibri" pitchFamily="34" charset="-120"/>
              </a:rPr>
              <a:t>Application des standards reconnus et revue de code systématique.</a:t>
            </a:r>
            <a:endParaRPr lang="en-US" sz="1300" dirty="0"/>
          </a:p>
        </p:txBody>
      </p:sp>
      <p:sp>
        <p:nvSpPr>
          <p:cNvPr id="34" name="Text 32"/>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35" name="Text 33"/>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 / 27</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22</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Apports du projet</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554480"/>
            <a:ext cx="3657600" cy="4480560"/>
          </a:xfrm>
          <a:prstGeom prst="roundRect">
            <a:avLst>
              <a:gd name="adj" fmla="val 3500"/>
            </a:avLst>
          </a:prstGeom>
          <a:solidFill>
            <a:srgbClr val="F8FAFC"/>
          </a:solidFill>
          <a:ln w="12700">
            <a:solidFill>
              <a:srgbClr val="E2E8F0"/>
            </a:solidFill>
            <a:prstDash val="solid"/>
          </a:ln>
        </p:spPr>
      </p:sp>
      <p:sp>
        <p:nvSpPr>
          <p:cNvPr id="8" name="Shape 6"/>
          <p:cNvSpPr/>
          <p:nvPr/>
        </p:nvSpPr>
        <p:spPr>
          <a:xfrm>
            <a:off x="548640" y="1554480"/>
            <a:ext cx="3657600" cy="1188720"/>
          </a:xfrm>
          <a:prstGeom prst="rect">
            <a:avLst/>
          </a:prstGeom>
          <a:solidFill>
            <a:srgbClr val="4F46E5"/>
          </a:solidFill>
          <a:ln w="12700">
            <a:solidFill>
              <a:srgbClr val="4F46E5"/>
            </a:solidFill>
            <a:prstDash val="solid"/>
          </a:ln>
        </p:spPr>
      </p:sp>
      <p:pic>
        <p:nvPicPr>
          <p:cNvPr id="9" name="Image 0" descr="preencoded.png">    </p:cNvPr>
          <p:cNvPicPr>
            <a:picLocks noChangeAspect="1"/>
          </p:cNvPicPr>
          <p:nvPr/>
        </p:nvPicPr>
        <p:blipFill>
          <a:blip r:embed="rId1"/>
          <a:stretch>
            <a:fillRect/>
          </a:stretch>
        </p:blipFill>
        <p:spPr>
          <a:xfrm>
            <a:off x="2011680" y="1828800"/>
            <a:ext cx="640080" cy="640080"/>
          </a:xfrm>
          <a:prstGeom prst="rect">
            <a:avLst/>
          </a:prstGeom>
        </p:spPr>
      </p:pic>
      <p:sp>
        <p:nvSpPr>
          <p:cNvPr id="10" name="Text 7"/>
          <p:cNvSpPr/>
          <p:nvPr/>
        </p:nvSpPr>
        <p:spPr>
          <a:xfrm>
            <a:off x="731520" y="2834640"/>
            <a:ext cx="329184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Sur le plan technique</a:t>
            </a:r>
            <a:endParaRPr lang="en-US" sz="1600" dirty="0"/>
          </a:p>
        </p:txBody>
      </p:sp>
      <p:sp>
        <p:nvSpPr>
          <p:cNvPr id="11" name="Text 8"/>
          <p:cNvSpPr/>
          <p:nvPr/>
        </p:nvSpPr>
        <p:spPr>
          <a:xfrm>
            <a:off x="822960" y="3474720"/>
            <a:ext cx="3108960" cy="23774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Maîtrise de nouvelles technologies</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Conception d'une architecture complète</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Mise en pratique des algorithmes étudiés</a:t>
            </a:r>
            <a:endParaRPr lang="en-US" sz="1200" dirty="0"/>
          </a:p>
        </p:txBody>
      </p:sp>
      <p:sp>
        <p:nvSpPr>
          <p:cNvPr id="12" name="Shape 9"/>
          <p:cNvSpPr/>
          <p:nvPr/>
        </p:nvSpPr>
        <p:spPr>
          <a:xfrm>
            <a:off x="4434840" y="1554480"/>
            <a:ext cx="3657600" cy="4480560"/>
          </a:xfrm>
          <a:prstGeom prst="roundRect">
            <a:avLst>
              <a:gd name="adj" fmla="val 3500"/>
            </a:avLst>
          </a:prstGeom>
          <a:solidFill>
            <a:srgbClr val="F8FAFC"/>
          </a:solidFill>
          <a:ln w="12700">
            <a:solidFill>
              <a:srgbClr val="E2E8F0"/>
            </a:solidFill>
            <a:prstDash val="solid"/>
          </a:ln>
        </p:spPr>
      </p:sp>
      <p:sp>
        <p:nvSpPr>
          <p:cNvPr id="13" name="Shape 10"/>
          <p:cNvSpPr/>
          <p:nvPr/>
        </p:nvSpPr>
        <p:spPr>
          <a:xfrm>
            <a:off x="4434840" y="1554480"/>
            <a:ext cx="3657600" cy="1188720"/>
          </a:xfrm>
          <a:prstGeom prst="rect">
            <a:avLst/>
          </a:prstGeom>
          <a:solidFill>
            <a:srgbClr val="06B6D4"/>
          </a:solidFill>
          <a:ln w="12700">
            <a:solidFill>
              <a:srgbClr val="06B6D4"/>
            </a:solidFill>
            <a:prstDash val="solid"/>
          </a:ln>
        </p:spPr>
      </p:sp>
      <p:pic>
        <p:nvPicPr>
          <p:cNvPr id="14" name="Image 1" descr="preencoded.png">    </p:cNvPr>
          <p:cNvPicPr>
            <a:picLocks noChangeAspect="1"/>
          </p:cNvPicPr>
          <p:nvPr/>
        </p:nvPicPr>
        <p:blipFill>
          <a:blip r:embed="rId2"/>
          <a:stretch>
            <a:fillRect/>
          </a:stretch>
        </p:blipFill>
        <p:spPr>
          <a:xfrm>
            <a:off x="5897880" y="1828800"/>
            <a:ext cx="640080" cy="640080"/>
          </a:xfrm>
          <a:prstGeom prst="rect">
            <a:avLst/>
          </a:prstGeom>
        </p:spPr>
      </p:pic>
      <p:sp>
        <p:nvSpPr>
          <p:cNvPr id="15" name="Text 11"/>
          <p:cNvSpPr/>
          <p:nvPr/>
        </p:nvSpPr>
        <p:spPr>
          <a:xfrm>
            <a:off x="4617720" y="2834640"/>
            <a:ext cx="329184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Sur le plan personnel</a:t>
            </a:r>
            <a:endParaRPr lang="en-US" sz="1600" dirty="0"/>
          </a:p>
        </p:txBody>
      </p:sp>
      <p:sp>
        <p:nvSpPr>
          <p:cNvPr id="16" name="Text 12"/>
          <p:cNvSpPr/>
          <p:nvPr/>
        </p:nvSpPr>
        <p:spPr>
          <a:xfrm>
            <a:off x="4709160" y="3474720"/>
            <a:ext cx="3108960" cy="23774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Autonomie et organisation</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Capacité à résoudre des problèmes</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Communication écrite et orale</a:t>
            </a:r>
            <a:endParaRPr lang="en-US" sz="1200" dirty="0"/>
          </a:p>
        </p:txBody>
      </p:sp>
      <p:sp>
        <p:nvSpPr>
          <p:cNvPr id="17" name="Shape 13"/>
          <p:cNvSpPr/>
          <p:nvPr/>
        </p:nvSpPr>
        <p:spPr>
          <a:xfrm>
            <a:off x="8321040" y="1554480"/>
            <a:ext cx="3657600" cy="4480560"/>
          </a:xfrm>
          <a:prstGeom prst="roundRect">
            <a:avLst>
              <a:gd name="adj" fmla="val 3500"/>
            </a:avLst>
          </a:prstGeom>
          <a:solidFill>
            <a:srgbClr val="F8FAFC"/>
          </a:solidFill>
          <a:ln w="12700">
            <a:solidFill>
              <a:srgbClr val="E2E8F0"/>
            </a:solidFill>
            <a:prstDash val="solid"/>
          </a:ln>
        </p:spPr>
      </p:sp>
      <p:sp>
        <p:nvSpPr>
          <p:cNvPr id="18" name="Shape 14"/>
          <p:cNvSpPr/>
          <p:nvPr/>
        </p:nvSpPr>
        <p:spPr>
          <a:xfrm>
            <a:off x="8321040" y="1554480"/>
            <a:ext cx="3657600" cy="1188720"/>
          </a:xfrm>
          <a:prstGeom prst="rect">
            <a:avLst/>
          </a:prstGeom>
          <a:solidFill>
            <a:srgbClr val="F59E0B"/>
          </a:solidFill>
          <a:ln w="12700">
            <a:solidFill>
              <a:srgbClr val="F59E0B"/>
            </a:solidFill>
            <a:prstDash val="solid"/>
          </a:ln>
        </p:spPr>
      </p:sp>
      <p:pic>
        <p:nvPicPr>
          <p:cNvPr id="19" name="Image 2" descr="preencoded.png">    </p:cNvPr>
          <p:cNvPicPr>
            <a:picLocks noChangeAspect="1"/>
          </p:cNvPicPr>
          <p:nvPr/>
        </p:nvPicPr>
        <p:blipFill>
          <a:blip r:embed="rId3"/>
          <a:stretch>
            <a:fillRect/>
          </a:stretch>
        </p:blipFill>
        <p:spPr>
          <a:xfrm>
            <a:off x="9784080" y="1828800"/>
            <a:ext cx="640080" cy="640080"/>
          </a:xfrm>
          <a:prstGeom prst="rect">
            <a:avLst/>
          </a:prstGeom>
        </p:spPr>
      </p:pic>
      <p:sp>
        <p:nvSpPr>
          <p:cNvPr id="20" name="Text 15"/>
          <p:cNvSpPr/>
          <p:nvPr/>
        </p:nvSpPr>
        <p:spPr>
          <a:xfrm>
            <a:off x="8503920" y="2834640"/>
            <a:ext cx="329184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Calibri" pitchFamily="34" charset="0"/>
                <a:ea typeface="Calibri" pitchFamily="34" charset="-122"/>
                <a:cs typeface="Calibri" pitchFamily="34" charset="-120"/>
              </a:rPr>
              <a:t>Sur le plan académique</a:t>
            </a:r>
            <a:endParaRPr lang="en-US" sz="1600" dirty="0"/>
          </a:p>
        </p:txBody>
      </p:sp>
      <p:sp>
        <p:nvSpPr>
          <p:cNvPr id="21" name="Text 16"/>
          <p:cNvSpPr/>
          <p:nvPr/>
        </p:nvSpPr>
        <p:spPr>
          <a:xfrm>
            <a:off x="8595360" y="3474720"/>
            <a:ext cx="3108960" cy="23774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Application concrète des cours</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Travail en mode projet</a:t>
            </a:r>
            <a:endParaRPr lang="en-US" sz="1200" dirty="0"/>
          </a:p>
          <a:p>
            <a:pPr marL="342900" indent="-342900">
              <a:spcAft>
                <a:spcPts val="800"/>
              </a:spcAft>
              <a:buSzPct val="100000"/>
              <a:buChar char="●"/>
            </a:pPr>
            <a:r>
              <a:rPr lang="en-US" sz="1200" dirty="0">
                <a:solidFill>
                  <a:srgbClr val="334155"/>
                </a:solidFill>
                <a:latin typeface="Calibri" pitchFamily="34" charset="0"/>
                <a:ea typeface="Calibri" pitchFamily="34" charset="-122"/>
                <a:cs typeface="Calibri" pitchFamily="34" charset="-120"/>
              </a:rPr>
              <a:t>Préparation à la vie professionnelle</a:t>
            </a:r>
            <a:endParaRPr lang="en-US" sz="1200" dirty="0"/>
          </a:p>
        </p:txBody>
      </p:sp>
      <p:sp>
        <p:nvSpPr>
          <p:cNvPr id="22" name="Text 17"/>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3" name="Text 18"/>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23 / 27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23</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Limitations actuelles</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Text 5"/>
          <p:cNvSpPr/>
          <p:nvPr/>
        </p:nvSpPr>
        <p:spPr>
          <a:xfrm>
            <a:off x="548640" y="1417320"/>
            <a:ext cx="10972800" cy="36576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Une lecture honnête de ce qui pourrait encore être amélioré.</a:t>
            </a:r>
            <a:endParaRPr lang="en-US" sz="1300" dirty="0"/>
          </a:p>
        </p:txBody>
      </p:sp>
      <p:sp>
        <p:nvSpPr>
          <p:cNvPr id="8" name="Shape 6"/>
          <p:cNvSpPr/>
          <p:nvPr/>
        </p:nvSpPr>
        <p:spPr>
          <a:xfrm>
            <a:off x="548640" y="1828800"/>
            <a:ext cx="11064240" cy="914400"/>
          </a:xfrm>
          <a:prstGeom prst="roundRect">
            <a:avLst>
              <a:gd name="adj" fmla="val 10000"/>
            </a:avLst>
          </a:prstGeom>
          <a:solidFill>
            <a:srgbClr val="F8FAFC"/>
          </a:solidFill>
          <a:ln w="12700">
            <a:solidFill>
              <a:srgbClr val="E2E8F0"/>
            </a:solidFill>
            <a:prstDash val="solid"/>
          </a:ln>
        </p:spPr>
      </p:sp>
      <p:sp>
        <p:nvSpPr>
          <p:cNvPr id="9" name="Shape 7"/>
          <p:cNvSpPr/>
          <p:nvPr/>
        </p:nvSpPr>
        <p:spPr>
          <a:xfrm>
            <a:off x="777240" y="2011680"/>
            <a:ext cx="548640" cy="548640"/>
          </a:xfrm>
          <a:prstGeom prst="ellipse">
            <a:avLst/>
          </a:prstGeom>
          <a:solidFill>
            <a:srgbClr val="F59E0B"/>
          </a:solidFill>
          <a:ln w="12700">
            <a:solidFill>
              <a:srgbClr val="F59E0B"/>
            </a:solidFill>
            <a:prstDash val="solid"/>
          </a:ln>
        </p:spPr>
      </p:sp>
      <p:sp>
        <p:nvSpPr>
          <p:cNvPr id="10" name="Text 8"/>
          <p:cNvSpPr/>
          <p:nvPr/>
        </p:nvSpPr>
        <p:spPr>
          <a:xfrm>
            <a:off x="777240" y="2011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p:nvPr/>
        </p:nvSpPr>
        <p:spPr>
          <a:xfrm>
            <a:off x="1463040" y="192024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Périmètre fonctionnel restreint</a:t>
            </a:r>
            <a:endParaRPr lang="en-US" sz="1400" dirty="0"/>
          </a:p>
        </p:txBody>
      </p:sp>
      <p:sp>
        <p:nvSpPr>
          <p:cNvPr id="12" name="Text 10"/>
          <p:cNvSpPr/>
          <p:nvPr/>
        </p:nvSpPr>
        <p:spPr>
          <a:xfrm>
            <a:off x="1463040" y="2286000"/>
            <a:ext cx="1005840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Certaines fonctionnalités secondaires n'ont pas pu être développées dans le temps imparti.</a:t>
            </a:r>
            <a:endParaRPr lang="en-US" sz="1200" dirty="0"/>
          </a:p>
        </p:txBody>
      </p:sp>
      <p:sp>
        <p:nvSpPr>
          <p:cNvPr id="13" name="Shape 11"/>
          <p:cNvSpPr/>
          <p:nvPr/>
        </p:nvSpPr>
        <p:spPr>
          <a:xfrm>
            <a:off x="548640" y="2880360"/>
            <a:ext cx="11064240" cy="914400"/>
          </a:xfrm>
          <a:prstGeom prst="roundRect">
            <a:avLst>
              <a:gd name="adj" fmla="val 10000"/>
            </a:avLst>
          </a:prstGeom>
          <a:solidFill>
            <a:srgbClr val="F8FAFC"/>
          </a:solidFill>
          <a:ln w="12700">
            <a:solidFill>
              <a:srgbClr val="E2E8F0"/>
            </a:solidFill>
            <a:prstDash val="solid"/>
          </a:ln>
        </p:spPr>
      </p:sp>
      <p:sp>
        <p:nvSpPr>
          <p:cNvPr id="14" name="Shape 12"/>
          <p:cNvSpPr/>
          <p:nvPr/>
        </p:nvSpPr>
        <p:spPr>
          <a:xfrm>
            <a:off x="777240" y="3063240"/>
            <a:ext cx="548640" cy="548640"/>
          </a:xfrm>
          <a:prstGeom prst="ellipse">
            <a:avLst/>
          </a:prstGeom>
          <a:solidFill>
            <a:srgbClr val="F59E0B"/>
          </a:solidFill>
          <a:ln w="12700">
            <a:solidFill>
              <a:srgbClr val="F59E0B"/>
            </a:solidFill>
            <a:prstDash val="solid"/>
          </a:ln>
        </p:spPr>
      </p:sp>
      <p:sp>
        <p:nvSpPr>
          <p:cNvPr id="15" name="Text 13"/>
          <p:cNvSpPr/>
          <p:nvPr/>
        </p:nvSpPr>
        <p:spPr>
          <a:xfrm>
            <a:off x="777240" y="30632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1463040" y="297180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Tests à grande échelle</a:t>
            </a:r>
            <a:endParaRPr lang="en-US" sz="1400" dirty="0"/>
          </a:p>
        </p:txBody>
      </p:sp>
      <p:sp>
        <p:nvSpPr>
          <p:cNvPr id="17" name="Text 15"/>
          <p:cNvSpPr/>
          <p:nvPr/>
        </p:nvSpPr>
        <p:spPr>
          <a:xfrm>
            <a:off x="1463040" y="3337560"/>
            <a:ext cx="1005840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La solution n'a pas été testée dans un environnement de production réel à fort trafic.</a:t>
            </a:r>
            <a:endParaRPr lang="en-US" sz="1200" dirty="0"/>
          </a:p>
        </p:txBody>
      </p:sp>
      <p:sp>
        <p:nvSpPr>
          <p:cNvPr id="18" name="Shape 16"/>
          <p:cNvSpPr/>
          <p:nvPr/>
        </p:nvSpPr>
        <p:spPr>
          <a:xfrm>
            <a:off x="548640" y="3931920"/>
            <a:ext cx="11064240" cy="914400"/>
          </a:xfrm>
          <a:prstGeom prst="roundRect">
            <a:avLst>
              <a:gd name="adj" fmla="val 10000"/>
            </a:avLst>
          </a:prstGeom>
          <a:solidFill>
            <a:srgbClr val="F8FAFC"/>
          </a:solidFill>
          <a:ln w="12700">
            <a:solidFill>
              <a:srgbClr val="E2E8F0"/>
            </a:solidFill>
            <a:prstDash val="solid"/>
          </a:ln>
        </p:spPr>
      </p:sp>
      <p:sp>
        <p:nvSpPr>
          <p:cNvPr id="19" name="Shape 17"/>
          <p:cNvSpPr/>
          <p:nvPr/>
        </p:nvSpPr>
        <p:spPr>
          <a:xfrm>
            <a:off x="777240" y="4114800"/>
            <a:ext cx="548640" cy="548640"/>
          </a:xfrm>
          <a:prstGeom prst="ellipse">
            <a:avLst/>
          </a:prstGeom>
          <a:solidFill>
            <a:srgbClr val="F59E0B"/>
          </a:solidFill>
          <a:ln w="12700">
            <a:solidFill>
              <a:srgbClr val="F59E0B"/>
            </a:solidFill>
            <a:prstDash val="solid"/>
          </a:ln>
        </p:spPr>
      </p:sp>
      <p:sp>
        <p:nvSpPr>
          <p:cNvPr id="20" name="Text 18"/>
          <p:cNvSpPr/>
          <p:nvPr/>
        </p:nvSpPr>
        <p:spPr>
          <a:xfrm>
            <a:off x="777240" y="41148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1463040" y="402336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Compatibilité élargie</a:t>
            </a:r>
            <a:endParaRPr lang="en-US" sz="1400" dirty="0"/>
          </a:p>
        </p:txBody>
      </p:sp>
      <p:sp>
        <p:nvSpPr>
          <p:cNvPr id="22" name="Text 20"/>
          <p:cNvSpPr/>
          <p:nvPr/>
        </p:nvSpPr>
        <p:spPr>
          <a:xfrm>
            <a:off x="1463040" y="4389120"/>
            <a:ext cx="1005840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La compatibilité avec certaines plateformes ou versions reste à valider.</a:t>
            </a:r>
            <a:endParaRPr lang="en-US" sz="1200" dirty="0"/>
          </a:p>
        </p:txBody>
      </p:sp>
      <p:sp>
        <p:nvSpPr>
          <p:cNvPr id="23" name="Shape 21"/>
          <p:cNvSpPr/>
          <p:nvPr/>
        </p:nvSpPr>
        <p:spPr>
          <a:xfrm>
            <a:off x="548640" y="4983480"/>
            <a:ext cx="11064240" cy="914400"/>
          </a:xfrm>
          <a:prstGeom prst="roundRect">
            <a:avLst>
              <a:gd name="adj" fmla="val 10000"/>
            </a:avLst>
          </a:prstGeom>
          <a:solidFill>
            <a:srgbClr val="F8FAFC"/>
          </a:solidFill>
          <a:ln w="12700">
            <a:solidFill>
              <a:srgbClr val="E2E8F0"/>
            </a:solidFill>
            <a:prstDash val="solid"/>
          </a:ln>
        </p:spPr>
      </p:sp>
      <p:sp>
        <p:nvSpPr>
          <p:cNvPr id="24" name="Shape 22"/>
          <p:cNvSpPr/>
          <p:nvPr/>
        </p:nvSpPr>
        <p:spPr>
          <a:xfrm>
            <a:off x="777240" y="5166360"/>
            <a:ext cx="548640" cy="548640"/>
          </a:xfrm>
          <a:prstGeom prst="ellipse">
            <a:avLst/>
          </a:prstGeom>
          <a:solidFill>
            <a:srgbClr val="F59E0B"/>
          </a:solidFill>
          <a:ln w="12700">
            <a:solidFill>
              <a:srgbClr val="F59E0B"/>
            </a:solidFill>
            <a:prstDash val="solid"/>
          </a:ln>
        </p:spPr>
      </p:sp>
      <p:sp>
        <p:nvSpPr>
          <p:cNvPr id="25" name="Text 23"/>
          <p:cNvSpPr/>
          <p:nvPr/>
        </p:nvSpPr>
        <p:spPr>
          <a:xfrm>
            <a:off x="777240" y="5166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1463040" y="5074920"/>
            <a:ext cx="10058400"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Documentation utilisateur</a:t>
            </a:r>
            <a:endParaRPr lang="en-US" sz="1400" dirty="0"/>
          </a:p>
        </p:txBody>
      </p:sp>
      <p:sp>
        <p:nvSpPr>
          <p:cNvPr id="27" name="Text 25"/>
          <p:cNvSpPr/>
          <p:nvPr/>
        </p:nvSpPr>
        <p:spPr>
          <a:xfrm>
            <a:off x="1463040" y="5440680"/>
            <a:ext cx="10058400" cy="41148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La documentation destinée à l'utilisateur final pourrait être enrichie.</a:t>
            </a:r>
            <a:endParaRPr lang="en-US" sz="1200" dirty="0"/>
          </a:p>
        </p:txBody>
      </p:sp>
      <p:sp>
        <p:nvSpPr>
          <p:cNvPr id="28" name="Text 26"/>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9" name="Text 27"/>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24 / 27</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914400" cy="384048"/>
          </a:xfrm>
          <a:prstGeom prst="roundRect">
            <a:avLst>
              <a:gd name="adj" fmla="val 50000"/>
            </a:avLst>
          </a:prstGeom>
          <a:solidFill>
            <a:srgbClr val="4F46E5"/>
          </a:solidFill>
          <a:ln w="12700">
            <a:solidFill>
              <a:srgbClr val="4F46E5"/>
            </a:solidFill>
            <a:prstDash val="solid"/>
          </a:ln>
        </p:spPr>
      </p:sp>
      <p:sp>
        <p:nvSpPr>
          <p:cNvPr id="3" name="Text 1"/>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24</a:t>
            </a:r>
            <a:endParaRPr lang="en-US" sz="1400" dirty="0"/>
          </a:p>
        </p:txBody>
      </p:sp>
      <p:sp>
        <p:nvSpPr>
          <p:cNvPr id="4" name="Text 2"/>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0F172A"/>
                </a:solidFill>
                <a:latin typeface="Calibri" pitchFamily="34" charset="0"/>
                <a:ea typeface="Calibri" pitchFamily="34" charset="-122"/>
                <a:cs typeface="Calibri" pitchFamily="34" charset="-120"/>
              </a:rPr>
              <a:t>Perspectives d'évolution</a:t>
            </a:r>
            <a:endParaRPr lang="en-US" sz="2600" dirty="0"/>
          </a:p>
        </p:txBody>
      </p:sp>
      <p:sp>
        <p:nvSpPr>
          <p:cNvPr id="5" name="Shape 3"/>
          <p:cNvSpPr/>
          <p:nvPr/>
        </p:nvSpPr>
        <p:spPr>
          <a:xfrm>
            <a:off x="548640" y="1051560"/>
            <a:ext cx="1371600" cy="45720"/>
          </a:xfrm>
          <a:prstGeom prst="rect">
            <a:avLst/>
          </a:prstGeom>
          <a:solidFill>
            <a:srgbClr val="06B6D4"/>
          </a:solidFill>
          <a:ln w="12700">
            <a:solidFill>
              <a:srgbClr val="06B6D4"/>
            </a:solidFill>
            <a:prstDash val="solid"/>
          </a:ln>
        </p:spPr>
      </p:sp>
      <p:sp>
        <p:nvSpPr>
          <p:cNvPr id="6" name="Shape 4"/>
          <p:cNvSpPr/>
          <p:nvPr/>
        </p:nvSpPr>
        <p:spPr>
          <a:xfrm>
            <a:off x="1965960" y="1051560"/>
            <a:ext cx="365760" cy="45720"/>
          </a:xfrm>
          <a:prstGeom prst="rect">
            <a:avLst/>
          </a:prstGeom>
          <a:solidFill>
            <a:srgbClr val="F59E0B"/>
          </a:solidFill>
          <a:ln w="12700">
            <a:solidFill>
              <a:srgbClr val="F59E0B"/>
            </a:solidFill>
            <a:prstDash val="solid"/>
          </a:ln>
        </p:spPr>
      </p:sp>
      <p:sp>
        <p:nvSpPr>
          <p:cNvPr id="7" name="Shape 5"/>
          <p:cNvSpPr/>
          <p:nvPr/>
        </p:nvSpPr>
        <p:spPr>
          <a:xfrm>
            <a:off x="548640" y="1645920"/>
            <a:ext cx="3657600" cy="4206240"/>
          </a:xfrm>
          <a:prstGeom prst="roundRect">
            <a:avLst>
              <a:gd name="adj" fmla="val 3500"/>
            </a:avLst>
          </a:prstGeom>
          <a:solidFill>
            <a:srgbClr val="FFFFFF"/>
          </a:solidFill>
          <a:ln w="25400">
            <a:solidFill>
              <a:srgbClr val="4F46E5"/>
            </a:solidFill>
            <a:prstDash val="solid"/>
          </a:ln>
        </p:spPr>
      </p:sp>
      <p:sp>
        <p:nvSpPr>
          <p:cNvPr id="8" name="Shape 6"/>
          <p:cNvSpPr/>
          <p:nvPr/>
        </p:nvSpPr>
        <p:spPr>
          <a:xfrm>
            <a:off x="548640" y="1645920"/>
            <a:ext cx="3657600" cy="731520"/>
          </a:xfrm>
          <a:prstGeom prst="rect">
            <a:avLst/>
          </a:prstGeom>
          <a:solidFill>
            <a:srgbClr val="4F46E5"/>
          </a:solidFill>
          <a:ln w="12700">
            <a:solidFill>
              <a:srgbClr val="4F46E5"/>
            </a:solidFill>
            <a:prstDash val="solid"/>
          </a:ln>
        </p:spPr>
      </p:sp>
      <p:sp>
        <p:nvSpPr>
          <p:cNvPr id="9" name="Text 7"/>
          <p:cNvSpPr/>
          <p:nvPr/>
        </p:nvSpPr>
        <p:spPr>
          <a:xfrm>
            <a:off x="731520" y="1645920"/>
            <a:ext cx="3291840" cy="731520"/>
          </a:xfrm>
          <a:prstGeom prst="rect">
            <a:avLst/>
          </a:prstGeom>
          <a:noFill/>
          <a:ln/>
        </p:spPr>
        <p:txBody>
          <a:bodyPr wrap="square" lIns="0" tIns="0" rIns="0" bIns="0" rtlCol="0" anchor="ctr"/>
          <a:lstStyle/>
          <a:p>
            <a:pPr algn="ctr" indent="0" marL="0">
              <a:buNone/>
            </a:pPr>
            <a:r>
              <a:rPr lang="en-US" sz="1400" b="1" spc="300" kern="0" dirty="0">
                <a:solidFill>
                  <a:srgbClr val="FFFFFF"/>
                </a:solidFill>
                <a:latin typeface="Calibri" pitchFamily="34" charset="0"/>
                <a:ea typeface="Calibri" pitchFamily="34" charset="-122"/>
                <a:cs typeface="Calibri" pitchFamily="34" charset="-120"/>
              </a:rPr>
              <a:t>Court terme</a:t>
            </a:r>
            <a:endParaRPr lang="en-US" sz="1400" dirty="0"/>
          </a:p>
        </p:txBody>
      </p:sp>
      <p:pic>
        <p:nvPicPr>
          <p:cNvPr id="10" name="Image 0" descr="preencoded.png">    </p:cNvPr>
          <p:cNvPicPr>
            <a:picLocks noChangeAspect="1"/>
          </p:cNvPicPr>
          <p:nvPr/>
        </p:nvPicPr>
        <p:blipFill>
          <a:blip r:embed="rId1"/>
          <a:stretch>
            <a:fillRect/>
          </a:stretch>
        </p:blipFill>
        <p:spPr>
          <a:xfrm>
            <a:off x="1920240" y="2651760"/>
            <a:ext cx="914400" cy="914400"/>
          </a:xfrm>
          <a:prstGeom prst="rect">
            <a:avLst/>
          </a:prstGeom>
        </p:spPr>
      </p:pic>
      <p:sp>
        <p:nvSpPr>
          <p:cNvPr id="11" name="Text 8"/>
          <p:cNvSpPr/>
          <p:nvPr/>
        </p:nvSpPr>
        <p:spPr>
          <a:xfrm>
            <a:off x="731520" y="3749040"/>
            <a:ext cx="329184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Stabilisation</a:t>
            </a:r>
            <a:endParaRPr lang="en-US" sz="1800" dirty="0"/>
          </a:p>
        </p:txBody>
      </p:sp>
      <p:sp>
        <p:nvSpPr>
          <p:cNvPr id="12" name="Text 9"/>
          <p:cNvSpPr/>
          <p:nvPr/>
        </p:nvSpPr>
        <p:spPr>
          <a:xfrm>
            <a:off x="822960" y="4251960"/>
            <a:ext cx="3108960" cy="146304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Corrections, améliorations mineures, retours utilisateurs.</a:t>
            </a:r>
            <a:endParaRPr lang="en-US" sz="1200" dirty="0"/>
          </a:p>
        </p:txBody>
      </p:sp>
      <p:sp>
        <p:nvSpPr>
          <p:cNvPr id="13" name="Shape 10"/>
          <p:cNvSpPr/>
          <p:nvPr/>
        </p:nvSpPr>
        <p:spPr>
          <a:xfrm>
            <a:off x="4434840" y="1645920"/>
            <a:ext cx="3657600" cy="4206240"/>
          </a:xfrm>
          <a:prstGeom prst="roundRect">
            <a:avLst>
              <a:gd name="adj" fmla="val 3500"/>
            </a:avLst>
          </a:prstGeom>
          <a:solidFill>
            <a:srgbClr val="FFFFFF"/>
          </a:solidFill>
          <a:ln w="25400">
            <a:solidFill>
              <a:srgbClr val="06B6D4"/>
            </a:solidFill>
            <a:prstDash val="solid"/>
          </a:ln>
        </p:spPr>
      </p:sp>
      <p:sp>
        <p:nvSpPr>
          <p:cNvPr id="14" name="Shape 11"/>
          <p:cNvSpPr/>
          <p:nvPr/>
        </p:nvSpPr>
        <p:spPr>
          <a:xfrm>
            <a:off x="4434840" y="1645920"/>
            <a:ext cx="3657600" cy="731520"/>
          </a:xfrm>
          <a:prstGeom prst="rect">
            <a:avLst/>
          </a:prstGeom>
          <a:solidFill>
            <a:srgbClr val="06B6D4"/>
          </a:solidFill>
          <a:ln w="12700">
            <a:solidFill>
              <a:srgbClr val="06B6D4"/>
            </a:solidFill>
            <a:prstDash val="solid"/>
          </a:ln>
        </p:spPr>
      </p:sp>
      <p:sp>
        <p:nvSpPr>
          <p:cNvPr id="15" name="Text 12"/>
          <p:cNvSpPr/>
          <p:nvPr/>
        </p:nvSpPr>
        <p:spPr>
          <a:xfrm>
            <a:off x="4617720" y="1645920"/>
            <a:ext cx="3291840" cy="731520"/>
          </a:xfrm>
          <a:prstGeom prst="rect">
            <a:avLst/>
          </a:prstGeom>
          <a:noFill/>
          <a:ln/>
        </p:spPr>
        <p:txBody>
          <a:bodyPr wrap="square" lIns="0" tIns="0" rIns="0" bIns="0" rtlCol="0" anchor="ctr"/>
          <a:lstStyle/>
          <a:p>
            <a:pPr algn="ctr" indent="0" marL="0">
              <a:buNone/>
            </a:pPr>
            <a:r>
              <a:rPr lang="en-US" sz="1400" b="1" spc="300" kern="0" dirty="0">
                <a:solidFill>
                  <a:srgbClr val="FFFFFF"/>
                </a:solidFill>
                <a:latin typeface="Calibri" pitchFamily="34" charset="0"/>
                <a:ea typeface="Calibri" pitchFamily="34" charset="-122"/>
                <a:cs typeface="Calibri" pitchFamily="34" charset="-120"/>
              </a:rPr>
              <a:t>Moyen terme</a:t>
            </a:r>
            <a:endParaRPr lang="en-US" sz="1400" dirty="0"/>
          </a:p>
        </p:txBody>
      </p:sp>
      <p:pic>
        <p:nvPicPr>
          <p:cNvPr id="16" name="Image 1" descr="preencoded.png">    </p:cNvPr>
          <p:cNvPicPr>
            <a:picLocks noChangeAspect="1"/>
          </p:cNvPicPr>
          <p:nvPr/>
        </p:nvPicPr>
        <p:blipFill>
          <a:blip r:embed="rId2"/>
          <a:stretch>
            <a:fillRect/>
          </a:stretch>
        </p:blipFill>
        <p:spPr>
          <a:xfrm>
            <a:off x="5806440" y="2651760"/>
            <a:ext cx="914400" cy="914400"/>
          </a:xfrm>
          <a:prstGeom prst="rect">
            <a:avLst/>
          </a:prstGeom>
        </p:spPr>
      </p:pic>
      <p:sp>
        <p:nvSpPr>
          <p:cNvPr id="17" name="Text 13"/>
          <p:cNvSpPr/>
          <p:nvPr/>
        </p:nvSpPr>
        <p:spPr>
          <a:xfrm>
            <a:off x="4617720" y="3749040"/>
            <a:ext cx="329184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Extension</a:t>
            </a:r>
            <a:endParaRPr lang="en-US" sz="1800" dirty="0"/>
          </a:p>
        </p:txBody>
      </p:sp>
      <p:sp>
        <p:nvSpPr>
          <p:cNvPr id="18" name="Text 14"/>
          <p:cNvSpPr/>
          <p:nvPr/>
        </p:nvSpPr>
        <p:spPr>
          <a:xfrm>
            <a:off x="4709160" y="4251960"/>
            <a:ext cx="3108960" cy="146304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Ajout de modules supplémentaires et nouvelles fonctionnalités.</a:t>
            </a:r>
            <a:endParaRPr lang="en-US" sz="1200" dirty="0"/>
          </a:p>
        </p:txBody>
      </p:sp>
      <p:sp>
        <p:nvSpPr>
          <p:cNvPr id="19" name="Shape 15"/>
          <p:cNvSpPr/>
          <p:nvPr/>
        </p:nvSpPr>
        <p:spPr>
          <a:xfrm>
            <a:off x="8321040" y="1645920"/>
            <a:ext cx="3657600" cy="4206240"/>
          </a:xfrm>
          <a:prstGeom prst="roundRect">
            <a:avLst>
              <a:gd name="adj" fmla="val 3500"/>
            </a:avLst>
          </a:prstGeom>
          <a:solidFill>
            <a:srgbClr val="FFFFFF"/>
          </a:solidFill>
          <a:ln w="25400">
            <a:solidFill>
              <a:srgbClr val="F59E0B"/>
            </a:solidFill>
            <a:prstDash val="solid"/>
          </a:ln>
        </p:spPr>
      </p:sp>
      <p:sp>
        <p:nvSpPr>
          <p:cNvPr id="20" name="Shape 16"/>
          <p:cNvSpPr/>
          <p:nvPr/>
        </p:nvSpPr>
        <p:spPr>
          <a:xfrm>
            <a:off x="8321040" y="1645920"/>
            <a:ext cx="3657600" cy="731520"/>
          </a:xfrm>
          <a:prstGeom prst="rect">
            <a:avLst/>
          </a:prstGeom>
          <a:solidFill>
            <a:srgbClr val="F59E0B"/>
          </a:solidFill>
          <a:ln w="12700">
            <a:solidFill>
              <a:srgbClr val="F59E0B"/>
            </a:solidFill>
            <a:prstDash val="solid"/>
          </a:ln>
        </p:spPr>
      </p:sp>
      <p:sp>
        <p:nvSpPr>
          <p:cNvPr id="21" name="Text 17"/>
          <p:cNvSpPr/>
          <p:nvPr/>
        </p:nvSpPr>
        <p:spPr>
          <a:xfrm>
            <a:off x="8503920" y="1645920"/>
            <a:ext cx="3291840" cy="731520"/>
          </a:xfrm>
          <a:prstGeom prst="rect">
            <a:avLst/>
          </a:prstGeom>
          <a:noFill/>
          <a:ln/>
        </p:spPr>
        <p:txBody>
          <a:bodyPr wrap="square" lIns="0" tIns="0" rIns="0" bIns="0" rtlCol="0" anchor="ctr"/>
          <a:lstStyle/>
          <a:p>
            <a:pPr algn="ctr" indent="0" marL="0">
              <a:buNone/>
            </a:pPr>
            <a:r>
              <a:rPr lang="en-US" sz="1400" b="1" spc="300" kern="0" dirty="0">
                <a:solidFill>
                  <a:srgbClr val="FFFFFF"/>
                </a:solidFill>
                <a:latin typeface="Calibri" pitchFamily="34" charset="0"/>
                <a:ea typeface="Calibri" pitchFamily="34" charset="-122"/>
                <a:cs typeface="Calibri" pitchFamily="34" charset="-120"/>
              </a:rPr>
              <a:t>Long terme</a:t>
            </a:r>
            <a:endParaRPr lang="en-US" sz="1400" dirty="0"/>
          </a:p>
        </p:txBody>
      </p:sp>
      <p:pic>
        <p:nvPicPr>
          <p:cNvPr id="22" name="Image 2" descr="preencoded.png">    </p:cNvPr>
          <p:cNvPicPr>
            <a:picLocks noChangeAspect="1"/>
          </p:cNvPicPr>
          <p:nvPr/>
        </p:nvPicPr>
        <p:blipFill>
          <a:blip r:embed="rId3"/>
          <a:stretch>
            <a:fillRect/>
          </a:stretch>
        </p:blipFill>
        <p:spPr>
          <a:xfrm>
            <a:off x="9692640" y="2651760"/>
            <a:ext cx="914400" cy="914400"/>
          </a:xfrm>
          <a:prstGeom prst="rect">
            <a:avLst/>
          </a:prstGeom>
        </p:spPr>
      </p:pic>
      <p:sp>
        <p:nvSpPr>
          <p:cNvPr id="23" name="Text 18"/>
          <p:cNvSpPr/>
          <p:nvPr/>
        </p:nvSpPr>
        <p:spPr>
          <a:xfrm>
            <a:off x="8503920" y="3749040"/>
            <a:ext cx="329184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Innovation</a:t>
            </a:r>
            <a:endParaRPr lang="en-US" sz="1800" dirty="0"/>
          </a:p>
        </p:txBody>
      </p:sp>
      <p:sp>
        <p:nvSpPr>
          <p:cNvPr id="24" name="Text 19"/>
          <p:cNvSpPr/>
          <p:nvPr/>
        </p:nvSpPr>
        <p:spPr>
          <a:xfrm>
            <a:off x="8595360" y="4251960"/>
            <a:ext cx="3108960" cy="146304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Intégration d'IA, automatisation et passage à grande échelle.</a:t>
            </a:r>
            <a:endParaRPr lang="en-US" sz="1200" dirty="0"/>
          </a:p>
        </p:txBody>
      </p:sp>
      <p:sp>
        <p:nvSpPr>
          <p:cNvPr id="25" name="Text 20"/>
          <p:cNvSpPr/>
          <p:nvPr/>
        </p:nvSpPr>
        <p:spPr>
          <a:xfrm>
            <a:off x="548640" y="5989320"/>
            <a:ext cx="1106424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Ces perspectives ouvrent la voie à de nombreuses évolutions futures du projet.</a:t>
            </a:r>
            <a:endParaRPr lang="en-US" sz="1200" dirty="0"/>
          </a:p>
        </p:txBody>
      </p:sp>
      <p:sp>
        <p:nvSpPr>
          <p:cNvPr id="26" name="Text 21"/>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Soutenance — Projet de Fin d'Année</a:t>
            </a:r>
            <a:endParaRPr lang="en-US" sz="1000" dirty="0"/>
          </a:p>
        </p:txBody>
      </p:sp>
      <p:sp>
        <p:nvSpPr>
          <p:cNvPr id="27" name="Text 22"/>
          <p:cNvSpPr/>
          <p:nvPr/>
        </p:nvSpPr>
        <p:spPr>
          <a:xfrm>
            <a:off x="10972800" y="6446520"/>
            <a:ext cx="914400" cy="27432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25 / 27</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3657600"/>
            <a:ext cx="4572000" cy="4572000"/>
          </a:xfrm>
          <a:prstGeom prst="ellipse">
            <a:avLst/>
          </a:prstGeom>
          <a:solidFill>
            <a:srgbClr val="4F46E5">
              <a:alpha val="30000"/>
            </a:srgbClr>
          </a:solidFill>
          <a:ln w="12700">
            <a:solidFill>
              <a:srgbClr val="4F46E5">
                <a:alpha val="0"/>
              </a:srgbClr>
            </a:solidFill>
            <a:prstDash val="solid"/>
          </a:ln>
        </p:spPr>
      </p:sp>
      <p:sp>
        <p:nvSpPr>
          <p:cNvPr id="3" name="Shape 1"/>
          <p:cNvSpPr/>
          <p:nvPr/>
        </p:nvSpPr>
        <p:spPr>
          <a:xfrm>
            <a:off x="9144000" y="-914400"/>
            <a:ext cx="3657600" cy="3657600"/>
          </a:xfrm>
          <a:prstGeom prst="ellipse">
            <a:avLst/>
          </a:prstGeom>
          <a:solidFill>
            <a:srgbClr val="06B6D4">
              <a:alpha val="25000"/>
            </a:srgbClr>
          </a:solidFill>
          <a:ln w="12700">
            <a:solidFill>
              <a:srgbClr val="06B6D4">
                <a:alpha val="0"/>
              </a:srgbClr>
            </a:solidFill>
            <a:prstDash val="solid"/>
          </a:ln>
        </p:spPr>
      </p:sp>
      <p:sp>
        <p:nvSpPr>
          <p:cNvPr id="4" name="Shape 2"/>
          <p:cNvSpPr/>
          <p:nvPr/>
        </p:nvSpPr>
        <p:spPr>
          <a:xfrm>
            <a:off x="548640" y="502920"/>
            <a:ext cx="914400" cy="384048"/>
          </a:xfrm>
          <a:prstGeom prst="roundRect">
            <a:avLst>
              <a:gd name="adj" fmla="val 50000"/>
            </a:avLst>
          </a:prstGeom>
          <a:solidFill>
            <a:srgbClr val="F59E0B"/>
          </a:solidFill>
          <a:ln w="12700">
            <a:solidFill>
              <a:srgbClr val="F59E0B"/>
            </a:solidFill>
            <a:prstDash val="solid"/>
          </a:ln>
        </p:spPr>
      </p:sp>
      <p:sp>
        <p:nvSpPr>
          <p:cNvPr id="5" name="Text 3"/>
          <p:cNvSpPr/>
          <p:nvPr/>
        </p:nvSpPr>
        <p:spPr>
          <a:xfrm>
            <a:off x="548640" y="502920"/>
            <a:ext cx="914400" cy="384048"/>
          </a:xfrm>
          <a:prstGeom prst="rect">
            <a:avLst/>
          </a:prstGeom>
          <a:noFill/>
          <a:ln/>
        </p:spPr>
        <p:txBody>
          <a:bodyPr wrap="square" lIns="0" tIns="0" rIns="0" bIns="0" rtlCol="0" anchor="ctr"/>
          <a:lstStyle/>
          <a:p>
            <a:pPr algn="ctr" indent="0" marL="0">
              <a:buNone/>
            </a:pPr>
            <a:r>
              <a:rPr lang="en-US" sz="1400" b="1" dirty="0">
                <a:solidFill>
                  <a:srgbClr val="0F172A"/>
                </a:solidFill>
                <a:latin typeface="Calibri" pitchFamily="34" charset="0"/>
                <a:ea typeface="Calibri" pitchFamily="34" charset="-122"/>
                <a:cs typeface="Calibri" pitchFamily="34" charset="-120"/>
              </a:rPr>
              <a:t>25</a:t>
            </a:r>
            <a:endParaRPr lang="en-US" sz="1400" dirty="0"/>
          </a:p>
        </p:txBody>
      </p:sp>
      <p:sp>
        <p:nvSpPr>
          <p:cNvPr id="6" name="Text 4"/>
          <p:cNvSpPr/>
          <p:nvPr/>
        </p:nvSpPr>
        <p:spPr>
          <a:xfrm>
            <a:off x="1645920" y="457200"/>
            <a:ext cx="100584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a:t>
            </a:r>
            <a:endParaRPr lang="en-US" sz="2600" dirty="0"/>
          </a:p>
        </p:txBody>
      </p:sp>
      <p:sp>
        <p:nvSpPr>
          <p:cNvPr id="7" name="Shape 5"/>
          <p:cNvSpPr/>
          <p:nvPr/>
        </p:nvSpPr>
        <p:spPr>
          <a:xfrm>
            <a:off x="548640" y="1051560"/>
            <a:ext cx="1371600" cy="45720"/>
          </a:xfrm>
          <a:prstGeom prst="rect">
            <a:avLst/>
          </a:prstGeom>
          <a:solidFill>
            <a:srgbClr val="F59E0B"/>
          </a:solidFill>
          <a:ln w="12700">
            <a:solidFill>
              <a:srgbClr val="F59E0B"/>
            </a:solidFill>
            <a:prstDash val="solid"/>
          </a:ln>
        </p:spPr>
      </p:sp>
      <p:sp>
        <p:nvSpPr>
          <p:cNvPr id="8" name="Text 6"/>
          <p:cNvSpPr/>
          <p:nvPr/>
        </p:nvSpPr>
        <p:spPr>
          <a:xfrm>
            <a:off x="548640" y="1463040"/>
            <a:ext cx="10972800" cy="457200"/>
          </a:xfrm>
          <a:prstGeom prst="rect">
            <a:avLst/>
          </a:prstGeom>
          <a:noFill/>
          <a:ln/>
        </p:spPr>
        <p:txBody>
          <a:bodyPr wrap="square" lIns="0" tIns="0" rIns="0" bIns="0" rtlCol="0" anchor="ctr"/>
          <a:lstStyle/>
          <a:p>
            <a:pPr indent="0" marL="0">
              <a:buNone/>
            </a:pPr>
            <a:r>
              <a:rPr lang="en-US" sz="2000" b="1" dirty="0">
                <a:solidFill>
                  <a:srgbClr val="F59E0B"/>
                </a:solidFill>
                <a:latin typeface="Calibri" pitchFamily="34" charset="0"/>
                <a:ea typeface="Calibri" pitchFamily="34" charset="-122"/>
                <a:cs typeface="Calibri" pitchFamily="34" charset="-120"/>
              </a:rPr>
              <a:t>Bilan global</a:t>
            </a:r>
            <a:endParaRPr lang="en-US" sz="2000" dirty="0"/>
          </a:p>
        </p:txBody>
      </p:sp>
      <p:sp>
        <p:nvSpPr>
          <p:cNvPr id="9" name="Text 7"/>
          <p:cNvSpPr/>
          <p:nvPr/>
        </p:nvSpPr>
        <p:spPr>
          <a:xfrm>
            <a:off x="548640" y="1965960"/>
            <a:ext cx="10972800" cy="1280160"/>
          </a:xfrm>
          <a:prstGeom prst="rect">
            <a:avLst/>
          </a:prstGeom>
          <a:noFill/>
          <a:ln/>
        </p:spPr>
        <p:txBody>
          <a:bodyPr wrap="square" lIns="0" tIns="0" rIns="0" bIns="0" rtlCol="0" anchor="ctr"/>
          <a:lstStyle/>
          <a:p>
            <a:pPr indent="0" marL="0">
              <a:buNone/>
            </a:pPr>
            <a:r>
              <a:rPr lang="en-US" sz="1600" dirty="0">
                <a:solidFill>
                  <a:srgbClr val="E2E8F0"/>
                </a:solidFill>
                <a:latin typeface="Calibri" pitchFamily="34" charset="0"/>
                <a:ea typeface="Calibri" pitchFamily="34" charset="-122"/>
                <a:cs typeface="Calibri" pitchFamily="34" charset="-120"/>
              </a:rPr>
              <a:t>Ce projet a permis de répondre à la problématique posée en proposant une solution complète, fonctionnelle et validée. Les objectifs initiaux ont été atteints, et le travail effectué constitue une base solide pour de futures évolutions.</a:t>
            </a:r>
            <a:endParaRPr lang="en-US" sz="1600" dirty="0"/>
          </a:p>
        </p:txBody>
      </p:sp>
      <p:sp>
        <p:nvSpPr>
          <p:cNvPr id="10" name="Shape 8"/>
          <p:cNvSpPr/>
          <p:nvPr/>
        </p:nvSpPr>
        <p:spPr>
          <a:xfrm>
            <a:off x="548640" y="3657600"/>
            <a:ext cx="3657600" cy="1097280"/>
          </a:xfrm>
          <a:prstGeom prst="roundRect">
            <a:avLst>
              <a:gd name="adj" fmla="val 11667"/>
            </a:avLst>
          </a:prstGeom>
          <a:solidFill>
            <a:srgbClr val="FFFFFF">
              <a:alpha val="10000"/>
            </a:srgbClr>
          </a:solidFill>
          <a:ln w="25400">
            <a:solidFill>
              <a:srgbClr val="10B981"/>
            </a:solidFill>
            <a:prstDash val="solid"/>
          </a:ln>
        </p:spPr>
      </p:sp>
      <p:sp>
        <p:nvSpPr>
          <p:cNvPr id="11" name="Shape 9"/>
          <p:cNvSpPr/>
          <p:nvPr/>
        </p:nvSpPr>
        <p:spPr>
          <a:xfrm>
            <a:off x="822960" y="3931920"/>
            <a:ext cx="548640" cy="548640"/>
          </a:xfrm>
          <a:prstGeom prst="ellipse">
            <a:avLst/>
          </a:prstGeom>
          <a:solidFill>
            <a:srgbClr val="10B981"/>
          </a:solidFill>
          <a:ln w="12700">
            <a:solidFill>
              <a:srgbClr val="10B981"/>
            </a:solidFill>
            <a:prstDash val="solid"/>
          </a:ln>
        </p:spPr>
      </p:sp>
      <p:pic>
        <p:nvPicPr>
          <p:cNvPr id="12" name="Image 0" descr="preencoded.png">    </p:cNvPr>
          <p:cNvPicPr>
            <a:picLocks noChangeAspect="1"/>
          </p:cNvPicPr>
          <p:nvPr/>
        </p:nvPicPr>
        <p:blipFill>
          <a:blip r:embed="rId1"/>
          <a:stretch>
            <a:fillRect/>
          </a:stretch>
        </p:blipFill>
        <p:spPr>
          <a:xfrm>
            <a:off x="932688" y="4041648"/>
            <a:ext cx="329184" cy="329184"/>
          </a:xfrm>
          <a:prstGeom prst="rect">
            <a:avLst/>
          </a:prstGeom>
        </p:spPr>
      </p:pic>
      <p:sp>
        <p:nvSpPr>
          <p:cNvPr id="13" name="Text 10"/>
          <p:cNvSpPr/>
          <p:nvPr/>
        </p:nvSpPr>
        <p:spPr>
          <a:xfrm>
            <a:off x="1554480" y="3657600"/>
            <a:ext cx="2560320" cy="10972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Objectifs atteints</a:t>
            </a:r>
            <a:endParaRPr lang="en-US" sz="1600" dirty="0"/>
          </a:p>
        </p:txBody>
      </p:sp>
      <p:sp>
        <p:nvSpPr>
          <p:cNvPr id="14" name="Shape 11"/>
          <p:cNvSpPr/>
          <p:nvPr/>
        </p:nvSpPr>
        <p:spPr>
          <a:xfrm>
            <a:off x="4434840" y="3657600"/>
            <a:ext cx="3657600" cy="1097280"/>
          </a:xfrm>
          <a:prstGeom prst="roundRect">
            <a:avLst>
              <a:gd name="adj" fmla="val 11667"/>
            </a:avLst>
          </a:prstGeom>
          <a:solidFill>
            <a:srgbClr val="FFFFFF">
              <a:alpha val="10000"/>
            </a:srgbClr>
          </a:solidFill>
          <a:ln w="25400">
            <a:solidFill>
              <a:srgbClr val="06B6D4"/>
            </a:solidFill>
            <a:prstDash val="solid"/>
          </a:ln>
        </p:spPr>
      </p:sp>
      <p:sp>
        <p:nvSpPr>
          <p:cNvPr id="15" name="Shape 12"/>
          <p:cNvSpPr/>
          <p:nvPr/>
        </p:nvSpPr>
        <p:spPr>
          <a:xfrm>
            <a:off x="4709160" y="3931920"/>
            <a:ext cx="548640" cy="548640"/>
          </a:xfrm>
          <a:prstGeom prst="ellipse">
            <a:avLst/>
          </a:prstGeom>
          <a:solidFill>
            <a:srgbClr val="06B6D4"/>
          </a:solidFill>
          <a:ln w="12700">
            <a:solidFill>
              <a:srgbClr val="06B6D4"/>
            </a:solidFill>
            <a:prstDash val="solid"/>
          </a:ln>
        </p:spPr>
      </p:sp>
      <p:pic>
        <p:nvPicPr>
          <p:cNvPr id="16" name="Image 1" descr="preencoded.png">    </p:cNvPr>
          <p:cNvPicPr>
            <a:picLocks noChangeAspect="1"/>
          </p:cNvPicPr>
          <p:nvPr/>
        </p:nvPicPr>
        <p:blipFill>
          <a:blip r:embed="rId2"/>
          <a:stretch>
            <a:fillRect/>
          </a:stretch>
        </p:blipFill>
        <p:spPr>
          <a:xfrm>
            <a:off x="4818888" y="4041648"/>
            <a:ext cx="329184" cy="329184"/>
          </a:xfrm>
          <a:prstGeom prst="rect">
            <a:avLst/>
          </a:prstGeom>
        </p:spPr>
      </p:pic>
      <p:sp>
        <p:nvSpPr>
          <p:cNvPr id="17" name="Text 13"/>
          <p:cNvSpPr/>
          <p:nvPr/>
        </p:nvSpPr>
        <p:spPr>
          <a:xfrm>
            <a:off x="5440680" y="3657600"/>
            <a:ext cx="2560320" cy="10972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Solution validée</a:t>
            </a:r>
            <a:endParaRPr lang="en-US" sz="1600" dirty="0"/>
          </a:p>
        </p:txBody>
      </p:sp>
      <p:sp>
        <p:nvSpPr>
          <p:cNvPr id="18" name="Shape 14"/>
          <p:cNvSpPr/>
          <p:nvPr/>
        </p:nvSpPr>
        <p:spPr>
          <a:xfrm>
            <a:off x="8321040" y="3657600"/>
            <a:ext cx="3657600" cy="1097280"/>
          </a:xfrm>
          <a:prstGeom prst="roundRect">
            <a:avLst>
              <a:gd name="adj" fmla="val 11667"/>
            </a:avLst>
          </a:prstGeom>
          <a:solidFill>
            <a:srgbClr val="FFFFFF">
              <a:alpha val="10000"/>
            </a:srgbClr>
          </a:solidFill>
          <a:ln w="25400">
            <a:solidFill>
              <a:srgbClr val="F59E0B"/>
            </a:solidFill>
            <a:prstDash val="solid"/>
          </a:ln>
        </p:spPr>
      </p:sp>
      <p:sp>
        <p:nvSpPr>
          <p:cNvPr id="19" name="Shape 15"/>
          <p:cNvSpPr/>
          <p:nvPr/>
        </p:nvSpPr>
        <p:spPr>
          <a:xfrm>
            <a:off x="8595360" y="3931920"/>
            <a:ext cx="548640" cy="548640"/>
          </a:xfrm>
          <a:prstGeom prst="ellipse">
            <a:avLst/>
          </a:prstGeom>
          <a:solidFill>
            <a:srgbClr val="F59E0B"/>
          </a:solidFill>
          <a:ln w="12700">
            <a:solidFill>
              <a:srgbClr val="F59E0B"/>
            </a:solidFill>
            <a:prstDash val="solid"/>
          </a:ln>
        </p:spPr>
      </p:sp>
      <p:pic>
        <p:nvPicPr>
          <p:cNvPr id="20" name="Image 2" descr="preencoded.png">    </p:cNvPr>
          <p:cNvPicPr>
            <a:picLocks noChangeAspect="1"/>
          </p:cNvPicPr>
          <p:nvPr/>
        </p:nvPicPr>
        <p:blipFill>
          <a:blip r:embed="rId3"/>
          <a:stretch>
            <a:fillRect/>
          </a:stretch>
        </p:blipFill>
        <p:spPr>
          <a:xfrm>
            <a:off x="8705088" y="4041648"/>
            <a:ext cx="329184" cy="329184"/>
          </a:xfrm>
          <a:prstGeom prst="rect">
            <a:avLst/>
          </a:prstGeom>
        </p:spPr>
      </p:pic>
      <p:sp>
        <p:nvSpPr>
          <p:cNvPr id="21" name="Text 16"/>
          <p:cNvSpPr/>
          <p:nvPr/>
        </p:nvSpPr>
        <p:spPr>
          <a:xfrm>
            <a:off x="9326880" y="3657600"/>
            <a:ext cx="2560320" cy="10972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Compétences renforcées</a:t>
            </a:r>
            <a:endParaRPr lang="en-US" sz="1600" dirty="0"/>
          </a:p>
        </p:txBody>
      </p:sp>
      <p:sp>
        <p:nvSpPr>
          <p:cNvPr id="22" name="Text 17"/>
          <p:cNvSpPr/>
          <p:nvPr/>
        </p:nvSpPr>
        <p:spPr>
          <a:xfrm>
            <a:off x="548640" y="5212080"/>
            <a:ext cx="11064240" cy="548640"/>
          </a:xfrm>
          <a:prstGeom prst="rect">
            <a:avLst/>
          </a:prstGeom>
          <a:noFill/>
          <a:ln/>
        </p:spPr>
        <p:txBody>
          <a:bodyPr wrap="square" lIns="0" tIns="0" rIns="0" bIns="0" rtlCol="0" anchor="ctr"/>
          <a:lstStyle/>
          <a:p>
            <a:pPr algn="ctr" indent="0" marL="0">
              <a:buNone/>
            </a:pPr>
            <a:r>
              <a:rPr lang="en-US" sz="1600" i="1" dirty="0">
                <a:solidFill>
                  <a:srgbClr val="CBD5E1"/>
                </a:solidFill>
                <a:latin typeface="Calibri" pitchFamily="34" charset="0"/>
                <a:ea typeface="Calibri" pitchFamily="34" charset="-122"/>
                <a:cs typeface="Calibri" pitchFamily="34" charset="-120"/>
              </a:rPr>
              <a:t>« Au-delà du livrable, ce projet est avant tout une expérience formatrice et enrichissante. »</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2743200" y="-1828800"/>
            <a:ext cx="6400800" cy="6400800"/>
          </a:xfrm>
          <a:prstGeom prst="ellipse">
            <a:avLst/>
          </a:prstGeom>
          <a:solidFill>
            <a:srgbClr val="4F46E5">
              <a:alpha val="35000"/>
            </a:srgbClr>
          </a:solidFill>
          <a:ln w="12700">
            <a:solidFill>
              <a:srgbClr val="4F46E5">
                <a:alpha val="0"/>
              </a:srgbClr>
            </a:solidFill>
            <a:prstDash val="solid"/>
          </a:ln>
        </p:spPr>
      </p:sp>
      <p:sp>
        <p:nvSpPr>
          <p:cNvPr id="3" name="Shape 1"/>
          <p:cNvSpPr/>
          <p:nvPr/>
        </p:nvSpPr>
        <p:spPr>
          <a:xfrm>
            <a:off x="7315200" y="2743200"/>
            <a:ext cx="6400800" cy="6400800"/>
          </a:xfrm>
          <a:prstGeom prst="ellipse">
            <a:avLst/>
          </a:prstGeom>
          <a:solidFill>
            <a:srgbClr val="06B6D4">
              <a:alpha val="30000"/>
            </a:srgbClr>
          </a:solidFill>
          <a:ln w="12700">
            <a:solidFill>
              <a:srgbClr val="06B6D4">
                <a:alpha val="0"/>
              </a:srgbClr>
            </a:solidFill>
            <a:prstDash val="solid"/>
          </a:ln>
        </p:spPr>
      </p:sp>
      <p:sp>
        <p:nvSpPr>
          <p:cNvPr id="4" name="Shape 2"/>
          <p:cNvSpPr/>
          <p:nvPr/>
        </p:nvSpPr>
        <p:spPr>
          <a:xfrm>
            <a:off x="4572000" y="4572000"/>
            <a:ext cx="2743200" cy="2743200"/>
          </a:xfrm>
          <a:prstGeom prst="ellipse">
            <a:avLst/>
          </a:prstGeom>
          <a:solidFill>
            <a:srgbClr val="F59E0B">
              <a:alpha val="20000"/>
            </a:srgbClr>
          </a:solidFill>
          <a:ln w="12700">
            <a:solidFill>
              <a:srgbClr val="F59E0B">
                <a:alpha val="0"/>
              </a:srgbClr>
            </a:solidFill>
            <a:prstDash val="solid"/>
          </a:ln>
        </p:spPr>
      </p:sp>
      <p:sp>
        <p:nvSpPr>
          <p:cNvPr id="5" name="Text 3"/>
          <p:cNvSpPr/>
          <p:nvPr/>
        </p:nvSpPr>
        <p:spPr>
          <a:xfrm>
            <a:off x="548640" y="1645920"/>
            <a:ext cx="11064240" cy="1828800"/>
          </a:xfrm>
          <a:prstGeom prst="rect">
            <a:avLst/>
          </a:prstGeom>
          <a:noFill/>
          <a:ln/>
        </p:spPr>
        <p:txBody>
          <a:bodyPr wrap="square" lIns="0" tIns="0" rIns="0" bIns="0" rtlCol="0" anchor="ctr"/>
          <a:lstStyle/>
          <a:p>
            <a:pPr algn="ctr" indent="0" marL="0">
              <a:buNone/>
            </a:pPr>
            <a:r>
              <a:rPr lang="en-US" sz="11000" b="1" dirty="0">
                <a:solidFill>
                  <a:srgbClr val="FFFFFF"/>
                </a:solidFill>
                <a:latin typeface="Calibri" pitchFamily="34" charset="0"/>
                <a:ea typeface="Calibri" pitchFamily="34" charset="-122"/>
                <a:cs typeface="Calibri" pitchFamily="34" charset="-120"/>
              </a:rPr>
              <a:t>Merci</a:t>
            </a:r>
            <a:endParaRPr lang="en-US" sz="11000" dirty="0"/>
          </a:p>
        </p:txBody>
      </p:sp>
      <p:sp>
        <p:nvSpPr>
          <p:cNvPr id="6" name="Shape 4"/>
          <p:cNvSpPr/>
          <p:nvPr/>
        </p:nvSpPr>
        <p:spPr>
          <a:xfrm>
            <a:off x="5532120" y="3520440"/>
            <a:ext cx="1097280" cy="54864"/>
          </a:xfrm>
          <a:prstGeom prst="rect">
            <a:avLst/>
          </a:prstGeom>
          <a:solidFill>
            <a:srgbClr val="F59E0B"/>
          </a:solidFill>
          <a:ln w="12700">
            <a:solidFill>
              <a:srgbClr val="F59E0B"/>
            </a:solidFill>
            <a:prstDash val="solid"/>
          </a:ln>
        </p:spPr>
      </p:sp>
      <p:sp>
        <p:nvSpPr>
          <p:cNvPr id="7" name="Text 5"/>
          <p:cNvSpPr/>
          <p:nvPr/>
        </p:nvSpPr>
        <p:spPr>
          <a:xfrm>
            <a:off x="548640" y="3657600"/>
            <a:ext cx="11064240" cy="548640"/>
          </a:xfrm>
          <a:prstGeom prst="rect">
            <a:avLst/>
          </a:prstGeom>
          <a:noFill/>
          <a:ln/>
        </p:spPr>
        <p:txBody>
          <a:bodyPr wrap="square" lIns="0" tIns="0" rIns="0" bIns="0" rtlCol="0" anchor="ctr"/>
          <a:lstStyle/>
          <a:p>
            <a:pPr algn="ctr" indent="0" marL="0">
              <a:buNone/>
            </a:pPr>
            <a:r>
              <a:rPr lang="en-US" sz="2600" dirty="0">
                <a:solidFill>
                  <a:srgbClr val="E2E8F0"/>
                </a:solidFill>
                <a:latin typeface="Calibri" pitchFamily="34" charset="0"/>
                <a:ea typeface="Calibri" pitchFamily="34" charset="-122"/>
                <a:cs typeface="Calibri" pitchFamily="34" charset="-120"/>
              </a:rPr>
              <a:t>Pour votre attention</a:t>
            </a:r>
            <a:endParaRPr lang="en-US" sz="2600" dirty="0"/>
          </a:p>
        </p:txBody>
      </p:sp>
      <p:sp>
        <p:nvSpPr>
          <p:cNvPr id="8" name="Shape 6"/>
          <p:cNvSpPr/>
          <p:nvPr/>
        </p:nvSpPr>
        <p:spPr>
          <a:xfrm>
            <a:off x="3794760" y="4754880"/>
            <a:ext cx="4572000" cy="1280160"/>
          </a:xfrm>
          <a:prstGeom prst="roundRect">
            <a:avLst>
              <a:gd name="adj" fmla="val 50000"/>
            </a:avLst>
          </a:prstGeom>
          <a:solidFill>
            <a:srgbClr val="FFFFFF">
              <a:alpha val="12000"/>
            </a:srgbClr>
          </a:solidFill>
          <a:ln w="12700">
            <a:solidFill>
              <a:srgbClr val="FFFFFF">
                <a:alpha val="30000"/>
              </a:srgbClr>
            </a:solidFill>
            <a:prstDash val="solid"/>
          </a:ln>
        </p:spPr>
      </p:sp>
      <p:sp>
        <p:nvSpPr>
          <p:cNvPr id="9" name="Text 7"/>
          <p:cNvSpPr/>
          <p:nvPr/>
        </p:nvSpPr>
        <p:spPr>
          <a:xfrm>
            <a:off x="3794760" y="4754880"/>
            <a:ext cx="4572000" cy="12801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Questions  ·  Réponses</a:t>
            </a:r>
            <a:endParaRPr lang="en-US" sz="2200" dirty="0"/>
          </a:p>
        </p:txBody>
      </p:sp>
      <p:sp>
        <p:nvSpPr>
          <p:cNvPr id="10" name="Text 8"/>
          <p:cNvSpPr/>
          <p:nvPr/>
        </p:nvSpPr>
        <p:spPr>
          <a:xfrm>
            <a:off x="548640" y="6400800"/>
            <a:ext cx="11064240" cy="36576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Prénom Nom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 Projet de Fin d'Année</dc:title>
  <dc:subject>PptxGenJS Presentation</dc:subject>
  <dc:creator>Mahmoud Elloumi</dc:creator>
  <cp:lastModifiedBy>Mahmoud Elloumi</cp:lastModifiedBy>
  <cp:revision>1</cp:revision>
  <dcterms:created xsi:type="dcterms:W3CDTF">2026-04-28T12:59:36Z</dcterms:created>
  <dcterms:modified xsi:type="dcterms:W3CDTF">2026-04-28T12:59:36Z</dcterms:modified>
</cp:coreProperties>
</file>